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29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15.xml" ContentType="application/vnd.openxmlformats-officedocument.presentationml.tags+xml"/>
  <Default Extension="gif" ContentType="image/gif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1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0" r:id="rId3"/>
    <p:sldId id="306" r:id="rId4"/>
    <p:sldId id="380" r:id="rId5"/>
    <p:sldId id="257" r:id="rId6"/>
    <p:sldId id="267" r:id="rId7"/>
    <p:sldId id="307" r:id="rId8"/>
    <p:sldId id="381" r:id="rId9"/>
    <p:sldId id="308" r:id="rId10"/>
    <p:sldId id="373" r:id="rId11"/>
    <p:sldId id="374" r:id="rId12"/>
    <p:sldId id="382" r:id="rId13"/>
    <p:sldId id="379" r:id="rId14"/>
    <p:sldId id="375" r:id="rId15"/>
    <p:sldId id="376" r:id="rId16"/>
    <p:sldId id="377" r:id="rId17"/>
    <p:sldId id="378" r:id="rId18"/>
    <p:sldId id="309" r:id="rId19"/>
    <p:sldId id="325" r:id="rId20"/>
    <p:sldId id="326" r:id="rId21"/>
    <p:sldId id="327" r:id="rId22"/>
    <p:sldId id="328" r:id="rId23"/>
    <p:sldId id="329" r:id="rId24"/>
    <p:sldId id="279" r:id="rId25"/>
  </p:sldIdLst>
  <p:sldSz cx="9144000" cy="5143500" type="screen16x9"/>
  <p:notesSz cx="6858000" cy="9144000"/>
  <p:defaultTextStyle>
    <a:defPPr>
      <a:defRPr lang="zh-CN"/>
    </a:defPPr>
    <a:lvl1pPr marL="0" lvl="0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1pPr>
    <a:lvl2pPr marL="342900" lvl="1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2pPr>
    <a:lvl3pPr marL="685800" lvl="2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3pPr>
    <a:lvl4pPr marL="1028700" lvl="3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4pPr>
    <a:lvl5pPr marL="1371600" lvl="4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5pPr>
    <a:lvl6pPr marL="1714500" lvl="5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6pPr>
    <a:lvl7pPr marL="2057400" lvl="6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7pPr>
    <a:lvl8pPr marL="2400300" lvl="7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8pPr>
    <a:lvl9pPr marL="2743200" lvl="8" indent="0" algn="l" defTabSz="685165" eaLnBrk="0" fontAlgn="base" latinLnBrk="0" hangingPunct="0">
      <a:spcBef>
        <a:spcPct val="0"/>
      </a:spcBef>
      <a:spcAft>
        <a:spcPct val="0"/>
      </a:spcAft>
      <a:buNone/>
      <a:defRPr sz="1400"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</a:defRPr>
    </a:lvl9pPr>
  </p:defaultTextStyle>
  <p:extLst>
    <p:ext uri="{521415D9-36F7-43E2-AB2F-B90AF26B5E84}">
      <p14:sectionLst xmlns:p14="http://schemas.microsoft.com/office/powerpoint/2010/main" xmlns="">
        <p14:section name="默认节" id="{626c0959-18c5-431f-a82d-65191dd9e183}">
          <p14:sldIdLst>
            <p14:sldId id="256"/>
            <p14:sldId id="260"/>
          </p14:sldIdLst>
        </p14:section>
        <p14:section name="无标题节" id="{df2bc936-5167-481e-bd29-6a095510166f}">
          <p14:sldIdLst>
            <p14:sldId id="306"/>
            <p14:sldId id="380"/>
            <p14:sldId id="257"/>
            <p14:sldId id="267"/>
            <p14:sldId id="307"/>
            <p14:sldId id="381"/>
            <p14:sldId id="308"/>
            <p14:sldId id="373"/>
            <p14:sldId id="374"/>
            <p14:sldId id="379"/>
            <p14:sldId id="376"/>
            <p14:sldId id="377"/>
            <p14:sldId id="378"/>
            <p14:sldId id="309"/>
            <p14:sldId id="325"/>
            <p14:sldId id="326"/>
            <p14:sldId id="327"/>
            <p14:sldId id="328"/>
            <p14:sldId id="329"/>
            <p14:sldId id="279"/>
            <p14:sldId id="3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47"/>
    <p:restoredTop sz="94660"/>
  </p:normalViewPr>
  <p:slideViewPr>
    <p:cSldViewPr snapToGrid="0">
      <p:cViewPr>
        <p:scale>
          <a:sx n="150" d="100"/>
          <a:sy n="150" d="100"/>
        </p:scale>
        <p:origin x="-504" y="-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3822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BED7C-9390-4740-9ED4-A90F6AF1A0D3}" type="datetimeFigureOut">
              <a:rPr lang="zh-CN" altLang="en-US" smtClean="0"/>
              <a:pPr/>
              <a:t>2019/4/18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FE240-16B8-4F83-9C19-8A30DD292EA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4338FE-D192-4467-9981-26BEB333B20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2019/4/18</a:t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2AA6D5-BE7A-4A02-A9A9-BB04379493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165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2AA6D5-BE7A-4A02-A9A9-BB04379493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 cap="flat" cmpd="sng">
            <a:solidFill>
              <a:srgbClr val="00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 w="9525">
            <a:miter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 dirty="0"/>
              <a:t>http://meihua.docer.com/</a:t>
            </a: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pPr lvl="0" algn="r"/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363980" y="557452"/>
            <a:ext cx="8215313" cy="59650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500" b="0"/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15375" y="4762500"/>
            <a:ext cx="428625" cy="273844"/>
          </a:xfrm>
          <a:prstGeom prst="rect">
            <a:avLst/>
          </a:prstGeom>
        </p:spPr>
        <p:txBody>
          <a:bodyPr/>
          <a:lstStyle>
            <a:lvl1pPr algn="ctr" rtl="0" eaLnBrk="1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‹#›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3" cstate="print"/>
          <a:srcRect l="1474" t="26028" r="6166" b="4485"/>
          <a:stretch>
            <a:fillRect/>
          </a:stretch>
        </p:blipFill>
        <p:spPr>
          <a:xfrm>
            <a:off x="0" y="1753792"/>
            <a:ext cx="5924550" cy="3389709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030" name="KSO_BC1"/>
          <p:cNvSpPr>
            <a:spLocks noGrp="1"/>
          </p:cNvSpPr>
          <p:nvPr>
            <p:ph type="body" idx="1"/>
          </p:nvPr>
        </p:nvSpPr>
        <p:spPr>
          <a:xfrm>
            <a:off x="1387793" y="1861186"/>
            <a:ext cx="7332345" cy="281463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68579" tIns="34289" rIns="68579" bIns="34289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31" name="KSO_BT1"/>
          <p:cNvSpPr>
            <a:spLocks noGrp="1"/>
          </p:cNvSpPr>
          <p:nvPr>
            <p:ph type="title"/>
          </p:nvPr>
        </p:nvSpPr>
        <p:spPr>
          <a:xfrm>
            <a:off x="1344930" y="576502"/>
            <a:ext cx="8215313" cy="59650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68579" tIns="34289" rIns="68579" bIns="34289"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x-none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984410" y="-76199"/>
            <a:ext cx="4930616" cy="609396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700" b="1" dirty="0" smtClean="0">
                <a:latin typeface="华文新魏" pitchFamily="2" charset="-122"/>
                <a:ea typeface="华文新魏" pitchFamily="2" charset="-122"/>
              </a:rPr>
              <a:t>湖南贝特新能源科技有限公司</a:t>
            </a:r>
            <a:endParaRPr lang="en-US" altLang="zh-CN" sz="1700" b="1" dirty="0" smtClean="0">
              <a:latin typeface="华文新魏" pitchFamily="2" charset="-122"/>
              <a:ea typeface="华文新魏" pitchFamily="2" charset="-122"/>
            </a:endParaRPr>
          </a:p>
          <a:p>
            <a:pPr marL="0" marR="0" indent="0" algn="l" defTabSz="685165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Hunan Better New Energy Science and Technology Co., Ltd.</a:t>
            </a:r>
            <a:endParaRPr lang="zh-CN" altLang="en-US" sz="1700" b="1" dirty="0" smtClean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-4761" y="48579"/>
            <a:ext cx="1047576" cy="541971"/>
          </a:xfrm>
          <a:prstGeom prst="rect">
            <a:avLst/>
          </a:prstGeom>
        </p:spPr>
      </p:pic>
      <p:pic>
        <p:nvPicPr>
          <p:cNvPr id="8" name="Picture 2" descr="X:\压缩机文件\文件管理\贝特商标\0(KOJFG6$8)DD{B[9IAWJJ2.pn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7750" y="496889"/>
            <a:ext cx="8096250" cy="45719"/>
          </a:xfrm>
          <a:prstGeom prst="rect">
            <a:avLst/>
          </a:prstGeom>
          <a:noFill/>
        </p:spPr>
      </p:pic>
      <p:sp>
        <p:nvSpPr>
          <p:cNvPr id="13" name="爆炸形 1 12"/>
          <p:cNvSpPr/>
          <p:nvPr userDrawn="1"/>
        </p:nvSpPr>
        <p:spPr>
          <a:xfrm>
            <a:off x="8715375" y="4733925"/>
            <a:ext cx="419100" cy="409575"/>
          </a:xfrm>
          <a:prstGeom prst="irregularSeal1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513715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71145" indent="-271145" algn="just" defTabSz="513715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271145" indent="-271145" algn="just" defTabSz="513715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5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42620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99795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6970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145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3715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371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" Target="slid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52475"/>
            <a:ext cx="9144000" cy="277177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da-DK" sz="3600" dirty="0" smtClean="0">
                <a:latin typeface="+mn-ea"/>
                <a:ea typeface="+mn-ea"/>
              </a:rPr>
              <a:t>汽车空调压缩机培训</a:t>
            </a:r>
            <a:r>
              <a:rPr lang="en-US" altLang="zh-CN" sz="3600" dirty="0" smtClean="0">
                <a:latin typeface="+mn-ea"/>
                <a:ea typeface="+mn-ea"/>
              </a:rPr>
              <a:t/>
            </a:r>
            <a:br>
              <a:rPr lang="en-US" altLang="zh-CN" sz="3600" dirty="0" smtClean="0">
                <a:latin typeface="+mn-ea"/>
                <a:ea typeface="+mn-ea"/>
              </a:rPr>
            </a:br>
            <a:r>
              <a:rPr lang="zh-CN" altLang="en-US" sz="3600" dirty="0" smtClean="0">
                <a:latin typeface="+mn-ea"/>
                <a:ea typeface="+mn-ea"/>
              </a:rPr>
              <a:t>（一）</a:t>
            </a:r>
            <a:r>
              <a:rPr lang="en-US" altLang="zh-CN" sz="3600" dirty="0" smtClean="0">
                <a:latin typeface="+mn-ea"/>
                <a:ea typeface="+mn-ea"/>
              </a:rPr>
              <a:t/>
            </a:r>
            <a:br>
              <a:rPr lang="en-US" altLang="zh-CN" sz="3600" dirty="0" smtClean="0">
                <a:latin typeface="+mn-ea"/>
                <a:ea typeface="+mn-ea"/>
              </a:rPr>
            </a:br>
            <a:r>
              <a:rPr lang="zh-CN" altLang="en-US" sz="3600" dirty="0" smtClean="0">
                <a:latin typeface="+mn-ea"/>
                <a:ea typeface="+mn-ea"/>
              </a:rPr>
              <a:t>压缩机概述</a:t>
            </a:r>
            <a:endParaRPr lang="zh-CN" altLang="da-DK" sz="360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H_Number_1">
            <a:hlinkClick r:id="rId2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142061" y="1112045"/>
            <a:ext cx="358379" cy="41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rtl="0" eaLnBrk="1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2400" dirty="0">
                <a:latin typeface="+mn-lt"/>
                <a:ea typeface="+mn-ea"/>
                <a:cs typeface="Arial" panose="020B0604020202020204" pitchFamily="34" charset="0"/>
              </a:rPr>
              <a:t>1</a:t>
            </a:r>
            <a:endParaRPr lang="zh-CN" altLang="en-US" sz="24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MH_Entry_1">
            <a:hlinkClick r:id="rId20" action="ppaction://hlinksldjump"/>
          </p:cNvPr>
          <p:cNvSpPr/>
          <p:nvPr>
            <p:custDataLst>
              <p:tags r:id="rId3"/>
            </p:custDataLst>
          </p:nvPr>
        </p:nvSpPr>
        <p:spPr>
          <a:xfrm>
            <a:off x="3521869" y="1188245"/>
            <a:ext cx="3649266" cy="284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7997" tIns="0" rIns="0" bIns="0" anchor="ctr">
            <a:normAutofit/>
          </a:bodyPr>
          <a:lstStyle/>
          <a:p>
            <a:pPr rtl="0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150" dirty="0" smtClean="0">
                <a:solidFill>
                  <a:srgbClr val="FFFFFF"/>
                </a:solidFill>
              </a:rPr>
              <a:t>汽车空调系统概述</a:t>
            </a:r>
            <a:endParaRPr lang="zh-CN" altLang="en-US" spc="150" dirty="0">
              <a:solidFill>
                <a:srgbClr val="FFFFFF"/>
              </a:solidFill>
            </a:endParaRPr>
          </a:p>
        </p:txBody>
      </p:sp>
      <p:cxnSp>
        <p:nvCxnSpPr>
          <p:cNvPr id="11" name="MH_Others_1"/>
          <p:cNvCxnSpPr/>
          <p:nvPr>
            <p:custDataLst>
              <p:tags r:id="rId4"/>
            </p:custDataLst>
          </p:nvPr>
        </p:nvCxnSpPr>
        <p:spPr>
          <a:xfrm>
            <a:off x="3174207" y="1525191"/>
            <a:ext cx="4110038" cy="0"/>
          </a:xfrm>
          <a:prstGeom prst="line">
            <a:avLst/>
          </a:prstGeom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MH_Number_2">
            <a:hlinkClick r:id="rId20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42061" y="1697832"/>
            <a:ext cx="358379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rtl="0" eaLnBrk="1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2400" dirty="0">
                <a:latin typeface="+mn-lt"/>
                <a:ea typeface="+mn-ea"/>
                <a:cs typeface="Arial" panose="020B0604020202020204" pitchFamily="34" charset="0"/>
              </a:rPr>
              <a:t>2</a:t>
            </a:r>
            <a:endParaRPr lang="zh-CN" altLang="en-US" sz="24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6" name="MH_Entry_2">
            <a:hlinkClick r:id="rId20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3521869" y="1775224"/>
            <a:ext cx="3649266" cy="283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7997" tIns="0" rIns="0" bIns="0" anchor="ctr">
            <a:normAutofit/>
          </a:bodyPr>
          <a:lstStyle/>
          <a:p>
            <a:pPr rtl="0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150" dirty="0" smtClean="0">
                <a:solidFill>
                  <a:srgbClr val="FFFFFF"/>
                </a:solidFill>
              </a:rPr>
              <a:t>汽车空调压缩机概述</a:t>
            </a:r>
            <a:endParaRPr lang="zh-CN" altLang="da-DK" spc="150" dirty="0" smtClean="0">
              <a:solidFill>
                <a:srgbClr val="FFFFFF"/>
              </a:solidFill>
            </a:endParaRPr>
          </a:p>
        </p:txBody>
      </p:sp>
      <p:cxnSp>
        <p:nvCxnSpPr>
          <p:cNvPr id="67" name="MH_Others_2"/>
          <p:cNvCxnSpPr/>
          <p:nvPr>
            <p:custDataLst>
              <p:tags r:id="rId7"/>
            </p:custDataLst>
          </p:nvPr>
        </p:nvCxnSpPr>
        <p:spPr>
          <a:xfrm>
            <a:off x="3174207" y="2112169"/>
            <a:ext cx="4110038" cy="0"/>
          </a:xfrm>
          <a:prstGeom prst="line">
            <a:avLst/>
          </a:prstGeom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MH_Number_3">
            <a:hlinkClick r:id="rId20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142061" y="2284811"/>
            <a:ext cx="358379" cy="41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rtl="0" eaLnBrk="1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2400" dirty="0">
                <a:latin typeface="+mn-lt"/>
                <a:ea typeface="+mn-ea"/>
                <a:cs typeface="Arial" panose="020B0604020202020204" pitchFamily="34" charset="0"/>
              </a:rPr>
              <a:t>3</a:t>
            </a:r>
            <a:endParaRPr lang="zh-CN" altLang="en-US" sz="24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MH_Entry_3">
            <a:hlinkClick r:id="rId20" action="ppaction://hlinksldjump"/>
          </p:cNvPr>
          <p:cNvSpPr/>
          <p:nvPr>
            <p:custDataLst>
              <p:tags r:id="rId9"/>
            </p:custDataLst>
          </p:nvPr>
        </p:nvSpPr>
        <p:spPr>
          <a:xfrm>
            <a:off x="3521869" y="2361011"/>
            <a:ext cx="3649266" cy="284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7997" tIns="0" rIns="0" bIns="0" anchor="ctr">
            <a:normAutofit/>
          </a:bodyPr>
          <a:lstStyle/>
          <a:p>
            <a:pPr rtl="0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pc="150" dirty="0" smtClean="0">
                <a:solidFill>
                  <a:srgbClr val="FFFFFF"/>
                </a:solidFill>
              </a:rPr>
              <a:t>涡旋压缩机工作原理</a:t>
            </a:r>
            <a:endParaRPr lang="zh-CN" altLang="en-US" spc="150" dirty="0">
              <a:solidFill>
                <a:srgbClr val="FFFFFF"/>
              </a:solidFill>
            </a:endParaRPr>
          </a:p>
        </p:txBody>
      </p:sp>
      <p:cxnSp>
        <p:nvCxnSpPr>
          <p:cNvPr id="71" name="MH_Others_3"/>
          <p:cNvCxnSpPr/>
          <p:nvPr>
            <p:custDataLst>
              <p:tags r:id="rId10"/>
            </p:custDataLst>
          </p:nvPr>
        </p:nvCxnSpPr>
        <p:spPr>
          <a:xfrm>
            <a:off x="3174207" y="2697956"/>
            <a:ext cx="4110038" cy="0"/>
          </a:xfrm>
          <a:prstGeom prst="line">
            <a:avLst/>
          </a:prstGeom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MH_Number_4">
            <a:hlinkClick r:id="rId20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142061" y="2871789"/>
            <a:ext cx="358379" cy="413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rtl="0" eaLnBrk="1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2400" dirty="0">
                <a:latin typeface="+mn-lt"/>
                <a:ea typeface="+mn-ea"/>
                <a:cs typeface="Arial" panose="020B0604020202020204" pitchFamily="34" charset="0"/>
              </a:rPr>
              <a:t>4</a:t>
            </a:r>
            <a:endParaRPr lang="zh-CN" altLang="en-US" sz="24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MH_Entry_4">
            <a:hlinkClick r:id="rId20" action="ppaction://hlinksldjump"/>
          </p:cNvPr>
          <p:cNvSpPr/>
          <p:nvPr>
            <p:custDataLst>
              <p:tags r:id="rId12"/>
            </p:custDataLst>
          </p:nvPr>
        </p:nvSpPr>
        <p:spPr>
          <a:xfrm>
            <a:off x="3521869" y="2947989"/>
            <a:ext cx="3649266" cy="2833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7997" tIns="0" rIns="0" bIns="0" anchor="ctr">
            <a:normAutofit/>
          </a:bodyPr>
          <a:lstStyle/>
          <a:p>
            <a:pPr rtl="0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da-DK" spc="150" dirty="0" smtClean="0">
                <a:solidFill>
                  <a:srgbClr val="FFFFFF"/>
                </a:solidFill>
              </a:rPr>
              <a:t>贝特涡旋压缩机介绍</a:t>
            </a:r>
          </a:p>
        </p:txBody>
      </p:sp>
      <p:cxnSp>
        <p:nvCxnSpPr>
          <p:cNvPr id="75" name="MH_Others_4"/>
          <p:cNvCxnSpPr/>
          <p:nvPr>
            <p:custDataLst>
              <p:tags r:id="rId13"/>
            </p:custDataLst>
          </p:nvPr>
        </p:nvCxnSpPr>
        <p:spPr>
          <a:xfrm>
            <a:off x="3174207" y="3284935"/>
            <a:ext cx="4110038" cy="0"/>
          </a:xfrm>
          <a:prstGeom prst="line">
            <a:avLst/>
          </a:prstGeom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MH_Number_5">
            <a:hlinkClick r:id="rId20" action="ppaction://hlinksldjump"/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142061" y="3457576"/>
            <a:ext cx="358379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rtl="0" eaLnBrk="1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sz="2400" dirty="0">
                <a:latin typeface="+mn-lt"/>
                <a:ea typeface="+mn-ea"/>
                <a:cs typeface="Arial" panose="020B0604020202020204" pitchFamily="34" charset="0"/>
              </a:rPr>
              <a:t>5</a:t>
            </a:r>
            <a:endParaRPr lang="zh-CN" altLang="en-US" sz="24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MH_Entry_5">
            <a:hlinkClick r:id="rId20" action="ppaction://hlinksldjump"/>
          </p:cNvPr>
          <p:cNvSpPr/>
          <p:nvPr>
            <p:custDataLst>
              <p:tags r:id="rId15"/>
            </p:custDataLst>
          </p:nvPr>
        </p:nvSpPr>
        <p:spPr>
          <a:xfrm>
            <a:off x="3521869" y="3533775"/>
            <a:ext cx="3649266" cy="284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7997" tIns="0" rIns="0" bIns="0" anchor="ctr">
            <a:normAutofit/>
          </a:bodyPr>
          <a:lstStyle/>
          <a:p>
            <a:pPr rtl="0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da-DK" spc="150" dirty="0" smtClean="0">
                <a:solidFill>
                  <a:srgbClr val="FFFFFF"/>
                </a:solidFill>
                <a:sym typeface="+mn-ea"/>
              </a:rPr>
              <a:t>贝特新能源涡旋压缩机主要零部件</a:t>
            </a:r>
            <a:endParaRPr lang="zh-CN" altLang="da-DK" spc="150" dirty="0" smtClean="0">
              <a:solidFill>
                <a:srgbClr val="FFFFFF"/>
              </a:solidFill>
            </a:endParaRPr>
          </a:p>
        </p:txBody>
      </p:sp>
      <p:cxnSp>
        <p:nvCxnSpPr>
          <p:cNvPr id="79" name="MH_Others_5"/>
          <p:cNvCxnSpPr/>
          <p:nvPr>
            <p:custDataLst>
              <p:tags r:id="rId16"/>
            </p:custDataLst>
          </p:nvPr>
        </p:nvCxnSpPr>
        <p:spPr>
          <a:xfrm>
            <a:off x="3174207" y="3871913"/>
            <a:ext cx="4110038" cy="0"/>
          </a:xfrm>
          <a:prstGeom prst="line">
            <a:avLst/>
          </a:prstGeom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4" name="MH_Others_3"/>
          <p:cNvSpPr txBox="1"/>
          <p:nvPr>
            <p:custDataLst>
              <p:tags r:id="rId17"/>
            </p:custDataLst>
          </p:nvPr>
        </p:nvSpPr>
        <p:spPr>
          <a:xfrm>
            <a:off x="974884" y="791291"/>
            <a:ext cx="1472804" cy="772715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ctr"/>
          <a:lstStyle/>
          <a:p>
            <a:pPr lvl="0" algn="ctr" eaLnBrk="1" hangingPunct="1"/>
            <a:r>
              <a:rPr lang="zh-CN" altLang="en-US" sz="4000" dirty="0"/>
              <a:t>目录</a:t>
            </a:r>
            <a:r>
              <a:rPr lang="zh-CN" altLang="en-US" sz="2700" dirty="0">
                <a:solidFill>
                  <a:srgbClr val="109F83"/>
                </a:solidFill>
              </a:rPr>
              <a:t> </a:t>
            </a:r>
            <a:endParaRPr lang="en-US" altLang="zh-CN" sz="2700" dirty="0">
              <a:solidFill>
                <a:srgbClr val="109F83"/>
              </a:solidFill>
            </a:endParaRPr>
          </a:p>
          <a:p>
            <a:pPr lvl="0" algn="ctr" eaLnBrk="1" hangingPunct="1"/>
            <a:r>
              <a:rPr lang="en-US" altLang="zh-CN" dirty="0">
                <a:solidFill>
                  <a:srgbClr val="B2B2B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CONTENTS</a:t>
            </a:r>
            <a:endParaRPr lang="zh-CN" altLang="en-US" dirty="0">
              <a:solidFill>
                <a:srgbClr val="B2B2B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2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3053" y="715091"/>
            <a:ext cx="7590948" cy="596503"/>
          </a:xfrm>
        </p:spPr>
        <p:txBody>
          <a:bodyPr>
            <a:normAutofit/>
          </a:bodyPr>
          <a:lstStyle/>
          <a:p>
            <a:r>
              <a:rPr lang="zh-CN" altLang="en-US" b="1" spc="150" dirty="0" smtClean="0"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汽车空调系统概述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3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483043" y="1295400"/>
            <a:ext cx="7051357" cy="3380424"/>
          </a:xfrm>
        </p:spPr>
        <p:txBody>
          <a:bodyPr>
            <a:normAutofit/>
          </a:bodyPr>
          <a:lstStyle/>
          <a:p>
            <a:r>
              <a:rPr lang="zh-CN" altLang="en-US" sz="2400" b="0" dirty="0" smtClean="0">
                <a:latin typeface="楷体" panose="02010609060101010101" charset="-122"/>
                <a:ea typeface="楷体" panose="02010609060101010101" charset="-122"/>
              </a:rPr>
              <a:t>汽车空调系统是实现对车厢内空气进行制冷、加热、换气和空气净化的装置。</a:t>
            </a:r>
            <a:endParaRPr lang="en-US" altLang="zh-CN" sz="2400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zh-CN" sz="2400" b="0" dirty="0" smtClean="0">
                <a:latin typeface="楷体" panose="02010609060101010101" charset="-122"/>
                <a:ea typeface="楷体" panose="02010609060101010101" charset="-122"/>
              </a:rPr>
              <a:t>空调系统的主要部件</a:t>
            </a:r>
            <a:r>
              <a:rPr lang="zh-CN" altLang="en-US" sz="2400" b="0" dirty="0" smtClean="0">
                <a:latin typeface="楷体" panose="02010609060101010101" charset="-122"/>
                <a:ea typeface="楷体" panose="02010609060101010101" charset="-122"/>
              </a:rPr>
              <a:t>包括</a:t>
            </a:r>
            <a:r>
              <a:rPr lang="zh-CN" altLang="zh-CN" sz="2400" b="0" dirty="0" smtClean="0">
                <a:latin typeface="楷体" panose="02010609060101010101" charset="-122"/>
                <a:ea typeface="楷体" panose="02010609060101010101" charset="-122"/>
              </a:rPr>
              <a:t>压缩机、冷凝器、储液罐、膨胀阀、蒸发器</a:t>
            </a:r>
            <a:r>
              <a:rPr lang="zh-CN" altLang="en-US" sz="2400" b="0" dirty="0" smtClean="0">
                <a:latin typeface="楷体" panose="02010609060101010101" charset="-122"/>
                <a:ea typeface="楷体" panose="02010609060101010101" charset="-122"/>
              </a:rPr>
              <a:t>和</a:t>
            </a:r>
            <a:r>
              <a:rPr lang="zh-CN" altLang="zh-CN" sz="2400" b="0" dirty="0" smtClean="0">
                <a:latin typeface="楷体" panose="02010609060101010101" charset="-122"/>
                <a:ea typeface="楷体" panose="02010609060101010101" charset="-122"/>
              </a:rPr>
              <a:t>连接管路</a:t>
            </a:r>
            <a:r>
              <a:rPr lang="zh-CN" altLang="en-US" sz="2400" b="0" dirty="0" smtClean="0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en-US" altLang="zh-CN" sz="2400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b="0" dirty="0" smtClean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3052" y="715091"/>
            <a:ext cx="8215313" cy="596503"/>
          </a:xfrm>
        </p:spPr>
        <p:txBody>
          <a:bodyPr>
            <a:normAutofit/>
          </a:bodyPr>
          <a:lstStyle/>
          <a:p>
            <a:r>
              <a:rPr lang="zh-CN" altLang="en-US" b="1" spc="150" dirty="0" smtClean="0"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汽车空调系统概述</a:t>
            </a:r>
          </a:p>
        </p:txBody>
      </p:sp>
      <p:pic>
        <p:nvPicPr>
          <p:cNvPr id="4" name="内容占位符 3" descr="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3052" y="1311593"/>
            <a:ext cx="5670233" cy="3742373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4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1561148" y="720568"/>
            <a:ext cx="4473893" cy="589121"/>
          </a:xfrm>
          <a:noFill/>
        </p:spPr>
        <p:txBody>
          <a:bodyPr vert="horz" wrap="square" lIns="68579" tIns="34289" rIns="68579" bIns="34289" anchor="ctr">
            <a:normAutofit/>
          </a:bodyPr>
          <a:lstStyle/>
          <a:p>
            <a:pPr algn="l"/>
            <a:r>
              <a:rPr lang="zh-CN" altLang="en-US" b="1" spc="150" dirty="0" smtClean="0"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汽车空调压缩机概述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1428750" y="1150144"/>
            <a:ext cx="6554630" cy="3292316"/>
          </a:xfrm>
        </p:spPr>
        <p:txBody>
          <a:bodyPr vert="horz" wrap="square" lIns="68579" tIns="34289" rIns="68579" bIns="34289" anchor="t">
            <a:normAutofit fontScale="97500" lnSpcReduction="10000"/>
          </a:bodyPr>
          <a:lstStyle/>
          <a:p>
            <a:pPr marL="0" indent="457200">
              <a:buNone/>
            </a:pPr>
            <a:endParaRPr lang="en-US" altLang="zh-CN" dirty="0"/>
          </a:p>
          <a:p>
            <a:pPr marL="0" lvl="1" indent="457200">
              <a:lnSpc>
                <a:spcPct val="110000"/>
              </a:lnSpc>
              <a:spcAft>
                <a:spcPts val="0"/>
              </a:spcAft>
            </a:pPr>
            <a:r>
              <a:rPr lang="en-US" altLang="zh-CN" sz="2500" dirty="0"/>
              <a:t>  </a:t>
            </a:r>
            <a:r>
              <a:rPr lang="en-US" altLang="zh-CN" sz="2500" dirty="0" err="1" smtClean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汽车空调的核心部件是空调的压缩机</a:t>
            </a:r>
            <a:r>
              <a:rPr lang="en-US" altLang="zh-CN" sz="2500" dirty="0" err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，它负责将低压的</a:t>
            </a:r>
            <a:r>
              <a:rPr lang="en-US" altLang="zh-CN" sz="2500" dirty="0" err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气态</a:t>
            </a:r>
            <a:r>
              <a:rPr lang="en-US" altLang="zh-CN" sz="2500" dirty="0" err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制冷剂吸入，加压为高压的</a:t>
            </a:r>
            <a:r>
              <a:rPr lang="en-US" altLang="zh-CN" sz="2500" dirty="0" err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气态</a:t>
            </a:r>
            <a:r>
              <a:rPr lang="en-US" altLang="zh-CN" sz="2500" dirty="0" err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制冷剂排出，为制冷剂的循环流动提供动力</a:t>
            </a:r>
            <a:r>
              <a:rPr lang="en-US" altLang="zh-CN" sz="2500" dirty="0" smtClean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</a:p>
          <a:p>
            <a:pPr marL="0" lvl="1" indent="457200">
              <a:lnSpc>
                <a:spcPct val="110000"/>
              </a:lnSpc>
              <a:spcAft>
                <a:spcPts val="0"/>
              </a:spcAft>
            </a:pPr>
            <a:r>
              <a:rPr lang="en-US" altLang="zh-CN" sz="2500" dirty="0" smtClean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500" dirty="0" smtClean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在</a:t>
            </a:r>
            <a:r>
              <a:rPr lang="en-US" altLang="zh-CN" sz="2500" dirty="0" smtClean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制冷剂的循环流动过程中</a:t>
            </a:r>
            <a:r>
              <a:rPr lang="en-US" altLang="zh-CN" sz="25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，在发动机舱内，制冷剂由气态变为液态，这个过程中制冷剂要放出热量；而在车内，制冷剂由液态变为气态，这个过程中制冷剂吸收热量，从而降低车内的温度。</a:t>
            </a:r>
            <a:r>
              <a:rPr lang="en-US" altLang="zh-CN" sz="2500" dirty="0"/>
              <a:t> </a:t>
            </a:r>
            <a:endParaRPr lang="zh-CN" altLang="en-US" sz="25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5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6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23555" name="AutoShape 31"/>
          <p:cNvSpPr/>
          <p:nvPr/>
        </p:nvSpPr>
        <p:spPr>
          <a:xfrm>
            <a:off x="1403749" y="1796653"/>
            <a:ext cx="1953815" cy="498872"/>
          </a:xfrm>
          <a:prstGeom prst="roundRect">
            <a:avLst>
              <a:gd name="adj" fmla="val 50000"/>
            </a:avLst>
          </a:prstGeom>
          <a:noFill/>
          <a:ln w="19050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txBody>
          <a:bodyPr wrap="none" lIns="68579" tIns="34289" rIns="68579" bIns="34289" anchor="ctr"/>
          <a:lstStyle/>
          <a:p>
            <a:pPr lvl="0" eaLnBrk="1" hangingPunct="1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556" name="AutoShape 31"/>
          <p:cNvSpPr/>
          <p:nvPr/>
        </p:nvSpPr>
        <p:spPr>
          <a:xfrm>
            <a:off x="2895601" y="1796653"/>
            <a:ext cx="1952625" cy="498872"/>
          </a:xfrm>
          <a:prstGeom prst="roundRect">
            <a:avLst>
              <a:gd name="adj" fmla="val 50000"/>
            </a:avLst>
          </a:prstGeom>
          <a:noFill/>
          <a:ln w="19050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txBody>
          <a:bodyPr wrap="none" lIns="68579" tIns="34289" rIns="68579" bIns="34289" anchor="ctr"/>
          <a:lstStyle/>
          <a:p>
            <a:pPr lvl="0" eaLnBrk="1" hangingPunct="1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557" name="AutoShape 31"/>
          <p:cNvSpPr/>
          <p:nvPr/>
        </p:nvSpPr>
        <p:spPr>
          <a:xfrm>
            <a:off x="4379119" y="1796653"/>
            <a:ext cx="1953816" cy="498872"/>
          </a:xfrm>
          <a:prstGeom prst="roundRect">
            <a:avLst>
              <a:gd name="adj" fmla="val 50000"/>
            </a:avLst>
          </a:prstGeom>
          <a:noFill/>
          <a:ln w="19050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txBody>
          <a:bodyPr wrap="none" lIns="68579" tIns="34289" rIns="68579" bIns="34289" anchor="ctr"/>
          <a:lstStyle/>
          <a:p>
            <a:pPr lvl="0" eaLnBrk="1" hangingPunct="1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558" name="AutoShape 31"/>
          <p:cNvSpPr/>
          <p:nvPr/>
        </p:nvSpPr>
        <p:spPr>
          <a:xfrm>
            <a:off x="5849543" y="1796653"/>
            <a:ext cx="1953815" cy="498872"/>
          </a:xfrm>
          <a:prstGeom prst="roundRect">
            <a:avLst>
              <a:gd name="adj" fmla="val 50000"/>
            </a:avLst>
          </a:prstGeom>
          <a:noFill/>
          <a:ln w="19050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txBody>
          <a:bodyPr wrap="none" lIns="68579" tIns="34289" rIns="68579" bIns="34289" anchor="ctr"/>
          <a:lstStyle/>
          <a:p>
            <a:pPr lvl="0" eaLnBrk="1" hangingPunct="1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883694" y="1801418"/>
            <a:ext cx="490538" cy="4893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rtl="0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368403" y="1801418"/>
            <a:ext cx="490538" cy="4893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rtl="0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845969" y="1801418"/>
            <a:ext cx="490538" cy="4893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rtl="0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accent1"/>
              </a:solidFill>
            </a:endParaRPr>
          </a:p>
        </p:txBody>
      </p:sp>
      <p:grpSp>
        <p:nvGrpSpPr>
          <p:cNvPr id="23562" name="组合 21"/>
          <p:cNvGrpSpPr/>
          <p:nvPr/>
        </p:nvGrpSpPr>
        <p:grpSpPr>
          <a:xfrm>
            <a:off x="1662114" y="1876426"/>
            <a:ext cx="1437085" cy="1018342"/>
            <a:chOff x="914454" y="2896565"/>
            <a:chExt cx="1141937" cy="809475"/>
          </a:xfrm>
        </p:grpSpPr>
        <p:sp>
          <p:nvSpPr>
            <p:cNvPr id="23572" name="文本框 22"/>
            <p:cNvSpPr txBox="1"/>
            <p:nvPr/>
          </p:nvSpPr>
          <p:spPr>
            <a:xfrm>
              <a:off x="1085638" y="2896565"/>
              <a:ext cx="799569" cy="270544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lvl="0" algn="ctr" eaLnBrk="1" hangingPunct="1"/>
              <a:r>
                <a:rPr lang="en-US" altLang="zh-CN" dirty="0" err="1" smtClean="0">
                  <a:solidFill>
                    <a:schemeClr val="accent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曲轴连杆</a:t>
              </a:r>
              <a:r>
                <a:rPr lang="zh-CN" altLang="en-US" dirty="0" smtClean="0">
                  <a:solidFill>
                    <a:schemeClr val="accent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活塞</a:t>
              </a:r>
              <a:r>
                <a:rPr lang="en-US" altLang="zh-CN" dirty="0" smtClean="0">
                  <a:solidFill>
                    <a:schemeClr val="accent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式</a:t>
              </a:r>
              <a:endPara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3573" name="文本框 23"/>
            <p:cNvSpPr txBox="1"/>
            <p:nvPr/>
          </p:nvSpPr>
          <p:spPr>
            <a:xfrm>
              <a:off x="914454" y="3427139"/>
              <a:ext cx="1141937" cy="27890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lvl="0" algn="ctr" eaLnBrk="1" hangingPunct="1">
                <a:lnSpc>
                  <a:spcPct val="120000"/>
                </a:lnSpc>
              </a:pP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3563" name="组合 27"/>
          <p:cNvGrpSpPr/>
          <p:nvPr/>
        </p:nvGrpSpPr>
        <p:grpSpPr>
          <a:xfrm>
            <a:off x="3153966" y="1813323"/>
            <a:ext cx="1435894" cy="1080723"/>
            <a:chOff x="2169164" y="2847171"/>
            <a:chExt cx="1141937" cy="858776"/>
          </a:xfrm>
        </p:grpSpPr>
        <p:sp>
          <p:nvSpPr>
            <p:cNvPr id="23570" name="文本框 28"/>
            <p:cNvSpPr txBox="1"/>
            <p:nvPr/>
          </p:nvSpPr>
          <p:spPr>
            <a:xfrm>
              <a:off x="2301475" y="2847171"/>
              <a:ext cx="877694" cy="36936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lvl="0" algn="ctr" eaLnBrk="1" hangingPunct="1"/>
              <a:r>
                <a:rPr lang="zh-CN" altLang="en-US" dirty="0" smtClean="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斜盘</a:t>
              </a:r>
              <a:r>
                <a:rPr lang="en-US" altLang="zh-CN" dirty="0" err="1" smtClean="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活塞</a:t>
              </a:r>
              <a:r>
                <a:rPr lang="zh-CN" altLang="en-US" dirty="0" smtClean="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式</a:t>
              </a:r>
              <a:endPara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3571" name="文本框 29"/>
            <p:cNvSpPr txBox="1"/>
            <p:nvPr/>
          </p:nvSpPr>
          <p:spPr>
            <a:xfrm>
              <a:off x="2169164" y="3427139"/>
              <a:ext cx="1141937" cy="27880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lvl="0" algn="ctr" eaLnBrk="1" hangingPunct="1">
                <a:lnSpc>
                  <a:spcPct val="120000"/>
                </a:lnSpc>
              </a:pPr>
              <a:endParaRPr lang="zh-CN" altLang="en-US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3564" name="组合 30"/>
          <p:cNvGrpSpPr/>
          <p:nvPr/>
        </p:nvGrpSpPr>
        <p:grpSpPr>
          <a:xfrm>
            <a:off x="4624150" y="1826181"/>
            <a:ext cx="1437084" cy="1080648"/>
            <a:chOff x="3405402" y="2847171"/>
            <a:chExt cx="1141937" cy="858807"/>
          </a:xfrm>
        </p:grpSpPr>
        <p:sp>
          <p:nvSpPr>
            <p:cNvPr id="32" name="文本框 31"/>
            <p:cNvSpPr txBox="1"/>
            <p:nvPr/>
          </p:nvSpPr>
          <p:spPr>
            <a:xfrm>
              <a:off x="3540631" y="2847171"/>
              <a:ext cx="892610" cy="372932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smtClean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旋转叶片式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405402" y="3427140"/>
              <a:ext cx="1141937" cy="278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565" name="组合 33"/>
          <p:cNvGrpSpPr/>
          <p:nvPr/>
        </p:nvGrpSpPr>
        <p:grpSpPr>
          <a:xfrm>
            <a:off x="6107908" y="1813323"/>
            <a:ext cx="1437085" cy="1080723"/>
            <a:chOff x="4641640" y="2847171"/>
            <a:chExt cx="1141937" cy="858776"/>
          </a:xfrm>
        </p:grpSpPr>
        <p:sp>
          <p:nvSpPr>
            <p:cNvPr id="23566" name="文本框 34"/>
            <p:cNvSpPr txBox="1"/>
            <p:nvPr/>
          </p:nvSpPr>
          <p:spPr>
            <a:xfrm>
              <a:off x="4812824" y="2847171"/>
              <a:ext cx="799569" cy="36933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lvl="0" algn="ctr" eaLnBrk="1" hangingPunct="1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涡旋式</a:t>
              </a:r>
            </a:p>
          </p:txBody>
        </p:sp>
        <p:sp>
          <p:nvSpPr>
            <p:cNvPr id="23567" name="文本框 35"/>
            <p:cNvSpPr txBox="1"/>
            <p:nvPr/>
          </p:nvSpPr>
          <p:spPr>
            <a:xfrm>
              <a:off x="4641640" y="3427139"/>
              <a:ext cx="1141937" cy="27880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lvl="0" algn="ctr" eaLnBrk="1" hangingPunct="1">
                <a:lnSpc>
                  <a:spcPct val="120000"/>
                </a:lnSpc>
              </a:pP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2" name="图片 1" descr="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07908" y="2556035"/>
            <a:ext cx="1779746" cy="1323023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/>
        </p:nvPicPr>
        <p:blipFill>
          <a:blip r:embed="rId3" cstate="print"/>
          <a:srcRect l="24671" b="20700"/>
          <a:stretch>
            <a:fillRect/>
          </a:stretch>
        </p:blipFill>
        <p:spPr>
          <a:xfrm>
            <a:off x="4590099" y="2556034"/>
            <a:ext cx="1410176" cy="1299210"/>
          </a:xfrm>
          <a:prstGeom prst="rect">
            <a:avLst/>
          </a:prstGeom>
        </p:spPr>
      </p:pic>
      <p:pic>
        <p:nvPicPr>
          <p:cNvPr id="5" name="图片 4" descr="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95125" y="2569846"/>
            <a:ext cx="1729264" cy="1285399"/>
          </a:xfrm>
          <a:prstGeom prst="rect">
            <a:avLst/>
          </a:prstGeom>
        </p:spPr>
      </p:pic>
      <p:pic>
        <p:nvPicPr>
          <p:cNvPr id="6" name="图片 5" descr="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87806" y="2381727"/>
            <a:ext cx="1337786" cy="1672114"/>
          </a:xfrm>
          <a:prstGeom prst="rect">
            <a:avLst/>
          </a:prstGeom>
        </p:spPr>
      </p:pic>
      <p:sp>
        <p:nvSpPr>
          <p:cNvPr id="27" name="标题 1"/>
          <p:cNvSpPr txBox="1"/>
          <p:nvPr/>
        </p:nvSpPr>
        <p:spPr>
          <a:xfrm>
            <a:off x="1561148" y="720568"/>
            <a:ext cx="4473893" cy="5891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68579" tIns="34289" rIns="68579" bIns="34289" anchor="ctr">
            <a:normAutofit/>
          </a:bodyPr>
          <a:lstStyle/>
          <a:p>
            <a:pPr lvl="0" defTabSz="513715" rtl="0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zh-CN" altLang="zh-CN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常见</a:t>
            </a: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车用空调</a:t>
            </a:r>
            <a:r>
              <a:rPr lang="zh-CN" altLang="zh-CN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压缩机种类</a:t>
            </a:r>
            <a:endParaRPr kumimoji="0" lang="zh-CN" altLang="en-US" sz="2400" b="1" i="0" u="none" strike="noStrike" kern="1200" cap="none" spc="15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7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561148" y="720568"/>
            <a:ext cx="4473893" cy="5891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68579" tIns="34289" rIns="68579" bIns="34289" anchor="ctr">
            <a:normAutofit/>
          </a:bodyPr>
          <a:lstStyle/>
          <a:p>
            <a:pPr lvl="0" defTabSz="513715" rtl="0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涡旋压缩机简介</a:t>
            </a:r>
            <a:endParaRPr kumimoji="0" lang="zh-CN" altLang="en-US" sz="2400" b="1" i="0" u="none" strike="noStrike" kern="1200" cap="none" spc="15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428750" y="1150143"/>
            <a:ext cx="6877050" cy="3574257"/>
          </a:xfrm>
        </p:spPr>
        <p:txBody>
          <a:bodyPr vert="horz" wrap="square" lIns="68579" tIns="34289" rIns="68579" bIns="34289" anchor="t">
            <a:normAutofit/>
          </a:bodyPr>
          <a:lstStyle/>
          <a:p>
            <a:pPr marL="0" lvl="1" indent="0">
              <a:lnSpc>
                <a:spcPct val="110000"/>
              </a:lnSpc>
              <a:spcAft>
                <a:spcPts val="0"/>
              </a:spcAft>
            </a:pPr>
            <a:r>
              <a:rPr lang="zh-CN" altLang="en-US" sz="1800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   涡旋压缩机属一种容积式压缩的压缩机，压缩部件由动涡旋盘和静涡旋组成。</a:t>
            </a:r>
            <a:endParaRPr lang="en-US" altLang="zh-CN" sz="1800" dirty="0" smtClean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en-US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优点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1.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没有往复运动机构，结构简单、体积小、重量轻、零件少；</a:t>
            </a:r>
            <a:endParaRPr lang="en-US" altLang="zh-CN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2.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振动小，运转平稳，噪音低，可靠性高；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3.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相比活塞式压缩机有较高的效率。</a:t>
            </a:r>
            <a:endParaRPr lang="en-US" altLang="zh-CN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en-US" dirty="0" smtClean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缺点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1.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加工及其检验复杂，有的还需要专用设备，因此制造成本较高；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2.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难以达到较大的压缩比，多在空调工况下使用；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3.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密封要求高，密封结构复杂。</a:t>
            </a:r>
            <a:endParaRPr lang="en-US" altLang="zh-CN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b="0" dirty="0" smtClean="0">
                <a:latin typeface="楷体" panose="02010609060101010101" charset="-122"/>
                <a:ea typeface="楷体" panose="02010609060101010101" charset="-122"/>
              </a:rPr>
              <a:t>   </a:t>
            </a:r>
            <a:r>
              <a:rPr lang="zh-CN" altLang="en-US" b="0" dirty="0" smtClean="0">
                <a:latin typeface="楷体" panose="02010609060101010101" charset="-122"/>
                <a:ea typeface="楷体" panose="02010609060101010101" charset="-122"/>
              </a:rPr>
              <a:t>目前车用电动压缩机以涡旋式为主，少数为旋叶式和转子式。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zh-CN" altLang="en-US" b="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1" indent="457200">
              <a:lnSpc>
                <a:spcPct val="110000"/>
              </a:lnSpc>
              <a:spcAft>
                <a:spcPts val="0"/>
              </a:spcAft>
            </a:pPr>
            <a:endParaRPr lang="zh-CN" altLang="en-US" sz="2500" dirty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2082" y="1292066"/>
            <a:ext cx="7281863" cy="2814638"/>
          </a:xfrm>
        </p:spPr>
        <p:txBody>
          <a:bodyPr>
            <a:normAutofit lnSpcReduction="1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0" dirty="0" smtClean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400" b="0" dirty="0" smtClean="0">
                <a:latin typeface="楷体" panose="02010609060101010101" charset="-122"/>
                <a:ea typeface="楷体" panose="02010609060101010101" charset="-122"/>
              </a:rPr>
              <a:t>涡旋</a:t>
            </a:r>
            <a:r>
              <a:rPr lang="zh-CN" altLang="en-US" sz="2400" b="0" dirty="0">
                <a:latin typeface="楷体" panose="02010609060101010101" charset="-122"/>
                <a:ea typeface="楷体" panose="02010609060101010101" charset="-122"/>
              </a:rPr>
              <a:t>式压缩机</a:t>
            </a:r>
            <a:r>
              <a:rPr lang="zh-CN" altLang="en-US" sz="2400" b="0" dirty="0" smtClean="0">
                <a:latin typeface="楷体" panose="02010609060101010101" charset="-122"/>
                <a:ea typeface="楷体" panose="02010609060101010101" charset="-122"/>
              </a:rPr>
              <a:t>是由两个双函数方程型线（通常为圆渐开线）的</a:t>
            </a:r>
            <a:r>
              <a:rPr lang="zh-CN" altLang="en-US" sz="2400" b="0" dirty="0">
                <a:latin typeface="楷体" panose="02010609060101010101" charset="-122"/>
                <a:ea typeface="楷体" panose="02010609060101010101" charset="-122"/>
              </a:rPr>
              <a:t>动、静涡盘相互啮合而成。在吸气、压缩、排气的工作过程中，静盘固定，动盘由偏心轴驱动并由防自转机构约束，围绕静盘基圆中心，作小半径的平面转动。气体通过进气口吸入静盘的外围，随着偏心轴的旋转，气体在动静盘啮合所组成的若干个月牙形压缩腔内被逐步压缩，然后由静盘中心的排气孔连续排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8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561148" y="720568"/>
            <a:ext cx="4473893" cy="5891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68579" tIns="34289" rIns="68579" bIns="34289" anchor="ctr">
            <a:normAutofit/>
          </a:bodyPr>
          <a:lstStyle/>
          <a:p>
            <a:pPr lvl="0" defTabSz="513715" rtl="0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涡旋压缩机工作原理</a:t>
            </a:r>
            <a:endParaRPr kumimoji="0" lang="zh-CN" altLang="en-US" sz="2400" b="1" i="0" u="none" strike="noStrike" kern="1200" cap="none" spc="15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内容占位符 12" descr="210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87805" y="1448753"/>
            <a:ext cx="3474244" cy="2684145"/>
          </a:xfrm>
          <a:prstGeom prst="rect">
            <a:avLst/>
          </a:prstGeom>
        </p:spPr>
      </p:pic>
      <p:pic>
        <p:nvPicPr>
          <p:cNvPr id="14" name="图片 13" descr="04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67802" y="1442561"/>
            <a:ext cx="3481864" cy="268986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9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561148" y="720568"/>
            <a:ext cx="4473893" cy="5891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68579" tIns="34289" rIns="68579" bIns="34289" anchor="ctr">
            <a:normAutofit/>
          </a:bodyPr>
          <a:lstStyle/>
          <a:p>
            <a:pPr lvl="0" defTabSz="513715" rtl="0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涡旋压缩机工作原理</a:t>
            </a:r>
            <a:endParaRPr kumimoji="0" lang="zh-CN" altLang="en-US" sz="2400" b="1" i="0" u="none" strike="noStrike" kern="1200" cap="none" spc="15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 descr="涡旋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00790" y="860107"/>
            <a:ext cx="3960495" cy="396049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10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561148" y="720568"/>
            <a:ext cx="4473893" cy="589121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68579" tIns="34289" rIns="68579" bIns="34289" anchor="ctr">
            <a:normAutofit/>
          </a:bodyPr>
          <a:lstStyle/>
          <a:p>
            <a:pPr lvl="0" defTabSz="513715" rtl="0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70C0"/>
                </a:solidFill>
                <a:latin typeface="楷体" panose="02010609060101010101" charset="-122"/>
                <a:ea typeface="楷体" panose="02010609060101010101" charset="-122"/>
              </a:rPr>
              <a:t>涡旋压缩机工作原理</a:t>
            </a:r>
            <a:endParaRPr kumimoji="0" lang="zh-CN" altLang="en-US" sz="2400" b="1" i="0" u="none" strike="noStrike" kern="1200" cap="none" spc="15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387793" y="581026"/>
            <a:ext cx="7332345" cy="4048124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湖南贝特压缩机的介绍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1.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结构：</a:t>
            </a:r>
            <a:r>
              <a:rPr lang="zh-CN" altLang="zh-CN" sz="2000" dirty="0" smtClean="0">
                <a:latin typeface="楷体" panose="02010609060101010101" charset="-122"/>
                <a:ea typeface="楷体" panose="02010609060101010101" charset="-122"/>
              </a:rPr>
              <a:t>一体式电动半封闭卧式涡旋压缩机</a:t>
            </a: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2.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涡旋防自转机构：十字滑环式</a:t>
            </a: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3.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使用制冷剂：</a:t>
            </a: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R134a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R407c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R410A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（环保无氟冷媒）</a:t>
            </a: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4.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使用润滑油：</a:t>
            </a: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POE68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（多元醇酯类合成冷冻机油）</a:t>
            </a: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5.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使用电机：</a:t>
            </a: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BLDC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电机（无刷直流电机）</a:t>
            </a: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latin typeface="楷体" panose="02010609060101010101" charset="-122"/>
                <a:ea typeface="楷体" panose="02010609060101010101" charset="-122"/>
              </a:rPr>
              <a:t>6.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电机控制方式：</a:t>
            </a:r>
            <a:r>
              <a:rPr lang="zh-CN" altLang="zh-CN" sz="2000" dirty="0" smtClean="0">
                <a:latin typeface="楷体" panose="02010609060101010101" charset="-122"/>
                <a:ea typeface="楷体" panose="02010609060101010101" charset="-122"/>
              </a:rPr>
              <a:t>无位置传感器，正弦波驱动</a:t>
            </a: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0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zh-CN" altLang="zh-CN" sz="1600" dirty="0" smtClean="0"/>
          </a:p>
          <a:p>
            <a:pPr>
              <a:buNone/>
            </a:pP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11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12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6" descr="微信截图_2019041617315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66006" y="556358"/>
            <a:ext cx="7068369" cy="4587142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387793" y="581026"/>
            <a:ext cx="7332345" cy="4048124"/>
          </a:xfrm>
        </p:spPr>
        <p:txBody>
          <a:bodyPr>
            <a:normAutofit lnSpcReduction="10000"/>
          </a:bodyPr>
          <a:lstStyle/>
          <a:p>
            <a:pPr marL="0"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湖南贝特压缩机的型号编号规则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  <a:buNone/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压缩机型号：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□□□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—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□□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           1 2 3  4 5     6  7  8 9</a:t>
            </a:r>
          </a:p>
          <a:p>
            <a:pPr marL="0" lvl="0"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型号共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9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位，由字母和数字组成</a:t>
            </a:r>
          </a:p>
          <a:p>
            <a:pPr marL="0" lvl="0"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3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位，固定为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BET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，表示湖南贝特公司电动一体式压缩机</a:t>
            </a:r>
          </a:p>
          <a:p>
            <a:pPr marL="0" lvl="0"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4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5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位，表示压缩机实际排量</a:t>
            </a:r>
          </a:p>
          <a:p>
            <a:pPr marL="0" lvl="0"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6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位，表示压缩机的外形（模具）差异，按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C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……流水顺序编排</a:t>
            </a: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7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位，表示电等级压，具体数字含义详见下表</a:t>
            </a: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8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9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位，表示不同型号的机型，按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01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02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03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……流水顺序编排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举例说明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BET27-A401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套模具外形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27cc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排量电动一体式压缩机，第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款电压等级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72V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BET36-C904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C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套模具外形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36cc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排量电动一体式压缩机，第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4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款电压等级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320V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/>
          </a:p>
          <a:p>
            <a:pPr>
              <a:buNone/>
            </a:pP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47819" y="2851150"/>
          <a:ext cx="667703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5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7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9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暂空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24V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48V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60V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72V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96V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144V</a:t>
                      </a:r>
                      <a:endParaRPr lang="zh-CN" sz="16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暂空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暂空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6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≥300V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13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359218" y="508634"/>
            <a:ext cx="7332345" cy="4634865"/>
          </a:xfrm>
        </p:spPr>
        <p:txBody>
          <a:bodyPr>
            <a:normAutofit fontScale="92500" lnSpcReduction="100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200" dirty="0" smtClean="0">
                <a:latin typeface="楷体" panose="02010609060101010101" charset="-122"/>
                <a:ea typeface="楷体" panose="02010609060101010101" charset="-122"/>
              </a:rPr>
              <a:t>湖南贝特压缩机的</a:t>
            </a:r>
            <a:r>
              <a:rPr lang="zh-CN" altLang="zh-CN" sz="2200" dirty="0" smtClean="0">
                <a:latin typeface="楷体" panose="02010609060101010101" charset="-122"/>
                <a:ea typeface="楷体" panose="02010609060101010101" charset="-122"/>
              </a:rPr>
              <a:t>序列号编号规则</a:t>
            </a:r>
            <a:endParaRPr lang="en-US" altLang="zh-CN" sz="22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压缩机序列号：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 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□□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 □□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□□□□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              A     B      C  D    E   F  G    H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压缩机型号：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□□□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—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zh-CN" sz="1600" u="sng" dirty="0" smtClean="0">
                <a:latin typeface="楷体" panose="02010609060101010101" charset="-122"/>
                <a:ea typeface="楷体" panose="02010609060101010101" charset="-122"/>
              </a:rPr>
              <a:t>□□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             1 2 3  4 5     6  7  8 9</a:t>
            </a: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序列号共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13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位，由字母和数字组成</a:t>
            </a: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A  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位字母，固定为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，表示湖南贝特公司电动一体式压缩机</a:t>
            </a: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  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位数字，与压缩机型号第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4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5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位相同，标示压缩机排量</a:t>
            </a: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C  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位字母，与压缩机型号第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6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位相同，标示压缩机的外形（模具）差异</a:t>
            </a: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D  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位数字，与压缩机型号第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7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位相同，标示压缩机电压等级</a:t>
            </a: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E  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位数字，与压缩机型号第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8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9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位相同，标示压缩机细节差异，无明确含义</a:t>
            </a: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F  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位数字，生产年份标识，例如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2012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年为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，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2013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年为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3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G  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位数字或字母，生产月份标识，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～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9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月为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～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9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，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10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月为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C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H  4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位数字，流水号，从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0001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开始顺序编号</a:t>
            </a: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altLang="zh-CN" sz="1600" smtClean="0">
                <a:latin typeface="楷体" panose="02010609060101010101" charset="-122"/>
                <a:ea typeface="楷体" panose="02010609060101010101" charset="-122"/>
              </a:rPr>
              <a:t>  </a:t>
            </a:r>
            <a:r>
              <a:rPr lang="zh-CN" altLang="zh-CN" sz="1600" smtClean="0">
                <a:latin typeface="楷体" panose="02010609060101010101" charset="-122"/>
                <a:ea typeface="楷体" panose="02010609060101010101" charset="-122"/>
              </a:rPr>
              <a:t>举例说明</a:t>
            </a: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B27A401680001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2016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年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8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月生产的第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台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BAT27-A401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型压缩机</a:t>
            </a:r>
          </a:p>
          <a:p>
            <a:pPr marL="0">
              <a:spcBef>
                <a:spcPts val="0"/>
              </a:spcBef>
              <a:buNone/>
            </a:pP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B36C9046C0010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2016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年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12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月生产的第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10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台</a:t>
            </a:r>
            <a:r>
              <a:rPr lang="en-US" altLang="zh-CN" sz="1600" dirty="0" smtClean="0">
                <a:latin typeface="楷体" panose="02010609060101010101" charset="-122"/>
                <a:ea typeface="楷体" panose="02010609060101010101" charset="-122"/>
              </a:rPr>
              <a:t>BAT36-C904</a:t>
            </a:r>
            <a:r>
              <a:rPr lang="zh-CN" altLang="zh-CN" sz="1600" dirty="0" smtClean="0">
                <a:latin typeface="楷体" panose="02010609060101010101" charset="-122"/>
                <a:ea typeface="楷体" panose="02010609060101010101" charset="-122"/>
              </a:rPr>
              <a:t>型压缩机</a:t>
            </a: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/>
          </a:p>
          <a:p>
            <a:pPr>
              <a:buNone/>
            </a:pP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19244" y="2755900"/>
          <a:ext cx="66770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  <a:gridCol w="667703"/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5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7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8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9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暂空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24V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48V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60V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72V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96V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144V</a:t>
                      </a:r>
                      <a:endParaRPr lang="zh-CN" sz="1200" b="1" i="0" u="none" strike="noStrike" dirty="0">
                        <a:solidFill>
                          <a:srgbClr val="0070C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暂空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暂空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200" b="1" i="0" u="none" strike="noStrike" dirty="0">
                          <a:solidFill>
                            <a:srgbClr val="0070C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≥300V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14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235393" y="508634"/>
            <a:ext cx="7332345" cy="4634865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BET27A</a:t>
            </a: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系列压缩机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排量：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27mL/r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电压范围：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48-540V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转速范围：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800-6000rpm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适用空调系统制冷量：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          2-6kW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使用制冷剂：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R134a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使用润滑油：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POE68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2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/>
          </a:p>
          <a:p>
            <a:pPr>
              <a:buNone/>
            </a:pP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3271" y="695326"/>
            <a:ext cx="4223080" cy="37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15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235393" y="508634"/>
            <a:ext cx="7332345" cy="4634865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BET27B</a:t>
            </a: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系列压缩机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排量：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27mL/r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电压范围：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24-360V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转速范围：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800-6000rpm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适用空调系统制冷量：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          2-6kW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使用制冷剂：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R134a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使用润滑油：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POE68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2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/>
          </a:p>
          <a:p>
            <a:pPr>
              <a:buNone/>
            </a:pP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16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9" y="771525"/>
            <a:ext cx="4199634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235393" y="508634"/>
            <a:ext cx="7332345" cy="4634865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BET27C</a:t>
            </a: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系列压缩机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排量：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27mL/r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电压范围：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48-540V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转速范围：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800-6000rpm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适用空调系统制冷量：</a:t>
            </a: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          2-6kW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使用制冷剂：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R134a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</a:rPr>
              <a:t>使用润滑油：</a:t>
            </a:r>
            <a:r>
              <a:rPr lang="en-US" altLang="zh-CN" sz="2400" dirty="0" smtClean="0">
                <a:latin typeface="楷体" panose="02010609060101010101" charset="-122"/>
                <a:ea typeface="楷体" panose="02010609060101010101" charset="-122"/>
              </a:rPr>
              <a:t>POE68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2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 marL="0" lvl="0">
              <a:spcBef>
                <a:spcPts val="0"/>
              </a:spcBef>
            </a:pPr>
            <a:endParaRPr lang="en-US" altLang="zh-CN" sz="1600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zh-CN" sz="1600" dirty="0" smtClean="0"/>
          </a:p>
          <a:p>
            <a:pPr>
              <a:buNone/>
            </a:pP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17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3481" y="704850"/>
            <a:ext cx="4320494" cy="3582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805" y="787957"/>
            <a:ext cx="8215313" cy="596503"/>
          </a:xfrm>
        </p:spPr>
        <p:txBody>
          <a:bodyPr/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电动涡旋压缩机主要零部件介绍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7806" y="1470183"/>
            <a:ext cx="7332345" cy="2814638"/>
          </a:xfrm>
        </p:spPr>
        <p:txBody>
          <a:bodyPr/>
          <a:lstStyle/>
          <a:p>
            <a:r>
              <a:rPr lang="en-US" altLang="zh-CN"/>
              <a:t>1</a:t>
            </a:r>
            <a:r>
              <a:t>、</a:t>
            </a:r>
            <a:r>
              <a:rPr lang="zh-CN" altLang="en-US"/>
              <a:t>电器部件</a:t>
            </a:r>
          </a:p>
        </p:txBody>
      </p:sp>
      <p:pic>
        <p:nvPicPr>
          <p:cNvPr id="4" name="图片 3" descr="P60708-11113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1686402" y="1684021"/>
            <a:ext cx="2224088" cy="2965609"/>
          </a:xfrm>
          <a:prstGeom prst="rect">
            <a:avLst/>
          </a:prstGeom>
        </p:spPr>
      </p:pic>
      <p:pic>
        <p:nvPicPr>
          <p:cNvPr id="5" name="图片 4" descr="P60708-111408"/>
          <p:cNvPicPr>
            <a:picLocks noChangeAspect="1"/>
          </p:cNvPicPr>
          <p:nvPr/>
        </p:nvPicPr>
        <p:blipFill>
          <a:blip r:embed="rId3" cstate="print"/>
          <a:srcRect l="20548"/>
          <a:stretch>
            <a:fillRect/>
          </a:stretch>
        </p:blipFill>
        <p:spPr>
          <a:xfrm>
            <a:off x="4281487" y="2060735"/>
            <a:ext cx="2349818" cy="2218373"/>
          </a:xfrm>
          <a:prstGeom prst="rect">
            <a:avLst/>
          </a:prstGeom>
        </p:spPr>
      </p:pic>
      <p:pic>
        <p:nvPicPr>
          <p:cNvPr id="6" name="图片 5" descr="P60708-111544"/>
          <p:cNvPicPr>
            <a:picLocks noChangeAspect="1"/>
          </p:cNvPicPr>
          <p:nvPr/>
        </p:nvPicPr>
        <p:blipFill>
          <a:blip r:embed="rId4" cstate="print"/>
          <a:srcRect l="26742" t="24465" r="16002" b="28316"/>
          <a:stretch>
            <a:fillRect/>
          </a:stretch>
        </p:blipFill>
        <p:spPr>
          <a:xfrm>
            <a:off x="6631306" y="2060735"/>
            <a:ext cx="2017395" cy="221884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83206" y="4514850"/>
            <a:ext cx="561690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60182" y="4514850"/>
            <a:ext cx="702754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电机定子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07129" y="4514850"/>
            <a:ext cx="702754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电机转子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18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7793" y="737475"/>
            <a:ext cx="8215313" cy="596503"/>
          </a:xfrm>
        </p:spPr>
        <p:txBody>
          <a:bodyPr>
            <a:norm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电动涡旋压缩机主要零部件介绍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87793" y="1333977"/>
            <a:ext cx="7332345" cy="2814638"/>
          </a:xfrm>
        </p:spPr>
        <p:txBody>
          <a:bodyPr/>
          <a:lstStyle/>
          <a:p>
            <a:r>
              <a:rPr lang="en-US" altLang="zh-CN"/>
              <a:t>2</a:t>
            </a:r>
            <a:r>
              <a:t>、</a:t>
            </a:r>
            <a:r>
              <a:rPr lang="zh-CN" altLang="en-US"/>
              <a:t>结构件</a:t>
            </a:r>
          </a:p>
        </p:txBody>
      </p:sp>
      <p:pic>
        <p:nvPicPr>
          <p:cNvPr id="4" name="图片 3" descr="P60708-111755"/>
          <p:cNvPicPr>
            <a:picLocks noChangeAspect="1"/>
          </p:cNvPicPr>
          <p:nvPr/>
        </p:nvPicPr>
        <p:blipFill>
          <a:blip r:embed="rId2" cstate="print"/>
          <a:srcRect l="16286" t="13326" r="13390"/>
          <a:stretch>
            <a:fillRect/>
          </a:stretch>
        </p:blipFill>
        <p:spPr>
          <a:xfrm>
            <a:off x="641985" y="1787368"/>
            <a:ext cx="2598420" cy="2402681"/>
          </a:xfrm>
          <a:prstGeom prst="rect">
            <a:avLst/>
          </a:prstGeom>
        </p:spPr>
      </p:pic>
      <p:pic>
        <p:nvPicPr>
          <p:cNvPr id="5" name="图片 4" descr="P60708-111801"/>
          <p:cNvPicPr>
            <a:picLocks noChangeAspect="1"/>
          </p:cNvPicPr>
          <p:nvPr/>
        </p:nvPicPr>
        <p:blipFill>
          <a:blip r:embed="rId3" cstate="print"/>
          <a:srcRect l="21535" t="10766" r="4079" b="5960"/>
          <a:stretch>
            <a:fillRect/>
          </a:stretch>
        </p:blipFill>
        <p:spPr>
          <a:xfrm>
            <a:off x="3240406" y="1787368"/>
            <a:ext cx="2860358" cy="2402681"/>
          </a:xfrm>
          <a:prstGeom prst="rect">
            <a:avLst/>
          </a:prstGeom>
        </p:spPr>
      </p:pic>
      <p:pic>
        <p:nvPicPr>
          <p:cNvPr id="6" name="图片 5" descr="P60708-111805"/>
          <p:cNvPicPr>
            <a:picLocks noChangeAspect="1"/>
          </p:cNvPicPr>
          <p:nvPr/>
        </p:nvPicPr>
        <p:blipFill>
          <a:blip r:embed="rId4" cstate="print"/>
          <a:srcRect l="19237" t="18106" r="13448" b="6208"/>
          <a:stretch>
            <a:fillRect/>
          </a:stretch>
        </p:blipFill>
        <p:spPr>
          <a:xfrm>
            <a:off x="6100762" y="1787367"/>
            <a:ext cx="2848928" cy="240315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03047" y="4421029"/>
            <a:ext cx="977741" cy="289308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电机机壳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303396" y="4421029"/>
            <a:ext cx="561690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轴承座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323297" y="4421029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端盖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19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7793" y="810341"/>
            <a:ext cx="8215313" cy="596503"/>
          </a:xfrm>
        </p:spPr>
        <p:txBody>
          <a:bodyPr>
            <a:norm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电动涡旋压缩机主要零部件介绍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87793" y="1361599"/>
            <a:ext cx="7332345" cy="2814638"/>
          </a:xfrm>
        </p:spPr>
        <p:txBody>
          <a:bodyPr/>
          <a:lstStyle/>
          <a:p>
            <a:r>
              <a:rPr lang="en-US" altLang="zh-CN"/>
              <a:t>3</a:t>
            </a:r>
            <a:r>
              <a:t>、</a:t>
            </a:r>
            <a:r>
              <a:rPr lang="zh-CN" altLang="en-US"/>
              <a:t>工作部件</a:t>
            </a:r>
          </a:p>
        </p:txBody>
      </p:sp>
      <p:pic>
        <p:nvPicPr>
          <p:cNvPr id="4" name="图片 3" descr="P60708-144621"/>
          <p:cNvPicPr>
            <a:picLocks noChangeAspect="1"/>
          </p:cNvPicPr>
          <p:nvPr/>
        </p:nvPicPr>
        <p:blipFill>
          <a:blip r:embed="rId2" cstate="print"/>
          <a:srcRect l="15893" t="7846" r="8573" b="9407"/>
          <a:stretch>
            <a:fillRect/>
          </a:stretch>
        </p:blipFill>
        <p:spPr>
          <a:xfrm>
            <a:off x="1223645" y="1812925"/>
            <a:ext cx="2445385" cy="20097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43101" y="4028599"/>
            <a:ext cx="702754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十字滑环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20846" y="4028599"/>
            <a:ext cx="702754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动涡旋盘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68111" y="4028599"/>
            <a:ext cx="702754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静涡旋盘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20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10" name="图片 9" descr="P60803-083337"/>
          <p:cNvPicPr>
            <a:picLocks noChangeAspect="1"/>
          </p:cNvPicPr>
          <p:nvPr/>
        </p:nvPicPr>
        <p:blipFill>
          <a:blip r:embed="rId3" cstate="print"/>
          <a:srcRect l="5028" t="18331" r="8275" b="17520"/>
          <a:stretch>
            <a:fillRect/>
          </a:stretch>
        </p:blipFill>
        <p:spPr>
          <a:xfrm>
            <a:off x="5776595" y="1764030"/>
            <a:ext cx="2086610" cy="2058670"/>
          </a:xfrm>
          <a:prstGeom prst="rect">
            <a:avLst/>
          </a:prstGeom>
        </p:spPr>
      </p:pic>
      <p:pic>
        <p:nvPicPr>
          <p:cNvPr id="11" name="图片 10" descr="P60803-083353"/>
          <p:cNvPicPr>
            <a:picLocks noChangeAspect="1"/>
          </p:cNvPicPr>
          <p:nvPr/>
        </p:nvPicPr>
        <p:blipFill>
          <a:blip r:embed="rId4" cstate="print"/>
          <a:srcRect l="16860" t="32792" r="14689" b="18278"/>
          <a:stretch>
            <a:fillRect/>
          </a:stretch>
        </p:blipFill>
        <p:spPr>
          <a:xfrm>
            <a:off x="3669030" y="1813560"/>
            <a:ext cx="2107565" cy="20091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55" y="753191"/>
            <a:ext cx="8215313" cy="596503"/>
          </a:xfrm>
        </p:spPr>
        <p:txBody>
          <a:bodyPr>
            <a:norm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电动涡旋压缩机主要零部件介绍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3955" y="1349692"/>
            <a:ext cx="7332345" cy="2814638"/>
          </a:xfrm>
        </p:spPr>
        <p:txBody>
          <a:bodyPr/>
          <a:lstStyle/>
          <a:p>
            <a:r>
              <a:rPr lang="en-US" altLang="zh-CN"/>
              <a:t>4</a:t>
            </a:r>
            <a:r>
              <a:t>、</a:t>
            </a:r>
            <a:r>
              <a:rPr lang="zh-CN" altLang="en-US"/>
              <a:t>轴承及轴等零部件</a:t>
            </a:r>
          </a:p>
        </p:txBody>
      </p:sp>
      <p:pic>
        <p:nvPicPr>
          <p:cNvPr id="4" name="图片 3" descr="P60708-144936"/>
          <p:cNvPicPr>
            <a:picLocks noChangeAspect="1"/>
          </p:cNvPicPr>
          <p:nvPr/>
        </p:nvPicPr>
        <p:blipFill>
          <a:blip r:embed="rId2" cstate="print"/>
          <a:srcRect l="37477" t="22795"/>
          <a:stretch>
            <a:fillRect/>
          </a:stretch>
        </p:blipFill>
        <p:spPr>
          <a:xfrm>
            <a:off x="1136333" y="1973581"/>
            <a:ext cx="1691640" cy="1566863"/>
          </a:xfrm>
          <a:prstGeom prst="rect">
            <a:avLst/>
          </a:prstGeom>
        </p:spPr>
      </p:pic>
      <p:pic>
        <p:nvPicPr>
          <p:cNvPr id="5" name="图片 4" descr="P60708-144648"/>
          <p:cNvPicPr>
            <a:picLocks noChangeAspect="1"/>
          </p:cNvPicPr>
          <p:nvPr/>
        </p:nvPicPr>
        <p:blipFill>
          <a:blip r:embed="rId3" cstate="print"/>
          <a:srcRect l="9691" t="47466" r="6339" b="21237"/>
          <a:stretch>
            <a:fillRect/>
          </a:stretch>
        </p:blipFill>
        <p:spPr>
          <a:xfrm>
            <a:off x="2827973" y="3912395"/>
            <a:ext cx="3357563" cy="938689"/>
          </a:xfrm>
          <a:prstGeom prst="rect">
            <a:avLst/>
          </a:prstGeom>
        </p:spPr>
      </p:pic>
      <p:pic>
        <p:nvPicPr>
          <p:cNvPr id="6" name="图片 5" descr="P60708-144611"/>
          <p:cNvPicPr>
            <a:picLocks noChangeAspect="1"/>
          </p:cNvPicPr>
          <p:nvPr/>
        </p:nvPicPr>
        <p:blipFill>
          <a:blip r:embed="rId4" cstate="print"/>
          <a:srcRect l="41991" t="46599" r="33152" b="15429"/>
          <a:stretch>
            <a:fillRect/>
          </a:stretch>
        </p:blipFill>
        <p:spPr>
          <a:xfrm>
            <a:off x="3960019" y="1973581"/>
            <a:ext cx="1367314" cy="1566863"/>
          </a:xfrm>
          <a:prstGeom prst="rect">
            <a:avLst/>
          </a:prstGeom>
        </p:spPr>
      </p:pic>
      <p:pic>
        <p:nvPicPr>
          <p:cNvPr id="7" name="图片 6" descr="P60708-144629"/>
          <p:cNvPicPr>
            <a:picLocks noChangeAspect="1"/>
          </p:cNvPicPr>
          <p:nvPr/>
        </p:nvPicPr>
        <p:blipFill>
          <a:blip r:embed="rId5" cstate="print"/>
          <a:srcRect l="12810" t="14444" r="9256" b="18300"/>
          <a:stretch>
            <a:fillRect/>
          </a:stretch>
        </p:blipFill>
        <p:spPr>
          <a:xfrm>
            <a:off x="6060282" y="1970248"/>
            <a:ext cx="2426018" cy="15701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78294" y="3617119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轴承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14611" y="4413885"/>
            <a:ext cx="279562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轴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70071" y="3617119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关节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004686" y="3617119"/>
            <a:ext cx="561690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平衡块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21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7323" y="759382"/>
            <a:ext cx="8215313" cy="596503"/>
          </a:xfrm>
        </p:spPr>
        <p:txBody>
          <a:bodyPr>
            <a:norm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电动涡旋压缩机主要零部件介绍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7322" y="1355884"/>
            <a:ext cx="7332345" cy="2814638"/>
          </a:xfrm>
        </p:spPr>
        <p:txBody>
          <a:bodyPr/>
          <a:lstStyle/>
          <a:p>
            <a:r>
              <a:rPr lang="en-US" altLang="zh-CN"/>
              <a:t>5</a:t>
            </a:r>
            <a:r>
              <a:t>、</a:t>
            </a:r>
            <a:r>
              <a:rPr lang="zh-CN" altLang="en-US"/>
              <a:t>密封件</a:t>
            </a:r>
          </a:p>
        </p:txBody>
      </p:sp>
      <p:pic>
        <p:nvPicPr>
          <p:cNvPr id="4" name="图片 3" descr="P60712-152211"/>
          <p:cNvPicPr>
            <a:picLocks noChangeAspect="1"/>
          </p:cNvPicPr>
          <p:nvPr/>
        </p:nvPicPr>
        <p:blipFill>
          <a:blip r:embed="rId2" cstate="print"/>
          <a:srcRect l="26066" t="11058" r="17521" b="14521"/>
          <a:stretch>
            <a:fillRect/>
          </a:stretch>
        </p:blipFill>
        <p:spPr>
          <a:xfrm>
            <a:off x="925355" y="1772126"/>
            <a:ext cx="1792129" cy="1773555"/>
          </a:xfrm>
          <a:prstGeom prst="rect">
            <a:avLst/>
          </a:prstGeom>
        </p:spPr>
      </p:pic>
      <p:pic>
        <p:nvPicPr>
          <p:cNvPr id="5" name="图片 4" descr="P60712-152218"/>
          <p:cNvPicPr>
            <a:picLocks noChangeAspect="1"/>
          </p:cNvPicPr>
          <p:nvPr/>
        </p:nvPicPr>
        <p:blipFill>
          <a:blip r:embed="rId3" cstate="print"/>
          <a:srcRect l="7467" t="-1735" r="19479" b="1735"/>
          <a:stretch>
            <a:fillRect/>
          </a:stretch>
        </p:blipFill>
        <p:spPr>
          <a:xfrm>
            <a:off x="6512244" y="1727835"/>
            <a:ext cx="1770221" cy="1817846"/>
          </a:xfrm>
          <a:prstGeom prst="rect">
            <a:avLst/>
          </a:prstGeom>
        </p:spPr>
      </p:pic>
      <p:pic>
        <p:nvPicPr>
          <p:cNvPr id="6" name="图片 5" descr="P60712-152226"/>
          <p:cNvPicPr>
            <a:picLocks noChangeAspect="1"/>
          </p:cNvPicPr>
          <p:nvPr/>
        </p:nvPicPr>
        <p:blipFill>
          <a:blip r:embed="rId4" cstate="print"/>
          <a:srcRect l="18730" t="29063" r="16080" b="31542"/>
          <a:stretch>
            <a:fillRect/>
          </a:stretch>
        </p:blipFill>
        <p:spPr>
          <a:xfrm>
            <a:off x="2717483" y="1772128"/>
            <a:ext cx="2005965" cy="998696"/>
          </a:xfrm>
          <a:prstGeom prst="rect">
            <a:avLst/>
          </a:prstGeom>
        </p:spPr>
      </p:pic>
      <p:pic>
        <p:nvPicPr>
          <p:cNvPr id="7" name="图片 6" descr="P60712-152233"/>
          <p:cNvPicPr>
            <a:picLocks noChangeAspect="1"/>
          </p:cNvPicPr>
          <p:nvPr/>
        </p:nvPicPr>
        <p:blipFill>
          <a:blip r:embed="rId5" cstate="print"/>
          <a:srcRect l="20384" t="23331" r="19895" b="21643"/>
          <a:stretch>
            <a:fillRect/>
          </a:stretch>
        </p:blipFill>
        <p:spPr>
          <a:xfrm>
            <a:off x="4723448" y="1772126"/>
            <a:ext cx="1788795" cy="123015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90651" y="3978117"/>
            <a:ext cx="561690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密封条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22785" y="3978117"/>
            <a:ext cx="811759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长孔</a:t>
            </a:r>
            <a:r>
              <a:rPr lang="en-US" altLang="zh-CN" sz="1100" dirty="0" smtClean="0">
                <a:ea typeface="微软雅黑" panose="020B0503020204020204" pitchFamily="34" charset="-122"/>
              </a:rPr>
              <a:t>O</a:t>
            </a:r>
            <a:r>
              <a:rPr lang="zh-CN" altLang="en-US" sz="1100" dirty="0" smtClean="0">
                <a:ea typeface="微软雅黑" panose="020B0503020204020204" pitchFamily="34" charset="-122"/>
              </a:rPr>
              <a:t>型圈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343050" y="3978117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堵头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245667" y="3978117"/>
            <a:ext cx="529630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 smtClean="0">
                <a:ea typeface="微软雅黑" panose="020B0503020204020204" pitchFamily="34" charset="-122"/>
              </a:rPr>
              <a:t>O</a:t>
            </a:r>
            <a:r>
              <a:rPr lang="zh-CN" altLang="en-US" sz="1100" dirty="0" smtClean="0">
                <a:ea typeface="微软雅黑" panose="020B0503020204020204" pitchFamily="34" charset="-122"/>
              </a:rPr>
              <a:t>型圈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22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5878" y="837964"/>
            <a:ext cx="8215313" cy="596503"/>
          </a:xfrm>
        </p:spPr>
        <p:txBody>
          <a:bodyPr>
            <a:norm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电动涡旋压缩机主要零部件介绍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5877" y="1434466"/>
            <a:ext cx="7332345" cy="2814638"/>
          </a:xfrm>
        </p:spPr>
        <p:txBody>
          <a:bodyPr/>
          <a:lstStyle/>
          <a:p>
            <a:r>
              <a:rPr lang="en-US" altLang="zh-CN"/>
              <a:t>6</a:t>
            </a:r>
            <a:r>
              <a:t>、紧固件及其它配件</a:t>
            </a:r>
          </a:p>
        </p:txBody>
      </p:sp>
      <p:pic>
        <p:nvPicPr>
          <p:cNvPr id="4" name="图片 3" descr="P60712-152459-01"/>
          <p:cNvPicPr>
            <a:picLocks noChangeAspect="1"/>
          </p:cNvPicPr>
          <p:nvPr/>
        </p:nvPicPr>
        <p:blipFill>
          <a:blip r:embed="rId2" cstate="print"/>
          <a:srcRect l="12039" t="32846" r="15678" b="30921"/>
          <a:stretch>
            <a:fillRect/>
          </a:stretch>
        </p:blipFill>
        <p:spPr>
          <a:xfrm>
            <a:off x="2242185" y="1977391"/>
            <a:ext cx="2586514" cy="1728788"/>
          </a:xfrm>
          <a:prstGeom prst="rect">
            <a:avLst/>
          </a:prstGeom>
        </p:spPr>
      </p:pic>
      <p:pic>
        <p:nvPicPr>
          <p:cNvPr id="5" name="图片 4" descr="P60712-152508"/>
          <p:cNvPicPr>
            <a:picLocks noChangeAspect="1"/>
          </p:cNvPicPr>
          <p:nvPr/>
        </p:nvPicPr>
        <p:blipFill>
          <a:blip r:embed="rId3" cstate="print"/>
          <a:srcRect l="19945" t="32659" r="26304" b="26295"/>
          <a:stretch>
            <a:fillRect/>
          </a:stretch>
        </p:blipFill>
        <p:spPr>
          <a:xfrm>
            <a:off x="4828699" y="1997394"/>
            <a:ext cx="1654016" cy="1684496"/>
          </a:xfrm>
          <a:prstGeom prst="rect">
            <a:avLst/>
          </a:prstGeom>
        </p:spPr>
      </p:pic>
      <p:pic>
        <p:nvPicPr>
          <p:cNvPr id="6" name="图片 5" descr="P60712-152515"/>
          <p:cNvPicPr>
            <a:picLocks noChangeAspect="1"/>
          </p:cNvPicPr>
          <p:nvPr/>
        </p:nvPicPr>
        <p:blipFill>
          <a:blip r:embed="rId4" cstate="print"/>
          <a:srcRect l="25536" t="28911" r="19055" b="24379"/>
          <a:stretch>
            <a:fillRect/>
          </a:stretch>
        </p:blipFill>
        <p:spPr>
          <a:xfrm>
            <a:off x="741522" y="1995011"/>
            <a:ext cx="1500664" cy="1686878"/>
          </a:xfrm>
          <a:prstGeom prst="rect">
            <a:avLst/>
          </a:prstGeom>
        </p:spPr>
      </p:pic>
      <p:pic>
        <p:nvPicPr>
          <p:cNvPr id="7" name="图片 6" descr="P60712-152601"/>
          <p:cNvPicPr>
            <a:picLocks noChangeAspect="1"/>
          </p:cNvPicPr>
          <p:nvPr/>
        </p:nvPicPr>
        <p:blipFill>
          <a:blip r:embed="rId5" cstate="print"/>
          <a:srcRect l="20943" t="8592" r="21418" b="11808"/>
          <a:stretch>
            <a:fillRect/>
          </a:stretch>
        </p:blipFill>
        <p:spPr>
          <a:xfrm>
            <a:off x="6482716" y="1831181"/>
            <a:ext cx="1951196" cy="20212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39191" y="4110514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挡圈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22296" y="4110514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螺栓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356861" y="4110514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螺钉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256622" y="4110514"/>
            <a:ext cx="420626" cy="289308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 smtClean="0">
                <a:ea typeface="微软雅黑" panose="020B0503020204020204" pitchFamily="34" charset="-122"/>
              </a:rPr>
              <a:t>垫片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23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>
            <p:custDataLst>
              <p:tags r:id="rId2"/>
            </p:custDataLst>
          </p:nvPr>
        </p:nvCxnSpPr>
        <p:spPr>
          <a:xfrm rot="5400000">
            <a:off x="3778449" y="2565202"/>
            <a:ext cx="5130404" cy="0"/>
          </a:xfrm>
          <a:prstGeom prst="line">
            <a:avLst/>
          </a:prstGeom>
          <a:ln w="3175">
            <a:solidFill>
              <a:srgbClr val="D3D3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3"/>
            </p:custDataLst>
          </p:nvPr>
        </p:nvCxnSpPr>
        <p:spPr>
          <a:xfrm rot="5400000">
            <a:off x="3910608" y="2565202"/>
            <a:ext cx="5130404" cy="0"/>
          </a:xfrm>
          <a:prstGeom prst="line">
            <a:avLst/>
          </a:prstGeom>
          <a:ln w="3175">
            <a:solidFill>
              <a:srgbClr val="D3D3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4"/>
            </p:custDataLst>
          </p:nvPr>
        </p:nvCxnSpPr>
        <p:spPr>
          <a:xfrm>
            <a:off x="0" y="2853929"/>
            <a:ext cx="9144000" cy="0"/>
          </a:xfrm>
          <a:prstGeom prst="line">
            <a:avLst/>
          </a:prstGeom>
          <a:ln w="3175">
            <a:solidFill>
              <a:srgbClr val="D3D3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5"/>
            </p:custDataLst>
          </p:nvPr>
        </p:nvCxnSpPr>
        <p:spPr>
          <a:xfrm>
            <a:off x="0" y="2978944"/>
            <a:ext cx="9144000" cy="0"/>
          </a:xfrm>
          <a:prstGeom prst="line">
            <a:avLst/>
          </a:prstGeom>
          <a:ln w="3175">
            <a:solidFill>
              <a:srgbClr val="D3D3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6"/>
            </p:custDataLst>
          </p:nvPr>
        </p:nvCxnSpPr>
        <p:spPr>
          <a:xfrm>
            <a:off x="0" y="3290888"/>
            <a:ext cx="9144000" cy="0"/>
          </a:xfrm>
          <a:prstGeom prst="line">
            <a:avLst/>
          </a:prstGeom>
          <a:ln w="3175">
            <a:solidFill>
              <a:srgbClr val="D3D3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4920084" y="2855620"/>
            <a:ext cx="404813" cy="557909"/>
            <a:chOff x="2467083" y="3299490"/>
            <a:chExt cx="539750" cy="743879"/>
          </a:xfrm>
          <a:solidFill>
            <a:schemeClr val="accent3"/>
          </a:solidFill>
        </p:grpSpPr>
        <p:sp>
          <p:nvSpPr>
            <p:cNvPr id="11" name="矩形 10"/>
            <p:cNvSpPr/>
            <p:nvPr/>
          </p:nvSpPr>
          <p:spPr>
            <a:xfrm>
              <a:off x="2467876" y="3598068"/>
              <a:ext cx="533400" cy="1500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467083" y="3299491"/>
              <a:ext cx="165100" cy="74294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127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841733" y="3299490"/>
              <a:ext cx="165100" cy="743879"/>
            </a:xfrm>
            <a:prstGeom prst="rect">
              <a:avLst/>
            </a:prstGeom>
            <a:grpFill/>
            <a:ln>
              <a:noFill/>
            </a:ln>
            <a:effectLst>
              <a:outerShdw blurRad="50800" dist="12700" dir="108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4405843" y="2857405"/>
            <a:ext cx="400050" cy="557213"/>
            <a:chOff x="1781429" y="3301872"/>
            <a:chExt cx="533400" cy="742950"/>
          </a:xfrm>
          <a:solidFill>
            <a:schemeClr val="accent1"/>
          </a:solidFill>
        </p:grpSpPr>
        <p:sp>
          <p:nvSpPr>
            <p:cNvPr id="4" name="矩形 3"/>
            <p:cNvSpPr/>
            <p:nvPr/>
          </p:nvSpPr>
          <p:spPr>
            <a:xfrm>
              <a:off x="1965579" y="3428872"/>
              <a:ext cx="171450" cy="615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1781429" y="3301872"/>
              <a:ext cx="533400" cy="16510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16" name="组合 15"/>
          <p:cNvGrpSpPr/>
          <p:nvPr>
            <p:custDataLst>
              <p:tags r:id="rId9"/>
            </p:custDataLst>
          </p:nvPr>
        </p:nvGrpSpPr>
        <p:grpSpPr>
          <a:xfrm>
            <a:off x="5437274" y="2825998"/>
            <a:ext cx="279161" cy="618308"/>
            <a:chOff x="3156670" y="3259996"/>
            <a:chExt cx="372214" cy="824410"/>
          </a:xfrm>
          <a:solidFill>
            <a:schemeClr val="accent2"/>
          </a:solidFill>
        </p:grpSpPr>
        <p:sp>
          <p:nvSpPr>
            <p:cNvPr id="19" name="任意多边形 18"/>
            <p:cNvSpPr/>
            <p:nvPr/>
          </p:nvSpPr>
          <p:spPr>
            <a:xfrm rot="20653324" flipH="1">
              <a:off x="3363784" y="3267206"/>
              <a:ext cx="165100" cy="817200"/>
            </a:xfrm>
            <a:custGeom>
              <a:avLst/>
              <a:gdLst>
                <a:gd name="connsiteX0" fmla="*/ 0 w 165100"/>
                <a:gd name="connsiteY0" fmla="*/ 46650 h 803016"/>
                <a:gd name="connsiteX1" fmla="*/ 165100 w 165100"/>
                <a:gd name="connsiteY1" fmla="*/ 0 h 803016"/>
                <a:gd name="connsiteX2" fmla="*/ 165100 w 165100"/>
                <a:gd name="connsiteY2" fmla="*/ 756366 h 803016"/>
                <a:gd name="connsiteX3" fmla="*/ 0 w 165100"/>
                <a:gd name="connsiteY3" fmla="*/ 803016 h 80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100" h="803016">
                  <a:moveTo>
                    <a:pt x="0" y="46650"/>
                  </a:moveTo>
                  <a:lnTo>
                    <a:pt x="165100" y="0"/>
                  </a:lnTo>
                  <a:lnTo>
                    <a:pt x="165100" y="756366"/>
                  </a:lnTo>
                  <a:lnTo>
                    <a:pt x="0" y="80301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18" name="任意多边形 17"/>
            <p:cNvSpPr/>
            <p:nvPr/>
          </p:nvSpPr>
          <p:spPr>
            <a:xfrm rot="946676">
              <a:off x="3156670" y="3259996"/>
              <a:ext cx="165100" cy="820800"/>
            </a:xfrm>
            <a:custGeom>
              <a:avLst/>
              <a:gdLst>
                <a:gd name="connsiteX0" fmla="*/ 0 w 165100"/>
                <a:gd name="connsiteY0" fmla="*/ 46650 h 803016"/>
                <a:gd name="connsiteX1" fmla="*/ 165100 w 165100"/>
                <a:gd name="connsiteY1" fmla="*/ 0 h 803016"/>
                <a:gd name="connsiteX2" fmla="*/ 165100 w 165100"/>
                <a:gd name="connsiteY2" fmla="*/ 756366 h 803016"/>
                <a:gd name="connsiteX3" fmla="*/ 0 w 165100"/>
                <a:gd name="connsiteY3" fmla="*/ 803016 h 80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100" h="803016">
                  <a:moveTo>
                    <a:pt x="0" y="46650"/>
                  </a:moveTo>
                  <a:lnTo>
                    <a:pt x="165100" y="0"/>
                  </a:lnTo>
                  <a:lnTo>
                    <a:pt x="165100" y="756366"/>
                  </a:lnTo>
                  <a:lnTo>
                    <a:pt x="0" y="803016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50800" dist="12700" dir="6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6352350" y="2788729"/>
            <a:ext cx="298174" cy="688047"/>
            <a:chOff x="4376770" y="3210304"/>
            <a:chExt cx="397565" cy="917396"/>
          </a:xfrm>
          <a:solidFill>
            <a:schemeClr val="accent5"/>
          </a:solidFill>
        </p:grpSpPr>
        <p:sp>
          <p:nvSpPr>
            <p:cNvPr id="9" name="矩形 8"/>
            <p:cNvSpPr/>
            <p:nvPr/>
          </p:nvSpPr>
          <p:spPr>
            <a:xfrm>
              <a:off x="4376770" y="3299491"/>
              <a:ext cx="165100" cy="74520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127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51" name="任意多边形 50"/>
            <p:cNvSpPr/>
            <p:nvPr/>
          </p:nvSpPr>
          <p:spPr>
            <a:xfrm rot="19577384" flipH="1">
              <a:off x="4633589" y="3556267"/>
              <a:ext cx="140746" cy="571433"/>
            </a:xfrm>
            <a:custGeom>
              <a:avLst/>
              <a:gdLst>
                <a:gd name="connsiteX0" fmla="*/ 0 w 140625"/>
                <a:gd name="connsiteY0" fmla="*/ 34686 h 568792"/>
                <a:gd name="connsiteX1" fmla="*/ 0 w 140625"/>
                <a:gd name="connsiteY1" fmla="*/ 568792 h 568792"/>
                <a:gd name="connsiteX2" fmla="*/ 41733 w 140625"/>
                <a:gd name="connsiteY2" fmla="*/ 547251 h 568792"/>
                <a:gd name="connsiteX3" fmla="*/ 140625 w 140625"/>
                <a:gd name="connsiteY3" fmla="*/ 481273 h 568792"/>
                <a:gd name="connsiteX4" fmla="*/ 140625 w 140625"/>
                <a:gd name="connsiteY4" fmla="*/ 0 h 568792"/>
                <a:gd name="connsiteX0-1" fmla="*/ 3299 w 143924"/>
                <a:gd name="connsiteY0-2" fmla="*/ 34686 h 576719"/>
                <a:gd name="connsiteX1-3" fmla="*/ 0 w 143924"/>
                <a:gd name="connsiteY1-4" fmla="*/ 576719 h 576719"/>
                <a:gd name="connsiteX2-5" fmla="*/ 45032 w 143924"/>
                <a:gd name="connsiteY2-6" fmla="*/ 547251 h 576719"/>
                <a:gd name="connsiteX3-7" fmla="*/ 143924 w 143924"/>
                <a:gd name="connsiteY3-8" fmla="*/ 481273 h 576719"/>
                <a:gd name="connsiteX4-9" fmla="*/ 143924 w 143924"/>
                <a:gd name="connsiteY4-10" fmla="*/ 0 h 576719"/>
                <a:gd name="connsiteX5" fmla="*/ 3299 w 143924"/>
                <a:gd name="connsiteY5" fmla="*/ 34686 h 576719"/>
                <a:gd name="connsiteX0-11" fmla="*/ 121 w 140746"/>
                <a:gd name="connsiteY0-12" fmla="*/ 34686 h 571433"/>
                <a:gd name="connsiteX1-13" fmla="*/ 4745 w 140746"/>
                <a:gd name="connsiteY1-14" fmla="*/ 571433 h 571433"/>
                <a:gd name="connsiteX2-15" fmla="*/ 41854 w 140746"/>
                <a:gd name="connsiteY2-16" fmla="*/ 547251 h 571433"/>
                <a:gd name="connsiteX3-17" fmla="*/ 140746 w 140746"/>
                <a:gd name="connsiteY3-18" fmla="*/ 481273 h 571433"/>
                <a:gd name="connsiteX4-19" fmla="*/ 140746 w 140746"/>
                <a:gd name="connsiteY4-20" fmla="*/ 0 h 571433"/>
                <a:gd name="connsiteX5-21" fmla="*/ 121 w 140746"/>
                <a:gd name="connsiteY5-22" fmla="*/ 34686 h 571433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  <a:cxn ang="0">
                  <a:pos x="connsiteX5-21" y="connsiteY5-22"/>
                </a:cxn>
              </a:cxnLst>
              <a:rect l="l" t="t" r="r" b="b"/>
              <a:pathLst>
                <a:path w="140746" h="571433">
                  <a:moveTo>
                    <a:pt x="121" y="34686"/>
                  </a:moveTo>
                  <a:cubicBezTo>
                    <a:pt x="-979" y="215364"/>
                    <a:pt x="5845" y="390755"/>
                    <a:pt x="4745" y="571433"/>
                  </a:cubicBezTo>
                  <a:lnTo>
                    <a:pt x="41854" y="547251"/>
                  </a:lnTo>
                  <a:lnTo>
                    <a:pt x="140746" y="481273"/>
                  </a:lnTo>
                  <a:lnTo>
                    <a:pt x="140746" y="0"/>
                  </a:lnTo>
                  <a:lnTo>
                    <a:pt x="121" y="3468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52" name="任意多边形 51"/>
            <p:cNvSpPr/>
            <p:nvPr/>
          </p:nvSpPr>
          <p:spPr>
            <a:xfrm rot="2022616" flipH="1" flipV="1">
              <a:off x="4627500" y="3210304"/>
              <a:ext cx="140625" cy="572703"/>
            </a:xfrm>
            <a:custGeom>
              <a:avLst/>
              <a:gdLst>
                <a:gd name="connsiteX0" fmla="*/ 140625 w 140625"/>
                <a:gd name="connsiteY0" fmla="*/ 478871 h 567419"/>
                <a:gd name="connsiteX1" fmla="*/ 34632 w 140625"/>
                <a:gd name="connsiteY1" fmla="*/ 549587 h 567419"/>
                <a:gd name="connsiteX2" fmla="*/ 0 w 140625"/>
                <a:gd name="connsiteY2" fmla="*/ 567419 h 567419"/>
                <a:gd name="connsiteX3" fmla="*/ 0 w 140625"/>
                <a:gd name="connsiteY3" fmla="*/ 34602 h 567419"/>
                <a:gd name="connsiteX4" fmla="*/ 140625 w 140625"/>
                <a:gd name="connsiteY4" fmla="*/ 0 h 567419"/>
                <a:gd name="connsiteX0-1" fmla="*/ 140625 w 140625"/>
                <a:gd name="connsiteY0-2" fmla="*/ 478871 h 567419"/>
                <a:gd name="connsiteX1-3" fmla="*/ 34632 w 140625"/>
                <a:gd name="connsiteY1-4" fmla="*/ 549587 h 567419"/>
                <a:gd name="connsiteX2-5" fmla="*/ 0 w 140625"/>
                <a:gd name="connsiteY2-6" fmla="*/ 567419 h 567419"/>
                <a:gd name="connsiteX3-7" fmla="*/ 0 w 140625"/>
                <a:gd name="connsiteY3-8" fmla="*/ 34602 h 567419"/>
                <a:gd name="connsiteX4-9" fmla="*/ 140625 w 140625"/>
                <a:gd name="connsiteY4-10" fmla="*/ 0 h 567419"/>
                <a:gd name="connsiteX5" fmla="*/ 140625 w 140625"/>
                <a:gd name="connsiteY5" fmla="*/ 478871 h 567419"/>
                <a:gd name="connsiteX0-11" fmla="*/ 140625 w 140625"/>
                <a:gd name="connsiteY0-12" fmla="*/ 478871 h 572703"/>
                <a:gd name="connsiteX1-13" fmla="*/ 34632 w 140625"/>
                <a:gd name="connsiteY1-14" fmla="*/ 549587 h 572703"/>
                <a:gd name="connsiteX2-15" fmla="*/ 662 w 140625"/>
                <a:gd name="connsiteY2-16" fmla="*/ 572703 h 572703"/>
                <a:gd name="connsiteX3-17" fmla="*/ 0 w 140625"/>
                <a:gd name="connsiteY3-18" fmla="*/ 34602 h 572703"/>
                <a:gd name="connsiteX4-19" fmla="*/ 140625 w 140625"/>
                <a:gd name="connsiteY4-20" fmla="*/ 0 h 572703"/>
                <a:gd name="connsiteX5-21" fmla="*/ 140625 w 140625"/>
                <a:gd name="connsiteY5-22" fmla="*/ 478871 h 572703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  <a:cxn ang="0">
                  <a:pos x="connsiteX5-21" y="connsiteY5-22"/>
                </a:cxn>
              </a:cxnLst>
              <a:rect l="l" t="t" r="r" b="b"/>
              <a:pathLst>
                <a:path w="140625" h="572703">
                  <a:moveTo>
                    <a:pt x="140625" y="478871"/>
                  </a:moveTo>
                  <a:lnTo>
                    <a:pt x="34632" y="549587"/>
                  </a:lnTo>
                  <a:lnTo>
                    <a:pt x="662" y="572703"/>
                  </a:lnTo>
                  <a:cubicBezTo>
                    <a:pt x="441" y="393336"/>
                    <a:pt x="221" y="213969"/>
                    <a:pt x="0" y="34602"/>
                  </a:cubicBezTo>
                  <a:lnTo>
                    <a:pt x="140625" y="0"/>
                  </a:lnTo>
                  <a:lnTo>
                    <a:pt x="140625" y="47887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6779506" y="2811169"/>
            <a:ext cx="396529" cy="663470"/>
            <a:chOff x="4946311" y="3240225"/>
            <a:chExt cx="528705" cy="884627"/>
          </a:xfrm>
          <a:solidFill>
            <a:schemeClr val="accent3"/>
          </a:solidFill>
        </p:grpSpPr>
        <p:sp>
          <p:nvSpPr>
            <p:cNvPr id="12" name="矩形 11"/>
            <p:cNvSpPr/>
            <p:nvPr/>
          </p:nvSpPr>
          <p:spPr>
            <a:xfrm>
              <a:off x="4997973" y="3299491"/>
              <a:ext cx="477043" cy="165100"/>
            </a:xfrm>
            <a:prstGeom prst="rect">
              <a:avLst/>
            </a:prstGeom>
            <a:grpFill/>
            <a:ln>
              <a:noFill/>
            </a:ln>
            <a:effectLst>
              <a:outerShdw blurRad="25400" dist="12700" dir="10800000" algn="t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4946311" y="3879722"/>
              <a:ext cx="456475" cy="165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55" name="任意多边形 54"/>
            <p:cNvSpPr/>
            <p:nvPr/>
          </p:nvSpPr>
          <p:spPr>
            <a:xfrm rot="19318059" flipH="1">
              <a:off x="5109070" y="3240225"/>
              <a:ext cx="172591" cy="884627"/>
            </a:xfrm>
            <a:custGeom>
              <a:avLst/>
              <a:gdLst>
                <a:gd name="connsiteX0" fmla="*/ 26795 w 172591"/>
                <a:gd name="connsiteY0" fmla="*/ 0 h 884627"/>
                <a:gd name="connsiteX1" fmla="*/ 0 w 172591"/>
                <a:gd name="connsiteY1" fmla="*/ 20959 h 884627"/>
                <a:gd name="connsiteX2" fmla="*/ 0 w 172591"/>
                <a:gd name="connsiteY2" fmla="*/ 814160 h 884627"/>
                <a:gd name="connsiteX3" fmla="*/ 106651 w 172591"/>
                <a:gd name="connsiteY3" fmla="*/ 884627 h 884627"/>
                <a:gd name="connsiteX4" fmla="*/ 172591 w 172591"/>
                <a:gd name="connsiteY4" fmla="*/ 832304 h 884627"/>
                <a:gd name="connsiteX5" fmla="*/ 172591 w 172591"/>
                <a:gd name="connsiteY5" fmla="*/ 96332 h 88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591" h="884627">
                  <a:moveTo>
                    <a:pt x="26795" y="0"/>
                  </a:moveTo>
                  <a:lnTo>
                    <a:pt x="0" y="20959"/>
                  </a:lnTo>
                  <a:lnTo>
                    <a:pt x="0" y="814160"/>
                  </a:lnTo>
                  <a:lnTo>
                    <a:pt x="106651" y="884627"/>
                  </a:lnTo>
                  <a:lnTo>
                    <a:pt x="172591" y="832304"/>
                  </a:lnTo>
                  <a:lnTo>
                    <a:pt x="172591" y="96332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508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22" name="组合 21"/>
          <p:cNvGrpSpPr/>
          <p:nvPr>
            <p:custDataLst>
              <p:tags r:id="rId12"/>
            </p:custDataLst>
          </p:nvPr>
        </p:nvGrpSpPr>
        <p:grpSpPr>
          <a:xfrm>
            <a:off x="7365697" y="2855620"/>
            <a:ext cx="123825" cy="558998"/>
            <a:chOff x="5727900" y="3299491"/>
            <a:chExt cx="165100" cy="745331"/>
          </a:xfrm>
          <a:solidFill>
            <a:schemeClr val="accent2"/>
          </a:solidFill>
        </p:grpSpPr>
        <p:sp>
          <p:nvSpPr>
            <p:cNvPr id="10" name="矩形 9"/>
            <p:cNvSpPr/>
            <p:nvPr/>
          </p:nvSpPr>
          <p:spPr>
            <a:xfrm>
              <a:off x="5727900" y="3299491"/>
              <a:ext cx="165100" cy="536943"/>
            </a:xfrm>
            <a:prstGeom prst="rect">
              <a:avLst/>
            </a:prstGeom>
            <a:grpFill/>
            <a:ln>
              <a:noFill/>
            </a:ln>
            <a:effectLst>
              <a:outerShdw blurRad="254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35" name="椭圆 34"/>
            <p:cNvSpPr/>
            <p:nvPr/>
          </p:nvSpPr>
          <p:spPr>
            <a:xfrm>
              <a:off x="5727900" y="3879722"/>
              <a:ext cx="165100" cy="165100"/>
            </a:xfrm>
            <a:prstGeom prst="ellipse">
              <a:avLst/>
            </a:prstGeom>
            <a:grpFill/>
            <a:ln>
              <a:noFill/>
            </a:ln>
            <a:effectLst>
              <a:outerShdw blurRad="25400" dist="127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5829178" y="2791776"/>
            <a:ext cx="410766" cy="678233"/>
            <a:chOff x="3679209" y="3214366"/>
            <a:chExt cx="547688" cy="904312"/>
          </a:xfrm>
          <a:solidFill>
            <a:schemeClr val="accent1"/>
          </a:solidFill>
        </p:grpSpPr>
        <p:sp>
          <p:nvSpPr>
            <p:cNvPr id="7" name="矩形 6"/>
            <p:cNvSpPr/>
            <p:nvPr/>
          </p:nvSpPr>
          <p:spPr>
            <a:xfrm>
              <a:off x="3679209" y="3299491"/>
              <a:ext cx="165100" cy="745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26" name="任意多边形 25"/>
            <p:cNvSpPr/>
            <p:nvPr/>
          </p:nvSpPr>
          <p:spPr>
            <a:xfrm rot="19848040" flipH="1">
              <a:off x="3864430" y="3214366"/>
              <a:ext cx="169748" cy="904312"/>
            </a:xfrm>
            <a:custGeom>
              <a:avLst/>
              <a:gdLst>
                <a:gd name="connsiteX0" fmla="*/ 141593 w 165100"/>
                <a:gd name="connsiteY0" fmla="*/ 0 h 904312"/>
                <a:gd name="connsiteX1" fmla="*/ 0 w 165100"/>
                <a:gd name="connsiteY1" fmla="*/ 79132 h 904312"/>
                <a:gd name="connsiteX2" fmla="*/ 0 w 165100"/>
                <a:gd name="connsiteY2" fmla="*/ 868605 h 904312"/>
                <a:gd name="connsiteX3" fmla="*/ 19955 w 165100"/>
                <a:gd name="connsiteY3" fmla="*/ 904312 h 904312"/>
                <a:gd name="connsiteX4" fmla="*/ 165100 w 165100"/>
                <a:gd name="connsiteY4" fmla="*/ 823196 h 904312"/>
                <a:gd name="connsiteX5" fmla="*/ 165100 w 165100"/>
                <a:gd name="connsiteY5" fmla="*/ 42063 h 904312"/>
                <a:gd name="connsiteX0-1" fmla="*/ 141593 w 169748"/>
                <a:gd name="connsiteY0-2" fmla="*/ 0 h 904312"/>
                <a:gd name="connsiteX1-3" fmla="*/ 0 w 169748"/>
                <a:gd name="connsiteY1-4" fmla="*/ 79132 h 904312"/>
                <a:gd name="connsiteX2-5" fmla="*/ 0 w 169748"/>
                <a:gd name="connsiteY2-6" fmla="*/ 868605 h 904312"/>
                <a:gd name="connsiteX3-7" fmla="*/ 19955 w 169748"/>
                <a:gd name="connsiteY3-8" fmla="*/ 904312 h 904312"/>
                <a:gd name="connsiteX4-9" fmla="*/ 169748 w 169748"/>
                <a:gd name="connsiteY4-10" fmla="*/ 831511 h 904312"/>
                <a:gd name="connsiteX5-11" fmla="*/ 165100 w 169748"/>
                <a:gd name="connsiteY5-12" fmla="*/ 42063 h 904312"/>
                <a:gd name="connsiteX6" fmla="*/ 141593 w 169748"/>
                <a:gd name="connsiteY6" fmla="*/ 0 h 90431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" y="connsiteY6"/>
                </a:cxn>
              </a:cxnLst>
              <a:rect l="l" t="t" r="r" b="b"/>
              <a:pathLst>
                <a:path w="169748" h="904312">
                  <a:moveTo>
                    <a:pt x="141593" y="0"/>
                  </a:moveTo>
                  <a:lnTo>
                    <a:pt x="0" y="79132"/>
                  </a:lnTo>
                  <a:lnTo>
                    <a:pt x="0" y="868605"/>
                  </a:lnTo>
                  <a:lnTo>
                    <a:pt x="19955" y="904312"/>
                  </a:lnTo>
                  <a:lnTo>
                    <a:pt x="169748" y="831511"/>
                  </a:lnTo>
                  <a:cubicBezTo>
                    <a:pt x="168199" y="568362"/>
                    <a:pt x="166649" y="305212"/>
                    <a:pt x="165100" y="42063"/>
                  </a:cubicBezTo>
                  <a:lnTo>
                    <a:pt x="141593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50800" dist="12700" dir="60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4061797" y="3297485"/>
              <a:ext cx="165100" cy="745885"/>
            </a:xfrm>
            <a:prstGeom prst="rect">
              <a:avLst/>
            </a:prstGeom>
            <a:grpFill/>
            <a:ln>
              <a:noFill/>
            </a:ln>
            <a:effectLst>
              <a:outerShdw blurRad="50800" dist="12700" dir="108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rtl="0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cxnSp>
        <p:nvCxnSpPr>
          <p:cNvPr id="71" name="直接连接符 70"/>
          <p:cNvCxnSpPr/>
          <p:nvPr>
            <p:custDataLst>
              <p:tags r:id="rId14"/>
            </p:custDataLst>
          </p:nvPr>
        </p:nvCxnSpPr>
        <p:spPr>
          <a:xfrm>
            <a:off x="0" y="3412331"/>
            <a:ext cx="9144000" cy="0"/>
          </a:xfrm>
          <a:prstGeom prst="line">
            <a:avLst/>
          </a:prstGeom>
          <a:ln w="3175">
            <a:solidFill>
              <a:srgbClr val="D3D3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6B2F9F3-2D6E-447C-92BD-471A0AE1828C}" type="slidenum">
              <a:rPr lang="zh-CN" altLang="en-US" smtClean="0">
                <a:latin typeface="+mn-lt"/>
                <a:ea typeface="+mn-ea"/>
                <a:cs typeface="+mn-cs"/>
              </a:rPr>
              <a:pPr>
                <a:defRPr/>
              </a:pPr>
              <a:t>24</a:t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AUTOCOLOR" val="TRUE"/>
  <p:tag name="MH_TYPE" val="CONTENTS"/>
  <p:tag name="ID" val="5535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NUMBER"/>
  <p:tag name="ID" val="553526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ENTRY"/>
  <p:tag name="ID" val="553526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OTHERS"/>
  <p:tag name="ID" val="5535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NUMBER"/>
  <p:tag name="ID" val="553526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ENTRY"/>
  <p:tag name="ID" val="553526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OTHERS"/>
  <p:tag name="ID" val="5535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NUMBER"/>
  <p:tag name="ID" val="553526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ENTRY"/>
  <p:tag name="ID" val="553526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OTHERS"/>
  <p:tag name="ID" val="55352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NUMBER"/>
  <p:tag name="ID" val="553526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ENTRY"/>
  <p:tag name="ID" val="553526"/>
  <p:tag name="MH_ORDER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OTHERS"/>
  <p:tag name="ID" val="55352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NUMBER"/>
  <p:tag name="ID" val="553526"/>
  <p:tag name="MH_ORDER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ENTRY"/>
  <p:tag name="ID" val="553526"/>
  <p:tag name="MH_ORDER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OTHERS"/>
  <p:tag name="ID" val="55352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05112"/>
  <p:tag name="MH_LIBRARY" val="CONTENTS"/>
  <p:tag name="MH_TYPE" val="OTHERS"/>
  <p:tag name="ID" val="55352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Straight Connector 3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Straight Connector 3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Straight Connector 3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Straight Connector 3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Straight Connector 3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1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1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2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Group 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14112747"/>
  <p:tag name="MH_LIBRARY" val="GRAPHIC"/>
  <p:tag name="MH_ORDER" val="Straight Connector 38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0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A000120150716A05KPBG</Template>
  <TotalTime>75</TotalTime>
  <Words>1151</Words>
  <Application>Microsoft Office PowerPoint</Application>
  <PresentationFormat>全屏显示(16:9)</PresentationFormat>
  <Paragraphs>255</Paragraphs>
  <Slides>24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A000120140530A99PPBG</vt:lpstr>
      <vt:lpstr>汽车空调压缩机培训 （一） 压缩机概述</vt:lpstr>
      <vt:lpstr>幻灯片 2</vt:lpstr>
      <vt:lpstr>汽车空调系统概述</vt:lpstr>
      <vt:lpstr>汽车空调系统概述</vt:lpstr>
      <vt:lpstr>汽车空调压缩机概述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电动涡旋压缩机主要零部件介绍</vt:lpstr>
      <vt:lpstr>电动涡旋压缩机主要零部件介绍</vt:lpstr>
      <vt:lpstr>电动涡旋压缩机主要零部件介绍</vt:lpstr>
      <vt:lpstr>电动涡旋压缩机主要零部件介绍</vt:lpstr>
      <vt:lpstr>电动涡旋压缩机主要零部件介绍</vt:lpstr>
      <vt:lpstr>电动涡旋压缩机主要零部件介绍</vt:lpstr>
      <vt:lpstr>幻灯片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谢小莉</dc:creator>
  <cp:lastModifiedBy>TD-LWQ</cp:lastModifiedBy>
  <cp:revision>98</cp:revision>
  <dcterms:created xsi:type="dcterms:W3CDTF">2015-10-14T02:46:00Z</dcterms:created>
  <dcterms:modified xsi:type="dcterms:W3CDTF">2019-04-18T09:15:59Z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me">
    <vt:lpwstr>小人简约模板.ppt</vt:lpwstr>
  </property>
  <property fmtid="{D5CDD505-2E9C-101B-9397-08002B2CF9AE}" pid="3" name="fileid">
    <vt:lpwstr>644057</vt:lpwstr>
  </property>
  <property fmtid="{D5CDD505-2E9C-101B-9397-08002B2CF9AE}" pid="4" name="KSOProductBuildVer">
    <vt:lpwstr>2052-10.1.0.5975</vt:lpwstr>
  </property>
</Properties>
</file>