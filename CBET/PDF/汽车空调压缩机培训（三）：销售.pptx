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tags/tag6.xml" ContentType="application/vnd.openxmlformats-officedocument.presentationml.tags+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gif" ContentType="image/gif"/>
  <Override PartName="/ppt/tags/tag14.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handoutMasterIdLst>
    <p:handoutMasterId r:id="rId38"/>
  </p:handoutMasterIdLst>
  <p:sldIdLst>
    <p:sldId id="256" r:id="rId2"/>
    <p:sldId id="382" r:id="rId3"/>
    <p:sldId id="392" r:id="rId4"/>
    <p:sldId id="380" r:id="rId5"/>
    <p:sldId id="391" r:id="rId6"/>
    <p:sldId id="267" r:id="rId7"/>
    <p:sldId id="398" r:id="rId8"/>
    <p:sldId id="373" r:id="rId9"/>
    <p:sldId id="383" r:id="rId10"/>
    <p:sldId id="390" r:id="rId11"/>
    <p:sldId id="400" r:id="rId12"/>
    <p:sldId id="408" r:id="rId13"/>
    <p:sldId id="401" r:id="rId14"/>
    <p:sldId id="402" r:id="rId15"/>
    <p:sldId id="403" r:id="rId16"/>
    <p:sldId id="404" r:id="rId17"/>
    <p:sldId id="405" r:id="rId18"/>
    <p:sldId id="406" r:id="rId19"/>
    <p:sldId id="407" r:id="rId20"/>
    <p:sldId id="399" r:id="rId21"/>
    <p:sldId id="394" r:id="rId22"/>
    <p:sldId id="396" r:id="rId23"/>
    <p:sldId id="410" r:id="rId24"/>
    <p:sldId id="411" r:id="rId25"/>
    <p:sldId id="413" r:id="rId26"/>
    <p:sldId id="414" r:id="rId27"/>
    <p:sldId id="395" r:id="rId28"/>
    <p:sldId id="418" r:id="rId29"/>
    <p:sldId id="416" r:id="rId30"/>
    <p:sldId id="409" r:id="rId31"/>
    <p:sldId id="417" r:id="rId32"/>
    <p:sldId id="379" r:id="rId33"/>
    <p:sldId id="375" r:id="rId34"/>
    <p:sldId id="397" r:id="rId35"/>
    <p:sldId id="279" r:id="rId36"/>
  </p:sldIdLst>
  <p:sldSz cx="9144000" cy="5143500" type="screen16x9"/>
  <p:notesSz cx="6858000" cy="9144000"/>
  <p:defaultTextStyle>
    <a:defPPr>
      <a:defRPr lang="zh-CN"/>
    </a:defPPr>
    <a:lvl1pPr marL="0" lvl="0"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1pPr>
    <a:lvl2pPr marL="342900" lvl="1"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2pPr>
    <a:lvl3pPr marL="685800" lvl="2"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3pPr>
    <a:lvl4pPr marL="1028700" lvl="3"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4pPr>
    <a:lvl5pPr marL="1371600" lvl="4"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5pPr>
    <a:lvl6pPr marL="1714500" lvl="5"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6pPr>
    <a:lvl7pPr marL="2057400" lvl="6"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7pPr>
    <a:lvl8pPr marL="2400300" lvl="7"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8pPr>
    <a:lvl9pPr marL="2743200" lvl="8"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9pPr>
  </p:defaultTextStyle>
  <p:extLst>
    <p:ext uri="{521415D9-36F7-43E2-AB2F-B90AF26B5E84}">
      <p14:sectionLst xmlns="" xmlns:p14="http://schemas.microsoft.com/office/powerpoint/2010/main">
        <p14:section name="默认节" id="{626c0959-18c5-431f-a82d-65191dd9e183}">
          <p14:sldIdLst>
            <p14:sldId id="256"/>
            <p14:sldId id="260"/>
          </p14:sldIdLst>
        </p14:section>
        <p14:section name="无标题节" id="{df2bc936-5167-481e-bd29-6a095510166f}">
          <p14:sldIdLst>
            <p14:sldId id="306"/>
            <p14:sldId id="380"/>
            <p14:sldId id="257"/>
            <p14:sldId id="267"/>
            <p14:sldId id="307"/>
            <p14:sldId id="381"/>
            <p14:sldId id="308"/>
            <p14:sldId id="373"/>
            <p14:sldId id="374"/>
            <p14:sldId id="379"/>
            <p14:sldId id="375"/>
            <p14:sldId id="376"/>
            <p14:sldId id="377"/>
            <p14:sldId id="378"/>
            <p14:sldId id="309"/>
            <p14:sldId id="325"/>
            <p14:sldId id="326"/>
            <p14:sldId id="327"/>
            <p14:sldId id="328"/>
            <p14:sldId id="329"/>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47"/>
    <p:restoredTop sz="94660"/>
  </p:normalViewPr>
  <p:slideViewPr>
    <p:cSldViewPr snapToGrid="0">
      <p:cViewPr>
        <p:scale>
          <a:sx n="110" d="100"/>
          <a:sy n="110" d="100"/>
        </p:scale>
        <p:origin x="-1650" y="-882"/>
      </p:cViewPr>
      <p:guideLst>
        <p:guide orient="horz" pos="1620"/>
        <p:guide pos="2880"/>
      </p:guideLst>
    </p:cSldViewPr>
  </p:slideViewPr>
  <p:notesTextViewPr>
    <p:cViewPr>
      <p:scale>
        <a:sx n="1" d="1"/>
        <a:sy n="1" d="1"/>
      </p:scale>
      <p:origin x="0" y="0"/>
    </p:cViewPr>
  </p:notesTextViewPr>
  <p:sorterViewPr showFormatting="0">
    <p:cViewPr>
      <p:scale>
        <a:sx n="66" d="100"/>
        <a:sy n="66" d="100"/>
      </p:scale>
      <p:origin x="0" y="0"/>
    </p:cViewPr>
  </p:sorterViewPr>
  <p:notesViewPr>
    <p:cSldViewPr snapToGrid="0">
      <p:cViewPr varScale="1">
        <p:scale>
          <a:sx n="87" d="100"/>
          <a:sy n="87" d="100"/>
        </p:scale>
        <p:origin x="-3822"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40BED7C-9390-4740-9ED4-A90F6AF1A0D3}" type="datetimeFigureOut">
              <a:rPr lang="zh-CN" altLang="en-US" smtClean="0"/>
              <a:pPr/>
              <a:t>2018/12/3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A0FE240-16B8-4F83-9C19-8A30DD292EA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latinLnBrk="0" hangingPunct="1">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latinLnBrk="0" hangingPunct="1">
              <a:spcBef>
                <a:spcPts val="0"/>
              </a:spcBef>
              <a:spcAft>
                <a:spcPts val="0"/>
              </a:spcAft>
              <a:buClrTx/>
              <a:buSzTx/>
              <a:buFontTx/>
              <a:buNone/>
              <a:defRPr/>
            </a:pPr>
            <a:fld id="{EA4338FE-D192-4467-9981-26BEB333B201}" type="datetimeFigureOut">
              <a:rPr kumimoji="0" lang="zh-CN" alt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latinLnBrk="0" hangingPunct="1">
                <a:spcBef>
                  <a:spcPts val="0"/>
                </a:spcBef>
                <a:spcAft>
                  <a:spcPts val="0"/>
                </a:spcAft>
                <a:buClrTx/>
                <a:buSzTx/>
                <a:buFontTx/>
                <a:buNone/>
                <a:defRPr/>
              </a:pPr>
              <a:t>2018/12/3</a:t>
            </a:fld>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latinLnBrk="0" hangingPunct="1">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latinLnBrk="0" hangingPunct="1">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latinLnBrk="0" hangingPunct="1">
              <a:spcBef>
                <a:spcPts val="0"/>
              </a:spcBef>
              <a:spcAft>
                <a:spcPts val="0"/>
              </a:spcAft>
              <a:buClrTx/>
              <a:buSzTx/>
              <a:buFontTx/>
              <a:buNone/>
              <a:defRPr/>
            </a:pPr>
            <a:fld id="{DE2AA6D5-BE7A-4A02-A9A9-BB0437949346}"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latinLnBrk="0" hangingPunct="1">
                <a:spcBef>
                  <a:spcPts val="0"/>
                </a:spcBef>
                <a:spcAft>
                  <a:spcPts val="0"/>
                </a:spcAft>
                <a:buClrTx/>
                <a:buSzTx/>
                <a:buFontTx/>
                <a:buNone/>
                <a:defRPr/>
              </a:pPr>
              <a:t>‹#›</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685165" rtl="0" eaLnBrk="1" latinLnBrk="0" hangingPunct="1">
      <a:defRPr sz="900" kern="1200">
        <a:solidFill>
          <a:schemeClr val="tx1"/>
        </a:solidFill>
        <a:latin typeface="+mn-lt"/>
        <a:ea typeface="+mn-ea"/>
        <a:cs typeface="+mn-cs"/>
      </a:defRPr>
    </a:lvl1pPr>
    <a:lvl2pPr marL="342900" algn="l" defTabSz="685165" rtl="0" eaLnBrk="1" latinLnBrk="0" hangingPunct="1">
      <a:defRPr sz="900" kern="1200">
        <a:solidFill>
          <a:schemeClr val="tx1"/>
        </a:solidFill>
        <a:latin typeface="+mn-lt"/>
        <a:ea typeface="+mn-ea"/>
        <a:cs typeface="+mn-cs"/>
      </a:defRPr>
    </a:lvl2pPr>
    <a:lvl3pPr marL="685800" algn="l" defTabSz="685165" rtl="0" eaLnBrk="1" latinLnBrk="0" hangingPunct="1">
      <a:defRPr sz="900" kern="1200">
        <a:solidFill>
          <a:schemeClr val="tx1"/>
        </a:solidFill>
        <a:latin typeface="+mn-lt"/>
        <a:ea typeface="+mn-ea"/>
        <a:cs typeface="+mn-cs"/>
      </a:defRPr>
    </a:lvl3pPr>
    <a:lvl4pPr marL="1028700" algn="l" defTabSz="685165" rtl="0" eaLnBrk="1" latinLnBrk="0" hangingPunct="1">
      <a:defRPr sz="900" kern="1200">
        <a:solidFill>
          <a:schemeClr val="tx1"/>
        </a:solidFill>
        <a:latin typeface="+mn-lt"/>
        <a:ea typeface="+mn-ea"/>
        <a:cs typeface="+mn-cs"/>
      </a:defRPr>
    </a:lvl4pPr>
    <a:lvl5pPr marL="1371600" algn="l" defTabSz="685165" rtl="0" eaLnBrk="1" latinLnBrk="0" hangingPunct="1">
      <a:defRPr sz="900" kern="1200">
        <a:solidFill>
          <a:schemeClr val="tx1"/>
        </a:solidFill>
        <a:latin typeface="+mn-lt"/>
        <a:ea typeface="+mn-ea"/>
        <a:cs typeface="+mn-cs"/>
      </a:defRPr>
    </a:lvl5pPr>
    <a:lvl6pPr marL="1714500" algn="l" defTabSz="685165" rtl="0" eaLnBrk="1" latinLnBrk="0" hangingPunct="1">
      <a:defRPr sz="900" kern="1200">
        <a:solidFill>
          <a:schemeClr val="tx1"/>
        </a:solidFill>
        <a:latin typeface="+mn-lt"/>
        <a:ea typeface="+mn-ea"/>
        <a:cs typeface="+mn-cs"/>
      </a:defRPr>
    </a:lvl6pPr>
    <a:lvl7pPr marL="2057400" algn="l" defTabSz="685165" rtl="0" eaLnBrk="1" latinLnBrk="0" hangingPunct="1">
      <a:defRPr sz="900" kern="1200">
        <a:solidFill>
          <a:schemeClr val="tx1"/>
        </a:solidFill>
        <a:latin typeface="+mn-lt"/>
        <a:ea typeface="+mn-ea"/>
        <a:cs typeface="+mn-cs"/>
      </a:defRPr>
    </a:lvl7pPr>
    <a:lvl8pPr marL="2400300" algn="l" defTabSz="685165" rtl="0" eaLnBrk="1" latinLnBrk="0" hangingPunct="1">
      <a:defRPr sz="900" kern="1200">
        <a:solidFill>
          <a:schemeClr val="tx1"/>
        </a:solidFill>
        <a:latin typeface="+mn-lt"/>
        <a:ea typeface="+mn-ea"/>
        <a:cs typeface="+mn-cs"/>
      </a:defRPr>
    </a:lvl8pPr>
    <a:lvl9pPr marL="2743200" algn="l" defTabSz="685165"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latinLnBrk="0" hangingPunct="1">
              <a:spcBef>
                <a:spcPts val="0"/>
              </a:spcBef>
              <a:spcAft>
                <a:spcPts val="0"/>
              </a:spcAft>
              <a:buClrTx/>
              <a:buSzTx/>
              <a:buFontTx/>
              <a:buNone/>
              <a:defRPr/>
            </a:pPr>
            <a:fld id="{DE2AA6D5-BE7A-4A02-A9A9-BB0437949346}"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latinLnBrk="0" hangingPunct="1">
                <a:spcBef>
                  <a:spcPts val="0"/>
                </a:spcBef>
                <a:spcAft>
                  <a:spcPts val="0"/>
                </a:spcAft>
                <a:buClrTx/>
                <a:buSzTx/>
                <a:buFontTx/>
                <a:buNone/>
                <a:defRPr/>
              </a:pPr>
              <a:t>1</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2400"/>
            </a:lvl1pPr>
          </a:lstStyle>
          <a:p>
            <a:r>
              <a:rPr lang="zh-CN" altLang="en-US" dirty="0" smtClean="0"/>
              <a:t>单击此处编辑母版标题样式</a:t>
            </a:r>
            <a:endParaRPr lang="en-US" dirty="0"/>
          </a:p>
        </p:txBody>
      </p:sp>
      <p:sp>
        <p:nvSpPr>
          <p:cNvPr id="3" name="KSO_BC1"/>
          <p:cNvSpPr>
            <a:spLocks noGrp="1"/>
          </p:cNvSpPr>
          <p:nvPr>
            <p:ph idx="1"/>
          </p:nvPr>
        </p:nvSpPr>
        <p:spPr/>
        <p:txBody>
          <a:bodyPr>
            <a:normAutofit/>
          </a:bodyPr>
          <a:lstStyle>
            <a:lvl1pPr>
              <a:defRPr sz="1800">
                <a:solidFill>
                  <a:schemeClr val="accent1"/>
                </a:solidFill>
              </a:defRPr>
            </a:lvl1pPr>
            <a:lvl2pPr>
              <a:defRPr sz="1500" b="0"/>
            </a:lvl2pPr>
          </a:lstStyle>
          <a:p>
            <a:pPr lvl="0"/>
            <a:r>
              <a:rPr lang="zh-CN" altLang="en-US" dirty="0" smtClean="0"/>
              <a:t>单击此处编辑母版文本样式</a:t>
            </a:r>
          </a:p>
          <a:p>
            <a:pPr lvl="1"/>
            <a:r>
              <a:rPr lang="zh-CN" altLang="en-US" dirty="0" smtClean="0"/>
              <a:t>第二级</a:t>
            </a:r>
          </a:p>
        </p:txBody>
      </p:sp>
      <p:sp>
        <p:nvSpPr>
          <p:cNvPr id="6" name="灯片编号占位符 5"/>
          <p:cNvSpPr>
            <a:spLocks noGrp="1"/>
          </p:cNvSpPr>
          <p:nvPr>
            <p:ph type="sldNum" sz="quarter" idx="12"/>
          </p:nvPr>
        </p:nvSpPr>
        <p:spPr>
          <a:xfrm>
            <a:off x="8715375" y="4762500"/>
            <a:ext cx="428625" cy="273844"/>
          </a:xfrm>
          <a:prstGeom prst="rect">
            <a:avLst/>
          </a:prstGeom>
        </p:spPr>
        <p:txBody>
          <a:bodyPr/>
          <a:lstStyle>
            <a:lvl1pPr algn="ctr" rtl="0" eaLnBrk="1" hangingPunct="1">
              <a:spcBef>
                <a:spcPts val="0"/>
              </a:spcBef>
              <a:spcAft>
                <a:spcPts val="0"/>
              </a:spcAft>
              <a:defRPr>
                <a:solidFill>
                  <a:schemeClr val="bg1"/>
                </a:solidFill>
              </a:defRPr>
            </a:lvl1pPr>
          </a:lstStyle>
          <a:p>
            <a:pPr>
              <a:defRPr/>
            </a:pPr>
            <a:fld id="{96B2F9F3-2D6E-447C-92BD-471A0AE1828C}" type="slidenum">
              <a:rPr lang="zh-CN" altLang="en-US" smtClean="0">
                <a:latin typeface="+mn-lt"/>
                <a:ea typeface="+mn-ea"/>
                <a:cs typeface="+mn-cs"/>
              </a:rPr>
              <a:pPr>
                <a:defRPr/>
              </a:pPr>
              <a:t>‹#›</a:t>
            </a:fld>
            <a:endParaRPr lang="zh-CN" altLang="en-US" dirty="0">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4" cstate="print"/>
          <a:srcRect l="1474" t="26028" r="6166" b="4485"/>
          <a:stretch>
            <a:fillRect/>
          </a:stretch>
        </p:blipFill>
        <p:spPr>
          <a:xfrm>
            <a:off x="0" y="1753792"/>
            <a:ext cx="5924550" cy="3389709"/>
          </a:xfrm>
          <a:prstGeom prst="rect">
            <a:avLst/>
          </a:prstGeom>
          <a:noFill/>
          <a:ln w="9525">
            <a:noFill/>
            <a:miter/>
          </a:ln>
        </p:spPr>
      </p:pic>
      <p:sp>
        <p:nvSpPr>
          <p:cNvPr id="1030" name="KSO_BC1"/>
          <p:cNvSpPr>
            <a:spLocks noGrp="1"/>
          </p:cNvSpPr>
          <p:nvPr>
            <p:ph type="body" idx="1"/>
          </p:nvPr>
        </p:nvSpPr>
        <p:spPr>
          <a:xfrm>
            <a:off x="1387793" y="1861186"/>
            <a:ext cx="7332345" cy="2814638"/>
          </a:xfrm>
          <a:prstGeom prst="rect">
            <a:avLst/>
          </a:prstGeom>
          <a:noFill/>
          <a:ln w="9525">
            <a:noFill/>
            <a:miter/>
          </a:ln>
        </p:spPr>
        <p:txBody>
          <a:bodyPr lIns="68579" tIns="34289" rIns="68579" bIns="34289"/>
          <a:lstStyle/>
          <a:p>
            <a:pPr lvl="0"/>
            <a:r>
              <a:rPr lang="zh-CN" altLang="en-US" dirty="0"/>
              <a:t>单击此处编辑母版文本样式</a:t>
            </a:r>
          </a:p>
          <a:p>
            <a:pPr lvl="1"/>
            <a:r>
              <a:rPr lang="zh-CN" altLang="en-US" dirty="0"/>
              <a:t>第二级</a:t>
            </a:r>
          </a:p>
        </p:txBody>
      </p:sp>
      <p:sp>
        <p:nvSpPr>
          <p:cNvPr id="1031" name="KSO_BT1"/>
          <p:cNvSpPr>
            <a:spLocks noGrp="1"/>
          </p:cNvSpPr>
          <p:nvPr>
            <p:ph type="title"/>
          </p:nvPr>
        </p:nvSpPr>
        <p:spPr>
          <a:xfrm>
            <a:off x="1344930" y="576502"/>
            <a:ext cx="8215313" cy="596503"/>
          </a:xfrm>
          <a:prstGeom prst="rect">
            <a:avLst/>
          </a:prstGeom>
          <a:noFill/>
          <a:ln w="9525">
            <a:noFill/>
            <a:miter/>
          </a:ln>
        </p:spPr>
        <p:txBody>
          <a:bodyPr lIns="68579" tIns="34289" rIns="68579" bIns="34289" anchor="ctr"/>
          <a:lstStyle/>
          <a:p>
            <a:pPr lvl="0"/>
            <a:r>
              <a:rPr lang="zh-CN" altLang="en-US" dirty="0"/>
              <a:t>单击此处编辑母版标题样式</a:t>
            </a:r>
            <a:endParaRPr lang="en-US" altLang="x-none" dirty="0"/>
          </a:p>
        </p:txBody>
      </p:sp>
      <p:sp>
        <p:nvSpPr>
          <p:cNvPr id="2" name="文本框 1"/>
          <p:cNvSpPr txBox="1"/>
          <p:nvPr userDrawn="1"/>
        </p:nvSpPr>
        <p:spPr>
          <a:xfrm>
            <a:off x="984410" y="-76199"/>
            <a:ext cx="4930616" cy="609396"/>
          </a:xfrm>
          <a:prstGeom prst="rect">
            <a:avLst/>
          </a:prstGeom>
          <a:noFill/>
        </p:spPr>
        <p:txBody>
          <a:bodyPr wrap="square" lIns="68579" tIns="34289" rIns="68579" bIns="34289" rtlCol="0">
            <a:spAutoFit/>
          </a:bodyPr>
          <a:lstStyle/>
          <a:p>
            <a:pPr>
              <a:lnSpc>
                <a:spcPct val="130000"/>
              </a:lnSpc>
            </a:pPr>
            <a:r>
              <a:rPr lang="zh-CN" altLang="en-US" sz="1700" b="1" dirty="0" smtClean="0">
                <a:latin typeface="华文新魏" pitchFamily="2" charset="-122"/>
                <a:ea typeface="华文新魏" pitchFamily="2" charset="-122"/>
              </a:rPr>
              <a:t>湖南贝特新能源科技有限公司</a:t>
            </a:r>
            <a:endParaRPr lang="en-US" altLang="zh-CN" sz="1700" b="1" dirty="0" smtClean="0">
              <a:latin typeface="华文新魏" pitchFamily="2" charset="-122"/>
              <a:ea typeface="华文新魏" pitchFamily="2" charset="-122"/>
            </a:endParaRPr>
          </a:p>
          <a:p>
            <a:pPr marL="0" marR="0" indent="0" algn="l" defTabSz="685165" eaLnBrk="0" fontAlgn="base" latinLnBrk="0" hangingPunct="0">
              <a:lnSpc>
                <a:spcPct val="130000"/>
              </a:lnSpc>
              <a:spcBef>
                <a:spcPct val="0"/>
              </a:spcBef>
              <a:spcAft>
                <a:spcPct val="0"/>
              </a:spcAft>
              <a:buClrTx/>
              <a:buSzTx/>
              <a:buFontTx/>
              <a:buNone/>
              <a:defRPr/>
            </a:pPr>
            <a:r>
              <a:rPr lang="zh-CN" altLang="en-US" sz="1000" b="1" dirty="0" smtClean="0">
                <a:latin typeface="Arial" panose="020B0604020202020204" pitchFamily="34" charset="0"/>
                <a:ea typeface="微软雅黑" panose="020B0503020204020204" pitchFamily="34" charset="-122"/>
              </a:rPr>
              <a:t>Hunan Better New Energy Science and Technology Co., Ltd.</a:t>
            </a:r>
            <a:endParaRPr lang="zh-CN" altLang="en-US" sz="1700" b="1" dirty="0" smtClean="0">
              <a:latin typeface="楷体" panose="02010609060101010101" charset="-122"/>
              <a:ea typeface="楷体" panose="02010609060101010101" charset="-122"/>
            </a:endParaRPr>
          </a:p>
        </p:txBody>
      </p:sp>
      <p:pic>
        <p:nvPicPr>
          <p:cNvPr id="3" name="图片 2" descr="1"/>
          <p:cNvPicPr>
            <a:picLocks noChangeAspect="1"/>
          </p:cNvPicPr>
          <p:nvPr userDrawn="1"/>
        </p:nvPicPr>
        <p:blipFill>
          <a:blip r:embed="rId5" cstate="print"/>
          <a:stretch>
            <a:fillRect/>
          </a:stretch>
        </p:blipFill>
        <p:spPr>
          <a:xfrm>
            <a:off x="-4761" y="48579"/>
            <a:ext cx="1047576" cy="541971"/>
          </a:xfrm>
          <a:prstGeom prst="rect">
            <a:avLst/>
          </a:prstGeom>
        </p:spPr>
      </p:pic>
      <p:pic>
        <p:nvPicPr>
          <p:cNvPr id="8" name="Picture 2" descr="X:\压缩机文件\文件管理\贝特商标\0(KOJFG6$8)DD{B[9IAWJJ2.png"/>
          <p:cNvPicPr>
            <a:picLocks noChangeAspect="1" noChangeArrowheads="1"/>
          </p:cNvPicPr>
          <p:nvPr userDrawn="1"/>
        </p:nvPicPr>
        <p:blipFill>
          <a:blip r:embed="rId6" cstate="print"/>
          <a:srcRect/>
          <a:stretch>
            <a:fillRect/>
          </a:stretch>
        </p:blipFill>
        <p:spPr bwMode="auto">
          <a:xfrm>
            <a:off x="1047750" y="496889"/>
            <a:ext cx="8096250" cy="45719"/>
          </a:xfrm>
          <a:prstGeom prst="rect">
            <a:avLst/>
          </a:prstGeom>
          <a:noFill/>
        </p:spPr>
      </p:pic>
      <p:sp>
        <p:nvSpPr>
          <p:cNvPr id="13" name="爆炸形 1 12"/>
          <p:cNvSpPr/>
          <p:nvPr userDrawn="1"/>
        </p:nvSpPr>
        <p:spPr>
          <a:xfrm>
            <a:off x="8715375" y="4733925"/>
            <a:ext cx="419100" cy="409575"/>
          </a:xfrm>
          <a:prstGeom prst="irregularSeal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hf hdr="0" ftr="0" dt="0"/>
  <p:txStyles>
    <p:titleStyle>
      <a:lvl1pPr algn="l" defTabSz="513715" rtl="0" eaLnBrk="1" latinLnBrk="0" hangingPunct="1">
        <a:lnSpc>
          <a:spcPct val="90000"/>
        </a:lnSpc>
        <a:spcBef>
          <a:spcPct val="0"/>
        </a:spcBef>
        <a:buNone/>
        <a:defRPr sz="2400" b="0" i="0" kern="1200" baseline="0">
          <a:solidFill>
            <a:schemeClr val="accent1"/>
          </a:solidFill>
          <a:effectLst/>
          <a:latin typeface="+mj-lt"/>
          <a:ea typeface="+mj-ea"/>
          <a:cs typeface="+mj-cs"/>
        </a:defRPr>
      </a:lvl1pPr>
    </p:titleStyle>
    <p:bodyStyle>
      <a:lvl1pPr marL="271145" indent="-271145" algn="just" defTabSz="513715"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lt"/>
          <a:ea typeface="+mn-ea"/>
          <a:cs typeface="+mn-cs"/>
        </a:defRPr>
      </a:lvl1pPr>
      <a:lvl2pPr marL="271145" indent="-271145" algn="just" defTabSz="513715"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500" b="0" kern="1200" baseline="0">
          <a:solidFill>
            <a:schemeClr val="tx1"/>
          </a:solidFill>
          <a:latin typeface="+mn-lt"/>
          <a:ea typeface="+mn-ea"/>
          <a:cs typeface="+mn-cs"/>
        </a:defRPr>
      </a:lvl2pPr>
      <a:lvl3pPr marL="642620" indent="-128270" algn="l" defTabSz="513715" rtl="0" eaLnBrk="1" latinLnBrk="0" hangingPunct="1">
        <a:lnSpc>
          <a:spcPct val="90000"/>
        </a:lnSpc>
        <a:spcBef>
          <a:spcPts val="280"/>
        </a:spcBef>
        <a:buFont typeface="Arial" panose="020B0604020202020204" pitchFamily="34" charset="0"/>
        <a:buChar char="•"/>
        <a:defRPr sz="1100" kern="1200">
          <a:solidFill>
            <a:schemeClr val="tx1"/>
          </a:solidFill>
          <a:latin typeface="+mn-lt"/>
          <a:ea typeface="+mn-ea"/>
          <a:cs typeface="+mn-cs"/>
        </a:defRPr>
      </a:lvl3pPr>
      <a:lvl4pPr marL="899795"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4pPr>
      <a:lvl5pPr marL="1156970"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5pPr>
      <a:lvl6pPr marL="1414145"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6pPr>
      <a:lvl7pPr marL="1671320"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7pPr>
      <a:lvl8pPr marL="1928495"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8pPr>
      <a:lvl9pPr marL="2185670"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3715" rtl="0" eaLnBrk="1" latinLnBrk="0" hangingPunct="1">
        <a:defRPr sz="1000" kern="1200">
          <a:solidFill>
            <a:schemeClr val="tx1"/>
          </a:solidFill>
          <a:latin typeface="+mn-lt"/>
          <a:ea typeface="+mn-ea"/>
          <a:cs typeface="+mn-cs"/>
        </a:defRPr>
      </a:lvl1pPr>
      <a:lvl2pPr marL="257175" algn="l" defTabSz="513715" rtl="0" eaLnBrk="1" latinLnBrk="0" hangingPunct="1">
        <a:defRPr sz="1000" kern="1200">
          <a:solidFill>
            <a:schemeClr val="tx1"/>
          </a:solidFill>
          <a:latin typeface="+mn-lt"/>
          <a:ea typeface="+mn-ea"/>
          <a:cs typeface="+mn-cs"/>
        </a:defRPr>
      </a:lvl2pPr>
      <a:lvl3pPr marL="514350" algn="l" defTabSz="513715" rtl="0" eaLnBrk="1" latinLnBrk="0" hangingPunct="1">
        <a:defRPr sz="1000" kern="1200">
          <a:solidFill>
            <a:schemeClr val="tx1"/>
          </a:solidFill>
          <a:latin typeface="+mn-lt"/>
          <a:ea typeface="+mn-ea"/>
          <a:cs typeface="+mn-cs"/>
        </a:defRPr>
      </a:lvl3pPr>
      <a:lvl4pPr marL="771525" algn="l" defTabSz="513715" rtl="0" eaLnBrk="1" latinLnBrk="0" hangingPunct="1">
        <a:defRPr sz="1000" kern="1200">
          <a:solidFill>
            <a:schemeClr val="tx1"/>
          </a:solidFill>
          <a:latin typeface="+mn-lt"/>
          <a:ea typeface="+mn-ea"/>
          <a:cs typeface="+mn-cs"/>
        </a:defRPr>
      </a:lvl4pPr>
      <a:lvl5pPr marL="1028700" algn="l" defTabSz="513715" rtl="0" eaLnBrk="1" latinLnBrk="0" hangingPunct="1">
        <a:defRPr sz="1000" kern="1200">
          <a:solidFill>
            <a:schemeClr val="tx1"/>
          </a:solidFill>
          <a:latin typeface="+mn-lt"/>
          <a:ea typeface="+mn-ea"/>
          <a:cs typeface="+mn-cs"/>
        </a:defRPr>
      </a:lvl5pPr>
      <a:lvl6pPr marL="1285875" algn="l" defTabSz="513715" rtl="0" eaLnBrk="1" latinLnBrk="0" hangingPunct="1">
        <a:defRPr sz="1000" kern="1200">
          <a:solidFill>
            <a:schemeClr val="tx1"/>
          </a:solidFill>
          <a:latin typeface="+mn-lt"/>
          <a:ea typeface="+mn-ea"/>
          <a:cs typeface="+mn-cs"/>
        </a:defRPr>
      </a:lvl6pPr>
      <a:lvl7pPr marL="1543050" algn="l" defTabSz="513715" rtl="0" eaLnBrk="1" latinLnBrk="0" hangingPunct="1">
        <a:defRPr sz="1000" kern="1200">
          <a:solidFill>
            <a:schemeClr val="tx1"/>
          </a:solidFill>
          <a:latin typeface="+mn-lt"/>
          <a:ea typeface="+mn-ea"/>
          <a:cs typeface="+mn-cs"/>
        </a:defRPr>
      </a:lvl7pPr>
      <a:lvl8pPr marL="1800225" algn="l" defTabSz="513715" rtl="0" eaLnBrk="1" latinLnBrk="0" hangingPunct="1">
        <a:defRPr sz="1000" kern="1200">
          <a:solidFill>
            <a:schemeClr val="tx1"/>
          </a:solidFill>
          <a:latin typeface="+mn-lt"/>
          <a:ea typeface="+mn-ea"/>
          <a:cs typeface="+mn-cs"/>
        </a:defRPr>
      </a:lvl8pPr>
      <a:lvl9pPr marL="2057400" algn="l" defTabSz="513715" rtl="0"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1.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752475"/>
            <a:ext cx="9144000" cy="2771775"/>
          </a:xfrm>
        </p:spPr>
        <p:txBody>
          <a:bodyPr>
            <a:normAutofit/>
          </a:bodyPr>
          <a:lstStyle/>
          <a:p>
            <a:pPr algn="ctr">
              <a:lnSpc>
                <a:spcPct val="150000"/>
              </a:lnSpc>
            </a:pPr>
            <a:r>
              <a:rPr lang="zh-CN" altLang="da-DK" sz="3600" dirty="0" smtClean="0">
                <a:latin typeface="+mn-ea"/>
                <a:ea typeface="+mn-ea"/>
              </a:rPr>
              <a:t>汽车空调压缩机培训</a:t>
            </a:r>
            <a:r>
              <a:rPr lang="en-US" altLang="zh-CN" sz="3600" dirty="0" smtClean="0">
                <a:latin typeface="+mn-ea"/>
                <a:ea typeface="+mn-ea"/>
              </a:rPr>
              <a:t/>
            </a:r>
            <a:br>
              <a:rPr lang="en-US" altLang="zh-CN" sz="3600" dirty="0" smtClean="0">
                <a:latin typeface="+mn-ea"/>
                <a:ea typeface="+mn-ea"/>
              </a:rPr>
            </a:br>
            <a:r>
              <a:rPr lang="zh-CN" altLang="en-US" sz="3600" dirty="0" smtClean="0">
                <a:latin typeface="+mn-ea"/>
                <a:ea typeface="+mn-ea"/>
              </a:rPr>
              <a:t>（三）</a:t>
            </a:r>
            <a:r>
              <a:rPr lang="en-US" altLang="zh-CN" sz="3600" dirty="0" smtClean="0">
                <a:latin typeface="+mn-ea"/>
                <a:ea typeface="+mn-ea"/>
              </a:rPr>
              <a:t/>
            </a:r>
            <a:br>
              <a:rPr lang="en-US" altLang="zh-CN" sz="3600" dirty="0" smtClean="0">
                <a:latin typeface="+mn-ea"/>
                <a:ea typeface="+mn-ea"/>
              </a:rPr>
            </a:br>
            <a:r>
              <a:rPr lang="zh-CN" altLang="en-US" sz="3600" dirty="0" smtClean="0">
                <a:latin typeface="+mn-ea"/>
                <a:ea typeface="+mn-ea"/>
              </a:rPr>
              <a:t>销售</a:t>
            </a:r>
            <a:endParaRPr lang="zh-CN" altLang="da-DK" sz="3600" dirty="0">
              <a:latin typeface="+mn-ea"/>
              <a:ea typeface="+mn-ea"/>
            </a:endParaRPr>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3053" y="715091"/>
            <a:ext cx="7590948" cy="596503"/>
          </a:xfrm>
        </p:spPr>
        <p:txBody>
          <a:bodyPr>
            <a:normAutofit/>
          </a:bodyPr>
          <a:lstStyle/>
          <a:p>
            <a:r>
              <a:rPr lang="zh-CN" altLang="en-US" b="1" spc="150" dirty="0" smtClean="0">
                <a:latin typeface="楷体" panose="02010609060101010101" charset="-122"/>
                <a:ea typeface="楷体" panose="02010609060101010101" charset="-122"/>
                <a:cs typeface="+mn-cs"/>
                <a:sym typeface="+mn-ea"/>
              </a:rPr>
              <a:t>汽车空调系统概述</a:t>
            </a:r>
          </a:p>
        </p:txBody>
      </p:sp>
      <p:sp>
        <p:nvSpPr>
          <p:cNvPr id="5" name="灯片编号占位符 4"/>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a:t>
            </a:fld>
            <a:endParaRPr lang="zh-CN" altLang="en-US" dirty="0">
              <a:latin typeface="+mn-lt"/>
              <a:ea typeface="+mn-ea"/>
              <a:cs typeface="+mn-cs"/>
            </a:endParaRPr>
          </a:p>
        </p:txBody>
      </p:sp>
      <p:sp>
        <p:nvSpPr>
          <p:cNvPr id="6" name="内容占位符 5"/>
          <p:cNvSpPr>
            <a:spLocks noGrp="1"/>
          </p:cNvSpPr>
          <p:nvPr>
            <p:ph idx="1"/>
          </p:nvPr>
        </p:nvSpPr>
        <p:spPr>
          <a:xfrm>
            <a:off x="1483043" y="1295400"/>
            <a:ext cx="7051357" cy="3380424"/>
          </a:xfrm>
        </p:spPr>
        <p:txBody>
          <a:bodyPr>
            <a:normAutofit/>
          </a:bodyPr>
          <a:lstStyle/>
          <a:p>
            <a:r>
              <a:rPr lang="zh-CN" altLang="en-US" sz="2300" b="0" dirty="0" smtClean="0">
                <a:latin typeface="楷体" panose="02010609060101010101" charset="-122"/>
                <a:ea typeface="楷体" panose="02010609060101010101" charset="-122"/>
              </a:rPr>
              <a:t>汽车空调系统是实现对车厢内空气进行制冷、加热、换气和空气净化的装置。</a:t>
            </a:r>
            <a:endParaRPr lang="en-US" altLang="zh-CN" sz="2300" b="0" dirty="0" smtClean="0">
              <a:latin typeface="楷体" panose="02010609060101010101" charset="-122"/>
              <a:ea typeface="楷体" panose="02010609060101010101" charset="-122"/>
            </a:endParaRPr>
          </a:p>
          <a:p>
            <a:r>
              <a:rPr lang="zh-CN" altLang="en-US" sz="2300" b="0" dirty="0" smtClean="0">
                <a:latin typeface="楷体" panose="02010609060101010101" charset="-122"/>
                <a:ea typeface="楷体" panose="02010609060101010101" charset="-122"/>
              </a:rPr>
              <a:t>汽车空调可以调节车厢内的</a:t>
            </a:r>
            <a:r>
              <a:rPr lang="zh-CN" altLang="en-US" sz="2300" b="0" dirty="0" smtClean="0">
                <a:solidFill>
                  <a:srgbClr val="FF0000"/>
                </a:solidFill>
                <a:latin typeface="楷体" panose="02010609060101010101" charset="-122"/>
                <a:ea typeface="楷体" panose="02010609060101010101" charset="-122"/>
              </a:rPr>
              <a:t>温度</a:t>
            </a:r>
            <a:r>
              <a:rPr lang="zh-CN" altLang="en-US" sz="2300" b="0" dirty="0" smtClean="0">
                <a:solidFill>
                  <a:srgbClr val="0070C0"/>
                </a:solidFill>
                <a:latin typeface="楷体" panose="02010609060101010101" charset="-122"/>
                <a:ea typeface="楷体" panose="02010609060101010101" charset="-122"/>
              </a:rPr>
              <a:t>、</a:t>
            </a:r>
            <a:r>
              <a:rPr lang="zh-CN" altLang="en-US" sz="2300" b="0" dirty="0" smtClean="0">
                <a:solidFill>
                  <a:srgbClr val="FF0000"/>
                </a:solidFill>
                <a:latin typeface="楷体" panose="02010609060101010101" charset="-122"/>
                <a:ea typeface="楷体" panose="02010609060101010101" charset="-122"/>
              </a:rPr>
              <a:t>湿度</a:t>
            </a:r>
            <a:r>
              <a:rPr lang="zh-CN" altLang="en-US" sz="2300" b="0" dirty="0" smtClean="0">
                <a:solidFill>
                  <a:srgbClr val="0070C0"/>
                </a:solidFill>
                <a:latin typeface="楷体" panose="02010609060101010101" charset="-122"/>
                <a:ea typeface="楷体" panose="02010609060101010101" charset="-122"/>
              </a:rPr>
              <a:t>、</a:t>
            </a:r>
            <a:r>
              <a:rPr lang="zh-CN" altLang="en-US" sz="2300" b="0" dirty="0" smtClean="0">
                <a:solidFill>
                  <a:srgbClr val="FF0000"/>
                </a:solidFill>
                <a:latin typeface="楷体" panose="02010609060101010101" charset="-122"/>
                <a:ea typeface="楷体" panose="02010609060101010101" charset="-122"/>
              </a:rPr>
              <a:t>空气流动速度</a:t>
            </a:r>
            <a:r>
              <a:rPr lang="zh-CN" altLang="en-US" sz="2300" b="0" dirty="0" smtClean="0">
                <a:latin typeface="楷体" panose="02010609060101010101" charset="-122"/>
                <a:ea typeface="楷体" panose="02010609060101010101" charset="-122"/>
              </a:rPr>
              <a:t>、过滤尘埃。</a:t>
            </a:r>
            <a:endParaRPr lang="en-US" altLang="zh-CN" sz="2300" b="0" dirty="0" smtClean="0">
              <a:latin typeface="楷体" panose="02010609060101010101" charset="-122"/>
              <a:ea typeface="楷体" panose="02010609060101010101" charset="-122"/>
            </a:endParaRPr>
          </a:p>
          <a:p>
            <a:r>
              <a:rPr lang="zh-CN" altLang="zh-CN" sz="2300" b="0" dirty="0" smtClean="0">
                <a:latin typeface="楷体" panose="02010609060101010101" charset="-122"/>
                <a:ea typeface="楷体" panose="02010609060101010101" charset="-122"/>
              </a:rPr>
              <a:t>空调系统的主要部件</a:t>
            </a:r>
            <a:r>
              <a:rPr lang="zh-CN" altLang="en-US" sz="2300" b="0" dirty="0" smtClean="0">
                <a:latin typeface="楷体" panose="02010609060101010101" charset="-122"/>
                <a:ea typeface="楷体" panose="02010609060101010101" charset="-122"/>
              </a:rPr>
              <a:t>包括</a:t>
            </a:r>
            <a:r>
              <a:rPr lang="zh-CN" altLang="zh-CN" sz="2300" b="0" dirty="0" smtClean="0">
                <a:latin typeface="楷体" panose="02010609060101010101" charset="-122"/>
                <a:ea typeface="楷体" panose="02010609060101010101" charset="-122"/>
              </a:rPr>
              <a:t>压缩机、冷凝器、储液罐、膨胀阀、蒸发器</a:t>
            </a:r>
            <a:r>
              <a:rPr lang="zh-CN" altLang="en-US" sz="2300" b="0" dirty="0" smtClean="0">
                <a:latin typeface="楷体" panose="02010609060101010101" charset="-122"/>
                <a:ea typeface="楷体" panose="02010609060101010101" charset="-122"/>
              </a:rPr>
              <a:t>和</a:t>
            </a:r>
            <a:r>
              <a:rPr lang="zh-CN" altLang="zh-CN" sz="2300" b="0" dirty="0" smtClean="0">
                <a:latin typeface="楷体" panose="02010609060101010101" charset="-122"/>
                <a:ea typeface="楷体" panose="02010609060101010101" charset="-122"/>
              </a:rPr>
              <a:t>连接管路</a:t>
            </a:r>
            <a:r>
              <a:rPr lang="zh-CN" altLang="en-US" sz="2300" b="0" dirty="0" smtClean="0">
                <a:latin typeface="楷体" panose="02010609060101010101" charset="-122"/>
                <a:ea typeface="楷体" panose="02010609060101010101" charset="-122"/>
              </a:rPr>
              <a:t>。</a:t>
            </a:r>
            <a:endParaRPr lang="en-US" altLang="zh-CN" sz="2300" b="0" dirty="0" smtClean="0">
              <a:latin typeface="楷体" panose="02010609060101010101" charset="-122"/>
              <a:ea typeface="楷体" panose="02010609060101010101" charset="-122"/>
            </a:endParaRPr>
          </a:p>
          <a:p>
            <a:endParaRPr lang="zh-CN" altLang="en-US" b="0" dirty="0" smtClean="0">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3053" y="715091"/>
            <a:ext cx="7590948" cy="596503"/>
          </a:xfrm>
        </p:spPr>
        <p:txBody>
          <a:bodyPr>
            <a:normAutofit/>
          </a:bodyPr>
          <a:lstStyle/>
          <a:p>
            <a:r>
              <a:rPr lang="zh-CN" altLang="en-US" b="1" spc="150" dirty="0" smtClean="0">
                <a:latin typeface="楷体" panose="02010609060101010101" charset="-122"/>
                <a:ea typeface="楷体" panose="02010609060101010101" charset="-122"/>
                <a:cs typeface="+mn-cs"/>
                <a:sym typeface="+mn-ea"/>
              </a:rPr>
              <a:t>汽车空调系统概述</a:t>
            </a:r>
          </a:p>
        </p:txBody>
      </p:sp>
      <p:sp>
        <p:nvSpPr>
          <p:cNvPr id="5" name="灯片编号占位符 4"/>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3</a:t>
            </a:fld>
            <a:endParaRPr lang="zh-CN" altLang="en-US" dirty="0">
              <a:latin typeface="+mn-lt"/>
              <a:ea typeface="+mn-ea"/>
              <a:cs typeface="+mn-cs"/>
            </a:endParaRPr>
          </a:p>
        </p:txBody>
      </p:sp>
      <p:sp>
        <p:nvSpPr>
          <p:cNvPr id="6" name="内容占位符 5"/>
          <p:cNvSpPr>
            <a:spLocks noGrp="1"/>
          </p:cNvSpPr>
          <p:nvPr>
            <p:ph idx="1"/>
          </p:nvPr>
        </p:nvSpPr>
        <p:spPr>
          <a:xfrm>
            <a:off x="1483043" y="1295400"/>
            <a:ext cx="7051357" cy="3380424"/>
          </a:xfrm>
        </p:spPr>
        <p:txBody>
          <a:bodyPr>
            <a:normAutofit/>
          </a:bodyPr>
          <a:lstStyle/>
          <a:p>
            <a:pPr lvl="1">
              <a:lnSpc>
                <a:spcPct val="110000"/>
              </a:lnSpc>
              <a:spcBef>
                <a:spcPts val="900"/>
              </a:spcBef>
              <a:spcAft>
                <a:spcPts val="0"/>
              </a:spcAft>
              <a:buClr>
                <a:schemeClr val="accent2"/>
              </a:buClr>
              <a:buSzPct val="50000"/>
              <a:buFont typeface="Wingdings 2" panose="05020102010507070707" pitchFamily="18" charset="2"/>
              <a:buChar char=""/>
            </a:pPr>
            <a:r>
              <a:rPr lang="en-US" altLang="zh-CN" sz="2300" dirty="0" err="1" smtClean="0">
                <a:solidFill>
                  <a:schemeClr val="accent1"/>
                </a:solidFill>
                <a:latin typeface="楷体" panose="02010609060101010101" charset="-122"/>
                <a:ea typeface="楷体" panose="02010609060101010101" charset="-122"/>
              </a:rPr>
              <a:t>汽车空调的核心部件是空调的压缩机，它负责将低压的气态制冷剂吸入，加压为高压的气态制冷剂排出，为制冷剂的循环流动提供动力</a:t>
            </a:r>
            <a:r>
              <a:rPr lang="en-US" altLang="zh-CN" sz="2300" dirty="0" smtClean="0">
                <a:solidFill>
                  <a:schemeClr val="accent1"/>
                </a:solidFill>
                <a:latin typeface="楷体" panose="02010609060101010101" charset="-122"/>
                <a:ea typeface="楷体" panose="02010609060101010101" charset="-122"/>
              </a:rPr>
              <a:t>。</a:t>
            </a:r>
          </a:p>
          <a:p>
            <a:pPr lvl="1">
              <a:lnSpc>
                <a:spcPct val="110000"/>
              </a:lnSpc>
              <a:spcBef>
                <a:spcPts val="900"/>
              </a:spcBef>
              <a:spcAft>
                <a:spcPts val="0"/>
              </a:spcAft>
              <a:buClr>
                <a:schemeClr val="accent2"/>
              </a:buClr>
              <a:buSzPct val="50000"/>
              <a:buFont typeface="Wingdings 2" panose="05020102010507070707" pitchFamily="18" charset="2"/>
              <a:buChar char=""/>
            </a:pPr>
            <a:r>
              <a:rPr lang="zh-CN" altLang="en-US" sz="2300" dirty="0" smtClean="0">
                <a:solidFill>
                  <a:schemeClr val="accent1"/>
                </a:solidFill>
                <a:latin typeface="楷体" panose="02010609060101010101" charset="-122"/>
                <a:ea typeface="楷体" panose="02010609060101010101" charset="-122"/>
              </a:rPr>
              <a:t>制冷循环中，</a:t>
            </a:r>
            <a:r>
              <a:rPr lang="en-US" altLang="zh-CN" sz="2300" dirty="0" smtClean="0">
                <a:solidFill>
                  <a:schemeClr val="accent1"/>
                </a:solidFill>
                <a:latin typeface="楷体" panose="02010609060101010101" charset="-122"/>
                <a:ea typeface="楷体" panose="02010609060101010101" charset="-122"/>
              </a:rPr>
              <a:t>在发动机舱内，制冷剂由气态变为液态，这个过程中制冷剂要放出热量；而在车内，制冷剂由液态变为气态，这个过程中制冷剂吸收热量，从而降低车内的温度。</a:t>
            </a:r>
            <a:r>
              <a:rPr lang="en-US" altLang="zh-CN" sz="2500" dirty="0" smtClean="0">
                <a:solidFill>
                  <a:schemeClr val="accent1"/>
                </a:solidFill>
                <a:latin typeface="楷体" panose="02010609060101010101" charset="-122"/>
                <a:ea typeface="楷体" panose="02010609060101010101" charset="-122"/>
              </a:rPr>
              <a:t> </a:t>
            </a:r>
          </a:p>
          <a:p>
            <a:endParaRPr lang="zh-CN" altLang="en-US" b="0" dirty="0" smtClean="0">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53052" y="715091"/>
            <a:ext cx="8215313" cy="596503"/>
          </a:xfrm>
        </p:spPr>
        <p:txBody>
          <a:bodyPr>
            <a:normAutofit/>
          </a:bodyPr>
          <a:lstStyle/>
          <a:p>
            <a:r>
              <a:rPr lang="zh-CN" altLang="en-US" b="1" spc="150" dirty="0" smtClean="0">
                <a:latin typeface="楷体" panose="02010609060101010101" charset="-122"/>
                <a:ea typeface="楷体" panose="02010609060101010101" charset="-122"/>
                <a:cs typeface="+mn-cs"/>
                <a:sym typeface="+mn-ea"/>
              </a:rPr>
              <a:t>汽车空调系统概述</a:t>
            </a:r>
          </a:p>
        </p:txBody>
      </p:sp>
      <p:pic>
        <p:nvPicPr>
          <p:cNvPr id="4" name="内容占位符 3" descr="1"/>
          <p:cNvPicPr>
            <a:picLocks noGrp="1" noChangeAspect="1"/>
          </p:cNvPicPr>
          <p:nvPr>
            <p:ph idx="1"/>
          </p:nvPr>
        </p:nvPicPr>
        <p:blipFill>
          <a:blip r:embed="rId2" cstate="print"/>
          <a:stretch>
            <a:fillRect/>
          </a:stretch>
        </p:blipFill>
        <p:spPr>
          <a:xfrm>
            <a:off x="1553052" y="1311593"/>
            <a:ext cx="5670233" cy="3742373"/>
          </a:xfrm>
          <a:prstGeom prst="rect">
            <a:avLst/>
          </a:prstGeom>
        </p:spPr>
      </p:pic>
      <p:sp>
        <p:nvSpPr>
          <p:cNvPr id="5" name="灯片编号占位符 4"/>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4</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695451" y="1057275"/>
            <a:ext cx="5643844" cy="3889728"/>
          </a:xfrm>
          <a:prstGeom prst="rect">
            <a:avLst/>
          </a:prstGeom>
          <a:noFill/>
          <a:ln w="9525">
            <a:noFill/>
            <a:miter lim="800000"/>
            <a:headEnd/>
            <a:tailEnd/>
          </a:ln>
        </p:spPr>
      </p:pic>
      <p:sp>
        <p:nvSpPr>
          <p:cNvPr id="19458" name="标题 1"/>
          <p:cNvSpPr>
            <a:spLocks noGrp="1"/>
          </p:cNvSpPr>
          <p:nvPr>
            <p:ph type="title"/>
          </p:nvPr>
        </p:nvSpPr>
        <p:spPr>
          <a:xfrm>
            <a:off x="1561148" y="720568"/>
            <a:ext cx="4473893" cy="589121"/>
          </a:xfrm>
          <a:noFill/>
        </p:spPr>
        <p:txBody>
          <a:bodyPr vert="horz" wrap="square" lIns="68579" tIns="34289" rIns="68579" bIns="34289" anchor="ctr">
            <a:normAutofit/>
          </a:bodyPr>
          <a:lstStyle/>
          <a:p>
            <a:pPr algn="l"/>
            <a:r>
              <a:rPr lang="zh-CN" altLang="en-US" b="1" spc="150" dirty="0" smtClean="0">
                <a:latin typeface="楷体" panose="02010609060101010101" charset="-122"/>
                <a:ea typeface="楷体" panose="02010609060101010101" charset="-122"/>
                <a:cs typeface="+mn-cs"/>
                <a:sym typeface="+mn-ea"/>
              </a:rPr>
              <a:t>汽车空调制冷循环</a:t>
            </a: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5</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25"/>
          <p:cNvSpPr>
            <a:spLocks noGrp="1"/>
          </p:cNvSpPr>
          <p:nvPr>
            <p:ph type="sldNum" sz="quarter" idx="12"/>
          </p:nvPr>
        </p:nvSpPr>
        <p:spPr>
          <a:prstGeom prst="rect">
            <a:avLst/>
          </a:prstGeom>
        </p:spPr>
        <p:txBody>
          <a:bodyPr/>
          <a:lstStyle/>
          <a:p>
            <a:pPr>
              <a:defRPr/>
            </a:pPr>
            <a:fld id="{96B2F9F3-2D6E-447C-92BD-471A0AE1828C}" type="slidenum">
              <a:rPr lang="zh-CN" altLang="en-US" smtClean="0">
                <a:latin typeface="+mn-lt"/>
                <a:ea typeface="+mn-ea"/>
                <a:cs typeface="+mn-cs"/>
              </a:rPr>
              <a:pPr>
                <a:defRPr/>
              </a:pPr>
              <a:t>6</a:t>
            </a:fld>
            <a:endParaRPr lang="zh-CN" altLang="en-US" dirty="0">
              <a:latin typeface="+mn-lt"/>
              <a:ea typeface="+mn-ea"/>
              <a:cs typeface="+mn-cs"/>
            </a:endParaRPr>
          </a:p>
        </p:txBody>
      </p:sp>
      <p:sp>
        <p:nvSpPr>
          <p:cNvPr id="23555" name="AutoShape 31"/>
          <p:cNvSpPr/>
          <p:nvPr/>
        </p:nvSpPr>
        <p:spPr>
          <a:xfrm>
            <a:off x="1403749" y="1796653"/>
            <a:ext cx="1953815" cy="498872"/>
          </a:xfrm>
          <a:prstGeom prst="roundRect">
            <a:avLst>
              <a:gd name="adj" fmla="val 50000"/>
            </a:avLst>
          </a:prstGeom>
          <a:noFill/>
          <a:ln w="19050" cap="rnd" cmpd="sng">
            <a:solidFill>
              <a:schemeClr val="accent1"/>
            </a:solidFill>
            <a:prstDash val="sysDot"/>
            <a:headEnd type="none" w="med" len="med"/>
            <a:tailEnd type="none" w="med" len="med"/>
          </a:ln>
        </p:spPr>
        <p:txBody>
          <a:bodyPr wrap="none" lIns="68579" tIns="34289" rIns="68579" bIns="34289" anchor="ctr"/>
          <a:lstStyle/>
          <a:p>
            <a:pPr lvl="0" eaLnBrk="1" hangingPunct="1"/>
            <a:endParaRPr lang="zh-CN" altLang="en-US" dirty="0">
              <a:solidFill>
                <a:schemeClr val="accent1"/>
              </a:solidFill>
              <a:latin typeface="Arial" panose="020B0604020202020204" pitchFamily="34" charset="0"/>
              <a:ea typeface="黑体" panose="02010609060101010101" pitchFamily="49" charset="-122"/>
            </a:endParaRPr>
          </a:p>
        </p:txBody>
      </p:sp>
      <p:sp>
        <p:nvSpPr>
          <p:cNvPr id="23556" name="AutoShape 31"/>
          <p:cNvSpPr/>
          <p:nvPr/>
        </p:nvSpPr>
        <p:spPr>
          <a:xfrm>
            <a:off x="2895601" y="1796653"/>
            <a:ext cx="1952625" cy="498872"/>
          </a:xfrm>
          <a:prstGeom prst="roundRect">
            <a:avLst>
              <a:gd name="adj" fmla="val 50000"/>
            </a:avLst>
          </a:prstGeom>
          <a:noFill/>
          <a:ln w="19050" cap="rnd" cmpd="sng">
            <a:solidFill>
              <a:schemeClr val="accent1"/>
            </a:solidFill>
            <a:prstDash val="sysDot"/>
            <a:headEnd type="none" w="med" len="med"/>
            <a:tailEnd type="none" w="med" len="med"/>
          </a:ln>
        </p:spPr>
        <p:txBody>
          <a:bodyPr wrap="none" lIns="68579" tIns="34289" rIns="68579" bIns="34289" anchor="ctr"/>
          <a:lstStyle/>
          <a:p>
            <a:pPr lvl="0" eaLnBrk="1" hangingPunct="1"/>
            <a:endParaRPr lang="zh-CN" altLang="en-US" dirty="0">
              <a:solidFill>
                <a:schemeClr val="accent1"/>
              </a:solidFill>
              <a:latin typeface="Arial" panose="020B0604020202020204" pitchFamily="34" charset="0"/>
              <a:ea typeface="黑体" panose="02010609060101010101" pitchFamily="49" charset="-122"/>
            </a:endParaRPr>
          </a:p>
        </p:txBody>
      </p:sp>
      <p:sp>
        <p:nvSpPr>
          <p:cNvPr id="23557" name="AutoShape 31"/>
          <p:cNvSpPr/>
          <p:nvPr/>
        </p:nvSpPr>
        <p:spPr>
          <a:xfrm>
            <a:off x="4379119" y="1796653"/>
            <a:ext cx="1953816" cy="498872"/>
          </a:xfrm>
          <a:prstGeom prst="roundRect">
            <a:avLst>
              <a:gd name="adj" fmla="val 50000"/>
            </a:avLst>
          </a:prstGeom>
          <a:noFill/>
          <a:ln w="19050" cap="rnd" cmpd="sng">
            <a:solidFill>
              <a:schemeClr val="accent1"/>
            </a:solidFill>
            <a:prstDash val="sysDot"/>
            <a:headEnd type="none" w="med" len="med"/>
            <a:tailEnd type="none" w="med" len="med"/>
          </a:ln>
        </p:spPr>
        <p:txBody>
          <a:bodyPr wrap="none" lIns="68579" tIns="34289" rIns="68579" bIns="34289" anchor="ctr"/>
          <a:lstStyle/>
          <a:p>
            <a:pPr lvl="0" eaLnBrk="1" hangingPunct="1"/>
            <a:endParaRPr lang="zh-CN" altLang="en-US" dirty="0">
              <a:solidFill>
                <a:schemeClr val="accent1"/>
              </a:solidFill>
              <a:latin typeface="Arial" panose="020B0604020202020204" pitchFamily="34" charset="0"/>
              <a:ea typeface="黑体" panose="02010609060101010101" pitchFamily="49" charset="-122"/>
            </a:endParaRPr>
          </a:p>
        </p:txBody>
      </p:sp>
      <p:sp>
        <p:nvSpPr>
          <p:cNvPr id="23558" name="AutoShape 31"/>
          <p:cNvSpPr/>
          <p:nvPr/>
        </p:nvSpPr>
        <p:spPr>
          <a:xfrm>
            <a:off x="5849543" y="1796653"/>
            <a:ext cx="1953815" cy="498872"/>
          </a:xfrm>
          <a:prstGeom prst="roundRect">
            <a:avLst>
              <a:gd name="adj" fmla="val 50000"/>
            </a:avLst>
          </a:prstGeom>
          <a:noFill/>
          <a:ln w="19050" cap="rnd" cmpd="sng">
            <a:solidFill>
              <a:schemeClr val="accent1"/>
            </a:solidFill>
            <a:prstDash val="sysDot"/>
            <a:headEnd type="none" w="med" len="med"/>
            <a:tailEnd type="none" w="med" len="med"/>
          </a:ln>
        </p:spPr>
        <p:txBody>
          <a:bodyPr wrap="none" lIns="68579" tIns="34289" rIns="68579" bIns="34289" anchor="ctr"/>
          <a:lstStyle/>
          <a:p>
            <a:pPr lvl="0" eaLnBrk="1" hangingPunct="1"/>
            <a:endParaRPr lang="zh-CN" altLang="en-US" dirty="0">
              <a:solidFill>
                <a:schemeClr val="accent1"/>
              </a:solidFill>
              <a:latin typeface="Arial" panose="020B0604020202020204" pitchFamily="34" charset="0"/>
              <a:ea typeface="黑体" panose="02010609060101010101" pitchFamily="49" charset="-122"/>
            </a:endParaRPr>
          </a:p>
        </p:txBody>
      </p:sp>
      <p:sp>
        <p:nvSpPr>
          <p:cNvPr id="17" name="椭圆 16"/>
          <p:cNvSpPr/>
          <p:nvPr/>
        </p:nvSpPr>
        <p:spPr>
          <a:xfrm>
            <a:off x="2883694" y="1801418"/>
            <a:ext cx="490538" cy="489347"/>
          </a:xfrm>
          <a:prstGeom prst="ellipse">
            <a:avLst/>
          </a:prstGeom>
          <a:solidFill>
            <a:schemeClr val="accent1">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rtl="0" eaLnBrk="1" hangingPunct="1">
              <a:spcBef>
                <a:spcPts val="0"/>
              </a:spcBef>
              <a:spcAft>
                <a:spcPts val="0"/>
              </a:spcAft>
              <a:defRPr/>
            </a:pPr>
            <a:endParaRPr lang="zh-CN" altLang="en-US" dirty="0">
              <a:solidFill>
                <a:schemeClr val="accent1"/>
              </a:solidFill>
            </a:endParaRPr>
          </a:p>
        </p:txBody>
      </p:sp>
      <p:sp>
        <p:nvSpPr>
          <p:cNvPr id="18" name="椭圆 17"/>
          <p:cNvSpPr/>
          <p:nvPr/>
        </p:nvSpPr>
        <p:spPr>
          <a:xfrm>
            <a:off x="4368403" y="1801418"/>
            <a:ext cx="490538" cy="489347"/>
          </a:xfrm>
          <a:prstGeom prst="ellipse">
            <a:avLst/>
          </a:prstGeom>
          <a:solidFill>
            <a:schemeClr val="accent1">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rtl="0" eaLnBrk="1" hangingPunct="1">
              <a:spcBef>
                <a:spcPts val="0"/>
              </a:spcBef>
              <a:spcAft>
                <a:spcPts val="0"/>
              </a:spcAft>
              <a:defRPr/>
            </a:pPr>
            <a:endParaRPr lang="zh-CN" altLang="en-US" dirty="0">
              <a:solidFill>
                <a:schemeClr val="accent1"/>
              </a:solidFill>
            </a:endParaRPr>
          </a:p>
        </p:txBody>
      </p:sp>
      <p:sp>
        <p:nvSpPr>
          <p:cNvPr id="19" name="椭圆 18"/>
          <p:cNvSpPr/>
          <p:nvPr/>
        </p:nvSpPr>
        <p:spPr>
          <a:xfrm>
            <a:off x="5845969" y="1801418"/>
            <a:ext cx="490538" cy="489347"/>
          </a:xfrm>
          <a:prstGeom prst="ellipse">
            <a:avLst/>
          </a:prstGeom>
          <a:solidFill>
            <a:schemeClr val="accent1">
              <a:lumMod val="40000"/>
              <a:lumOff val="60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rtl="0" eaLnBrk="1" hangingPunct="1">
              <a:spcBef>
                <a:spcPts val="0"/>
              </a:spcBef>
              <a:spcAft>
                <a:spcPts val="0"/>
              </a:spcAft>
              <a:defRPr/>
            </a:pPr>
            <a:endParaRPr lang="zh-CN" altLang="en-US" dirty="0">
              <a:solidFill>
                <a:schemeClr val="accent1"/>
              </a:solidFill>
            </a:endParaRPr>
          </a:p>
        </p:txBody>
      </p:sp>
      <p:grpSp>
        <p:nvGrpSpPr>
          <p:cNvPr id="23562" name="组合 21"/>
          <p:cNvGrpSpPr/>
          <p:nvPr/>
        </p:nvGrpSpPr>
        <p:grpSpPr>
          <a:xfrm>
            <a:off x="1662114" y="1876426"/>
            <a:ext cx="1437085" cy="1018342"/>
            <a:chOff x="914454" y="2896565"/>
            <a:chExt cx="1141937" cy="809475"/>
          </a:xfrm>
        </p:grpSpPr>
        <p:sp>
          <p:nvSpPr>
            <p:cNvPr id="23572" name="文本框 22"/>
            <p:cNvSpPr txBox="1"/>
            <p:nvPr/>
          </p:nvSpPr>
          <p:spPr>
            <a:xfrm>
              <a:off x="1085638" y="2896565"/>
              <a:ext cx="799569" cy="270544"/>
            </a:xfrm>
            <a:prstGeom prst="rect">
              <a:avLst/>
            </a:prstGeom>
            <a:noFill/>
            <a:ln w="9525">
              <a:noFill/>
              <a:miter/>
            </a:ln>
          </p:spPr>
          <p:txBody>
            <a:bodyPr anchor="ctr"/>
            <a:lstStyle/>
            <a:p>
              <a:pPr lvl="0" algn="ctr" eaLnBrk="1" hangingPunct="1"/>
              <a:r>
                <a:rPr lang="en-US" altLang="zh-CN" dirty="0" err="1" smtClean="0">
                  <a:solidFill>
                    <a:schemeClr val="accent1"/>
                  </a:solidFill>
                  <a:latin typeface="Arial" panose="020B0604020202020204" pitchFamily="34" charset="0"/>
                  <a:ea typeface="黑体" panose="02010609060101010101" pitchFamily="49" charset="-122"/>
                </a:rPr>
                <a:t>曲轴连杆</a:t>
              </a:r>
              <a:r>
                <a:rPr lang="zh-CN" altLang="en-US" dirty="0" smtClean="0">
                  <a:solidFill>
                    <a:schemeClr val="accent1"/>
                  </a:solidFill>
                  <a:latin typeface="Arial" panose="020B0604020202020204" pitchFamily="34" charset="0"/>
                  <a:ea typeface="黑体" panose="02010609060101010101" pitchFamily="49" charset="-122"/>
                </a:rPr>
                <a:t>活塞</a:t>
              </a:r>
              <a:r>
                <a:rPr lang="en-US" altLang="zh-CN" dirty="0" smtClean="0">
                  <a:solidFill>
                    <a:schemeClr val="accent1"/>
                  </a:solidFill>
                  <a:latin typeface="Arial" panose="020B0604020202020204" pitchFamily="34" charset="0"/>
                  <a:ea typeface="黑体" panose="02010609060101010101" pitchFamily="49" charset="-122"/>
                </a:rPr>
                <a:t>式</a:t>
              </a:r>
              <a:endParaRPr lang="en-US" altLang="zh-CN" dirty="0">
                <a:solidFill>
                  <a:schemeClr val="accent1"/>
                </a:solidFill>
                <a:latin typeface="Arial" panose="020B0604020202020204" pitchFamily="34" charset="0"/>
                <a:ea typeface="黑体" panose="02010609060101010101" pitchFamily="49" charset="-122"/>
              </a:endParaRPr>
            </a:p>
          </p:txBody>
        </p:sp>
        <p:sp>
          <p:nvSpPr>
            <p:cNvPr id="23573" name="文本框 23"/>
            <p:cNvSpPr txBox="1"/>
            <p:nvPr/>
          </p:nvSpPr>
          <p:spPr>
            <a:xfrm>
              <a:off x="914454" y="3427139"/>
              <a:ext cx="1141937" cy="278901"/>
            </a:xfrm>
            <a:prstGeom prst="rect">
              <a:avLst/>
            </a:prstGeom>
            <a:noFill/>
            <a:ln w="9525">
              <a:noFill/>
              <a:miter/>
            </a:ln>
          </p:spPr>
          <p:txBody>
            <a:bodyPr>
              <a:spAutoFit/>
            </a:bodyPr>
            <a:lstStyle/>
            <a:p>
              <a:pPr lvl="0" algn="ctr" eaLnBrk="1" hangingPunct="1">
                <a:lnSpc>
                  <a:spcPct val="120000"/>
                </a:lnSpc>
              </a:pPr>
              <a:endParaRPr lang="zh-CN" altLang="en-US" dirty="0">
                <a:solidFill>
                  <a:schemeClr val="accent1"/>
                </a:solidFill>
                <a:latin typeface="Arial" panose="020B0604020202020204" pitchFamily="34" charset="0"/>
                <a:ea typeface="黑体" panose="02010609060101010101" pitchFamily="49" charset="-122"/>
              </a:endParaRPr>
            </a:p>
          </p:txBody>
        </p:sp>
      </p:grpSp>
      <p:grpSp>
        <p:nvGrpSpPr>
          <p:cNvPr id="23563" name="组合 27"/>
          <p:cNvGrpSpPr/>
          <p:nvPr/>
        </p:nvGrpSpPr>
        <p:grpSpPr>
          <a:xfrm>
            <a:off x="3153966" y="1813323"/>
            <a:ext cx="1435894" cy="1080723"/>
            <a:chOff x="2169164" y="2847171"/>
            <a:chExt cx="1141937" cy="858776"/>
          </a:xfrm>
        </p:grpSpPr>
        <p:sp>
          <p:nvSpPr>
            <p:cNvPr id="23570" name="文本框 28"/>
            <p:cNvSpPr txBox="1"/>
            <p:nvPr/>
          </p:nvSpPr>
          <p:spPr>
            <a:xfrm>
              <a:off x="2301475" y="2847171"/>
              <a:ext cx="877694" cy="369360"/>
            </a:xfrm>
            <a:prstGeom prst="rect">
              <a:avLst/>
            </a:prstGeom>
            <a:noFill/>
            <a:ln w="9525">
              <a:noFill/>
              <a:miter/>
            </a:ln>
          </p:spPr>
          <p:txBody>
            <a:bodyPr anchor="ctr"/>
            <a:lstStyle/>
            <a:p>
              <a:pPr lvl="0" algn="ctr" eaLnBrk="1" hangingPunct="1"/>
              <a:r>
                <a:rPr lang="zh-CN" altLang="en-US" dirty="0" smtClean="0">
                  <a:solidFill>
                    <a:schemeClr val="accent2"/>
                  </a:solidFill>
                  <a:latin typeface="Arial" panose="020B0604020202020204" pitchFamily="34" charset="0"/>
                  <a:ea typeface="黑体" panose="02010609060101010101" pitchFamily="49" charset="-122"/>
                </a:rPr>
                <a:t>斜盘</a:t>
              </a:r>
              <a:r>
                <a:rPr lang="en-US" altLang="zh-CN" dirty="0" err="1" smtClean="0">
                  <a:solidFill>
                    <a:schemeClr val="accent2"/>
                  </a:solidFill>
                  <a:latin typeface="Arial" panose="020B0604020202020204" pitchFamily="34" charset="0"/>
                  <a:ea typeface="黑体" panose="02010609060101010101" pitchFamily="49" charset="-122"/>
                </a:rPr>
                <a:t>活塞</a:t>
              </a:r>
              <a:r>
                <a:rPr lang="zh-CN" altLang="en-US" dirty="0" smtClean="0">
                  <a:solidFill>
                    <a:schemeClr val="accent2"/>
                  </a:solidFill>
                  <a:latin typeface="Arial" panose="020B0604020202020204" pitchFamily="34" charset="0"/>
                  <a:ea typeface="黑体" panose="02010609060101010101" pitchFamily="49" charset="-122"/>
                </a:rPr>
                <a:t>式</a:t>
              </a:r>
              <a:endParaRPr lang="en-US" altLang="zh-CN" dirty="0">
                <a:solidFill>
                  <a:schemeClr val="accent2"/>
                </a:solidFill>
                <a:latin typeface="Arial" panose="020B0604020202020204" pitchFamily="34" charset="0"/>
                <a:ea typeface="黑体" panose="02010609060101010101" pitchFamily="49" charset="-122"/>
              </a:endParaRPr>
            </a:p>
          </p:txBody>
        </p:sp>
        <p:sp>
          <p:nvSpPr>
            <p:cNvPr id="23571" name="文本框 29"/>
            <p:cNvSpPr txBox="1"/>
            <p:nvPr/>
          </p:nvSpPr>
          <p:spPr>
            <a:xfrm>
              <a:off x="2169164" y="3427139"/>
              <a:ext cx="1141937" cy="278808"/>
            </a:xfrm>
            <a:prstGeom prst="rect">
              <a:avLst/>
            </a:prstGeom>
            <a:noFill/>
            <a:ln w="9525">
              <a:noFill/>
              <a:miter/>
            </a:ln>
          </p:spPr>
          <p:txBody>
            <a:bodyPr>
              <a:spAutoFit/>
            </a:bodyPr>
            <a:lstStyle/>
            <a:p>
              <a:pPr lvl="0" algn="ctr" eaLnBrk="1" hangingPunct="1">
                <a:lnSpc>
                  <a:spcPct val="120000"/>
                </a:lnSpc>
              </a:pPr>
              <a:endParaRPr lang="zh-CN" altLang="en-US" dirty="0">
                <a:solidFill>
                  <a:schemeClr val="accent2"/>
                </a:solidFill>
                <a:latin typeface="Arial" panose="020B0604020202020204" pitchFamily="34" charset="0"/>
                <a:ea typeface="黑体" panose="02010609060101010101" pitchFamily="49" charset="-122"/>
              </a:endParaRPr>
            </a:p>
          </p:txBody>
        </p:sp>
      </p:grpSp>
      <p:grpSp>
        <p:nvGrpSpPr>
          <p:cNvPr id="23564" name="组合 30"/>
          <p:cNvGrpSpPr/>
          <p:nvPr/>
        </p:nvGrpSpPr>
        <p:grpSpPr>
          <a:xfrm>
            <a:off x="4624150" y="1826181"/>
            <a:ext cx="1437084" cy="1080648"/>
            <a:chOff x="3405402" y="2847171"/>
            <a:chExt cx="1141937" cy="858807"/>
          </a:xfrm>
        </p:grpSpPr>
        <p:sp>
          <p:nvSpPr>
            <p:cNvPr id="32" name="文本框 31"/>
            <p:cNvSpPr txBox="1"/>
            <p:nvPr/>
          </p:nvSpPr>
          <p:spPr>
            <a:xfrm>
              <a:off x="3540631" y="2847171"/>
              <a:ext cx="892610" cy="372932"/>
            </a:xfrm>
            <a:prstGeom prst="rect">
              <a:avLst/>
            </a:prstGeom>
            <a:noFill/>
          </p:spPr>
          <p:txBody>
            <a:bodyPr wrap="square" rtlCol="0" anchor="ctr" anchorCtr="0">
              <a:normAutofit/>
            </a:bodyPr>
            <a:lstStyle/>
            <a:p>
              <a:pPr algn="ctr" rtl="0" eaLnBrk="1" hangingPunct="1">
                <a:spcBef>
                  <a:spcPts val="0"/>
                </a:spcBef>
                <a:spcAft>
                  <a:spcPts val="0"/>
                </a:spcAft>
                <a:defRPr/>
              </a:pPr>
              <a:r>
                <a:rPr lang="en-US" altLang="zh-CN" dirty="0" smtClean="0">
                  <a:solidFill>
                    <a:schemeClr val="accent3"/>
                  </a:solidFill>
                  <a:latin typeface="+mn-lt"/>
                  <a:ea typeface="+mn-ea"/>
                  <a:cs typeface="+mn-cs"/>
                </a:rPr>
                <a:t>旋转叶片式</a:t>
              </a:r>
            </a:p>
          </p:txBody>
        </p:sp>
        <p:sp>
          <p:nvSpPr>
            <p:cNvPr id="33" name="文本框 32"/>
            <p:cNvSpPr txBox="1"/>
            <p:nvPr/>
          </p:nvSpPr>
          <p:spPr>
            <a:xfrm>
              <a:off x="3405402" y="3427140"/>
              <a:ext cx="1141937" cy="278838"/>
            </a:xfrm>
            <a:prstGeom prst="rect">
              <a:avLst/>
            </a:prstGeom>
            <a:noFill/>
          </p:spPr>
          <p:txBody>
            <a:bodyPr wrap="square" rtlCol="0">
              <a:spAutoFit/>
            </a:bodyPr>
            <a:lstStyle/>
            <a:p>
              <a:pPr algn="ctr" rtl="0" eaLnBrk="1" hangingPunct="1">
                <a:lnSpc>
                  <a:spcPct val="120000"/>
                </a:lnSpc>
                <a:spcBef>
                  <a:spcPts val="0"/>
                </a:spcBef>
                <a:spcAft>
                  <a:spcPts val="0"/>
                </a:spcAft>
                <a:defRPr/>
              </a:pPr>
              <a:endParaRPr lang="zh-CN" altLang="en-US" dirty="0">
                <a:solidFill>
                  <a:schemeClr val="accent3"/>
                </a:solidFill>
                <a:latin typeface="+mn-lt"/>
                <a:ea typeface="+mn-ea"/>
                <a:cs typeface="+mn-cs"/>
              </a:endParaRPr>
            </a:p>
          </p:txBody>
        </p:sp>
      </p:grpSp>
      <p:grpSp>
        <p:nvGrpSpPr>
          <p:cNvPr id="23565" name="组合 33"/>
          <p:cNvGrpSpPr/>
          <p:nvPr/>
        </p:nvGrpSpPr>
        <p:grpSpPr>
          <a:xfrm>
            <a:off x="6107908" y="1813323"/>
            <a:ext cx="1437085" cy="1080723"/>
            <a:chOff x="4641640" y="2847171"/>
            <a:chExt cx="1141937" cy="858776"/>
          </a:xfrm>
        </p:grpSpPr>
        <p:sp>
          <p:nvSpPr>
            <p:cNvPr id="23566" name="文本框 34"/>
            <p:cNvSpPr txBox="1"/>
            <p:nvPr/>
          </p:nvSpPr>
          <p:spPr>
            <a:xfrm>
              <a:off x="4812824" y="2847171"/>
              <a:ext cx="799569" cy="369332"/>
            </a:xfrm>
            <a:prstGeom prst="rect">
              <a:avLst/>
            </a:prstGeom>
            <a:noFill/>
            <a:ln w="9525">
              <a:noFill/>
              <a:miter/>
            </a:ln>
          </p:spPr>
          <p:txBody>
            <a:bodyPr anchor="ctr"/>
            <a:lstStyle/>
            <a:p>
              <a:pPr lvl="0" algn="ctr" eaLnBrk="1" hangingPunct="1"/>
              <a:r>
                <a:rPr lang="en-US" altLang="zh-CN" dirty="0">
                  <a:solidFill>
                    <a:schemeClr val="accent1"/>
                  </a:solidFill>
                  <a:latin typeface="Arial" panose="020B0604020202020204" pitchFamily="34" charset="0"/>
                  <a:ea typeface="黑体" panose="02010609060101010101" pitchFamily="49" charset="-122"/>
                </a:rPr>
                <a:t>涡旋式</a:t>
              </a:r>
            </a:p>
          </p:txBody>
        </p:sp>
        <p:sp>
          <p:nvSpPr>
            <p:cNvPr id="23567" name="文本框 35"/>
            <p:cNvSpPr txBox="1"/>
            <p:nvPr/>
          </p:nvSpPr>
          <p:spPr>
            <a:xfrm>
              <a:off x="4641640" y="3427139"/>
              <a:ext cx="1141937" cy="278808"/>
            </a:xfrm>
            <a:prstGeom prst="rect">
              <a:avLst/>
            </a:prstGeom>
            <a:noFill/>
            <a:ln w="9525">
              <a:noFill/>
              <a:miter/>
            </a:ln>
          </p:spPr>
          <p:txBody>
            <a:bodyPr>
              <a:spAutoFit/>
            </a:bodyPr>
            <a:lstStyle/>
            <a:p>
              <a:pPr lvl="0" algn="ctr" eaLnBrk="1" hangingPunct="1">
                <a:lnSpc>
                  <a:spcPct val="120000"/>
                </a:lnSpc>
              </a:pPr>
              <a:endParaRPr lang="zh-CN" altLang="en-US" dirty="0">
                <a:solidFill>
                  <a:schemeClr val="accent1"/>
                </a:solidFill>
                <a:latin typeface="Arial" panose="020B0604020202020204" pitchFamily="34" charset="0"/>
                <a:ea typeface="黑体" panose="02010609060101010101" pitchFamily="49" charset="-122"/>
              </a:endParaRPr>
            </a:p>
          </p:txBody>
        </p:sp>
      </p:grpSp>
      <p:pic>
        <p:nvPicPr>
          <p:cNvPr id="2" name="图片 1" descr="5"/>
          <p:cNvPicPr>
            <a:picLocks noChangeAspect="1"/>
          </p:cNvPicPr>
          <p:nvPr/>
        </p:nvPicPr>
        <p:blipFill>
          <a:blip r:embed="rId2" cstate="print"/>
          <a:stretch>
            <a:fillRect/>
          </a:stretch>
        </p:blipFill>
        <p:spPr>
          <a:xfrm>
            <a:off x="6107908" y="2556035"/>
            <a:ext cx="1779746" cy="1323023"/>
          </a:xfrm>
          <a:prstGeom prst="rect">
            <a:avLst/>
          </a:prstGeom>
        </p:spPr>
      </p:pic>
      <p:pic>
        <p:nvPicPr>
          <p:cNvPr id="3" name="图片 2" descr="2"/>
          <p:cNvPicPr>
            <a:picLocks noChangeAspect="1"/>
          </p:cNvPicPr>
          <p:nvPr/>
        </p:nvPicPr>
        <p:blipFill>
          <a:blip r:embed="rId3" cstate="print"/>
          <a:srcRect l="24671" b="20700"/>
          <a:stretch>
            <a:fillRect/>
          </a:stretch>
        </p:blipFill>
        <p:spPr>
          <a:xfrm>
            <a:off x="4590099" y="2556034"/>
            <a:ext cx="1410176" cy="1299210"/>
          </a:xfrm>
          <a:prstGeom prst="rect">
            <a:avLst/>
          </a:prstGeom>
        </p:spPr>
      </p:pic>
      <p:pic>
        <p:nvPicPr>
          <p:cNvPr id="5" name="图片 4" descr="3"/>
          <p:cNvPicPr>
            <a:picLocks noChangeAspect="1"/>
          </p:cNvPicPr>
          <p:nvPr/>
        </p:nvPicPr>
        <p:blipFill>
          <a:blip r:embed="rId4" cstate="print"/>
          <a:stretch>
            <a:fillRect/>
          </a:stretch>
        </p:blipFill>
        <p:spPr>
          <a:xfrm>
            <a:off x="2895125" y="2569846"/>
            <a:ext cx="1729264" cy="1285399"/>
          </a:xfrm>
          <a:prstGeom prst="rect">
            <a:avLst/>
          </a:prstGeom>
        </p:spPr>
      </p:pic>
      <p:pic>
        <p:nvPicPr>
          <p:cNvPr id="6" name="图片 5" descr="4"/>
          <p:cNvPicPr>
            <a:picLocks noChangeAspect="1"/>
          </p:cNvPicPr>
          <p:nvPr/>
        </p:nvPicPr>
        <p:blipFill>
          <a:blip r:embed="rId5" cstate="print"/>
          <a:stretch>
            <a:fillRect/>
          </a:stretch>
        </p:blipFill>
        <p:spPr>
          <a:xfrm>
            <a:off x="1487806" y="2381727"/>
            <a:ext cx="1337786" cy="1672114"/>
          </a:xfrm>
          <a:prstGeom prst="rect">
            <a:avLst/>
          </a:prstGeom>
        </p:spPr>
      </p:pic>
      <p:sp>
        <p:nvSpPr>
          <p:cNvPr id="27" name="标题 1"/>
          <p:cNvSpPr txBox="1"/>
          <p:nvPr/>
        </p:nvSpPr>
        <p:spPr>
          <a:xfrm>
            <a:off x="1561148" y="720568"/>
            <a:ext cx="4473893" cy="589121"/>
          </a:xfrm>
          <a:prstGeom prst="rect">
            <a:avLst/>
          </a:prstGeom>
          <a:noFill/>
          <a:ln w="9525">
            <a:noFill/>
            <a:miter/>
          </a:ln>
        </p:spPr>
        <p:txBody>
          <a:bodyPr vert="horz" wrap="square" lIns="68579" tIns="34289" rIns="68579" bIns="34289" anchor="ctr">
            <a:normAutofit/>
          </a:bodyPr>
          <a:lstStyle/>
          <a:p>
            <a:pPr lvl="0" defTabSz="513715" rtl="0" eaLnBrk="1" fontAlgn="auto" hangingPunct="1">
              <a:lnSpc>
                <a:spcPct val="90000"/>
              </a:lnSpc>
              <a:spcAft>
                <a:spcPts val="0"/>
              </a:spcAft>
            </a:pPr>
            <a:r>
              <a:rPr lang="zh-CN" altLang="zh-CN" sz="2400" b="1" dirty="0" smtClean="0">
                <a:solidFill>
                  <a:srgbClr val="0070C0"/>
                </a:solidFill>
                <a:latin typeface="楷体" panose="02010609060101010101" charset="-122"/>
                <a:ea typeface="楷体" panose="02010609060101010101" charset="-122"/>
              </a:rPr>
              <a:t>常见</a:t>
            </a:r>
            <a:r>
              <a:rPr lang="zh-CN" altLang="en-US" sz="2400" b="1" dirty="0" smtClean="0">
                <a:solidFill>
                  <a:srgbClr val="0070C0"/>
                </a:solidFill>
                <a:latin typeface="楷体" panose="02010609060101010101" charset="-122"/>
                <a:ea typeface="楷体" panose="02010609060101010101" charset="-122"/>
              </a:rPr>
              <a:t>车用空调</a:t>
            </a:r>
            <a:r>
              <a:rPr lang="zh-CN" altLang="zh-CN" sz="2400" b="1" dirty="0" smtClean="0">
                <a:solidFill>
                  <a:srgbClr val="0070C0"/>
                </a:solidFill>
                <a:latin typeface="楷体" panose="02010609060101010101" charset="-122"/>
                <a:ea typeface="楷体" panose="02010609060101010101" charset="-122"/>
              </a:rPr>
              <a:t>压缩机种类</a:t>
            </a:r>
            <a:endParaRPr kumimoji="0" lang="zh-CN" altLang="en-US" sz="2400" b="1" i="0" u="none" strike="noStrike" kern="1200" cap="none" spc="150" normalizeH="0" baseline="0" noProof="0" dirty="0" smtClean="0">
              <a:ln>
                <a:noFill/>
              </a:ln>
              <a:solidFill>
                <a:srgbClr val="0070C0"/>
              </a:solidFill>
              <a:effectLst/>
              <a:uLnTx/>
              <a:uFillTx/>
              <a:latin typeface="楷体" panose="02010609060101010101" charset="-122"/>
              <a:ea typeface="楷体" panose="02010609060101010101" charset="-122"/>
              <a:cs typeface="+mn-cs"/>
              <a:sym typeface="+mn-e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25"/>
          <p:cNvSpPr>
            <a:spLocks noGrp="1"/>
          </p:cNvSpPr>
          <p:nvPr>
            <p:ph type="sldNum" sz="quarter" idx="12"/>
          </p:nvPr>
        </p:nvSpPr>
        <p:spPr>
          <a:prstGeom prst="rect">
            <a:avLst/>
          </a:prstGeom>
        </p:spPr>
        <p:txBody>
          <a:bodyPr/>
          <a:lstStyle/>
          <a:p>
            <a:pPr>
              <a:defRPr/>
            </a:pPr>
            <a:fld id="{96B2F9F3-2D6E-447C-92BD-471A0AE1828C}" type="slidenum">
              <a:rPr lang="zh-CN" altLang="en-US" smtClean="0">
                <a:latin typeface="+mn-lt"/>
                <a:ea typeface="+mn-ea"/>
                <a:cs typeface="+mn-cs"/>
              </a:rPr>
              <a:pPr>
                <a:defRPr/>
              </a:pPr>
              <a:t>7</a:t>
            </a:fld>
            <a:endParaRPr lang="zh-CN" altLang="en-US" dirty="0">
              <a:latin typeface="+mn-lt"/>
              <a:ea typeface="+mn-ea"/>
              <a:cs typeface="+mn-cs"/>
            </a:endParaRPr>
          </a:p>
        </p:txBody>
      </p:sp>
      <p:sp>
        <p:nvSpPr>
          <p:cNvPr id="23573" name="文本框 23"/>
          <p:cNvSpPr txBox="1"/>
          <p:nvPr/>
        </p:nvSpPr>
        <p:spPr>
          <a:xfrm>
            <a:off x="1662114" y="2543903"/>
            <a:ext cx="1437085" cy="350865"/>
          </a:xfrm>
          <a:prstGeom prst="rect">
            <a:avLst/>
          </a:prstGeom>
          <a:noFill/>
          <a:ln w="9525">
            <a:noFill/>
            <a:miter/>
          </a:ln>
        </p:spPr>
        <p:txBody>
          <a:bodyPr>
            <a:spAutoFit/>
          </a:bodyPr>
          <a:lstStyle/>
          <a:p>
            <a:pPr lvl="0" algn="ctr" eaLnBrk="1" hangingPunct="1">
              <a:lnSpc>
                <a:spcPct val="120000"/>
              </a:lnSpc>
            </a:pPr>
            <a:endParaRPr lang="zh-CN" altLang="en-US" dirty="0">
              <a:solidFill>
                <a:schemeClr val="accent1"/>
              </a:solidFill>
              <a:latin typeface="Arial" panose="020B0604020202020204" pitchFamily="34" charset="0"/>
              <a:ea typeface="黑体" panose="02010609060101010101" pitchFamily="49" charset="-122"/>
            </a:endParaRPr>
          </a:p>
        </p:txBody>
      </p:sp>
      <p:sp>
        <p:nvSpPr>
          <p:cNvPr id="27" name="标题 1"/>
          <p:cNvSpPr txBox="1"/>
          <p:nvPr/>
        </p:nvSpPr>
        <p:spPr>
          <a:xfrm>
            <a:off x="1561148" y="720568"/>
            <a:ext cx="5411152" cy="589121"/>
          </a:xfrm>
          <a:prstGeom prst="rect">
            <a:avLst/>
          </a:prstGeom>
          <a:noFill/>
          <a:ln w="9525">
            <a:noFill/>
            <a:miter/>
          </a:ln>
        </p:spPr>
        <p:txBody>
          <a:bodyPr vert="horz" wrap="square" lIns="68579" tIns="34289" rIns="68579" bIns="34289" anchor="ctr">
            <a:normAutofit/>
          </a:bodyPr>
          <a:lstStyle/>
          <a:p>
            <a:pPr lvl="0" defTabSz="513715" rtl="0" eaLnBrk="1" fontAlgn="auto" hangingPunct="1">
              <a:lnSpc>
                <a:spcPct val="90000"/>
              </a:lnSpc>
              <a:spcAft>
                <a:spcPts val="0"/>
              </a:spcAft>
            </a:pPr>
            <a:r>
              <a:rPr lang="zh-CN" altLang="zh-CN" sz="2400" b="1" dirty="0" smtClean="0">
                <a:solidFill>
                  <a:srgbClr val="0070C0"/>
                </a:solidFill>
                <a:latin typeface="楷体" panose="02010609060101010101" charset="-122"/>
                <a:ea typeface="楷体" panose="02010609060101010101" charset="-122"/>
              </a:rPr>
              <a:t>常见</a:t>
            </a:r>
            <a:r>
              <a:rPr lang="zh-CN" altLang="en-US" sz="2400" b="1" dirty="0" smtClean="0">
                <a:solidFill>
                  <a:srgbClr val="0070C0"/>
                </a:solidFill>
                <a:latin typeface="楷体" panose="02010609060101010101" charset="-122"/>
                <a:ea typeface="楷体" panose="02010609060101010101" charset="-122"/>
              </a:rPr>
              <a:t>车用电动空调</a:t>
            </a:r>
            <a:r>
              <a:rPr lang="zh-CN" altLang="zh-CN" sz="2400" b="1" dirty="0" smtClean="0">
                <a:solidFill>
                  <a:srgbClr val="0070C0"/>
                </a:solidFill>
                <a:latin typeface="楷体" panose="02010609060101010101" charset="-122"/>
                <a:ea typeface="楷体" panose="02010609060101010101" charset="-122"/>
              </a:rPr>
              <a:t>压缩机种类</a:t>
            </a:r>
            <a:endParaRPr kumimoji="0" lang="zh-CN" altLang="en-US" sz="2400" b="1" i="0" u="none" strike="noStrike" kern="1200" cap="none" spc="150" normalizeH="0" baseline="0" noProof="0" dirty="0" smtClean="0">
              <a:ln>
                <a:noFill/>
              </a:ln>
              <a:solidFill>
                <a:srgbClr val="0070C0"/>
              </a:solidFill>
              <a:effectLst/>
              <a:uLnTx/>
              <a:uFillTx/>
              <a:latin typeface="楷体" panose="02010609060101010101" charset="-122"/>
              <a:ea typeface="楷体" panose="02010609060101010101" charset="-122"/>
              <a:cs typeface="+mn-cs"/>
              <a:sym typeface="+mn-ea"/>
            </a:endParaRPr>
          </a:p>
        </p:txBody>
      </p:sp>
      <p:pic>
        <p:nvPicPr>
          <p:cNvPr id="29" name="图片 28"/>
          <p:cNvPicPr>
            <a:picLocks noChangeAspect="1"/>
          </p:cNvPicPr>
          <p:nvPr/>
        </p:nvPicPr>
        <p:blipFill>
          <a:blip r:embed="rId2" cstate="print"/>
          <a:stretch>
            <a:fillRect/>
          </a:stretch>
        </p:blipFill>
        <p:spPr>
          <a:xfrm>
            <a:off x="2584362" y="1220788"/>
            <a:ext cx="2436684" cy="1808161"/>
          </a:xfrm>
          <a:prstGeom prst="rect">
            <a:avLst/>
          </a:prstGeom>
        </p:spPr>
      </p:pic>
      <p:sp>
        <p:nvSpPr>
          <p:cNvPr id="30" name="TextBox 29"/>
          <p:cNvSpPr txBox="1"/>
          <p:nvPr/>
        </p:nvSpPr>
        <p:spPr>
          <a:xfrm>
            <a:off x="1466850" y="1419225"/>
            <a:ext cx="1171575" cy="448071"/>
          </a:xfrm>
          <a:prstGeom prst="rect">
            <a:avLst/>
          </a:prstGeom>
          <a:noFill/>
        </p:spPr>
        <p:txBody>
          <a:bodyPr wrap="square" rtlCol="0">
            <a:spAutoFit/>
          </a:bodyPr>
          <a:lstStyle/>
          <a:p>
            <a:pPr>
              <a:lnSpc>
                <a:spcPct val="130000"/>
              </a:lnSpc>
            </a:pPr>
            <a:r>
              <a:rPr lang="zh-CN" altLang="en-US" sz="2000" dirty="0" smtClean="0">
                <a:solidFill>
                  <a:schemeClr val="accent1"/>
                </a:solidFill>
                <a:latin typeface="楷体" panose="02010609060101010101" charset="-122"/>
                <a:ea typeface="楷体" panose="02010609060101010101" charset="-122"/>
              </a:rPr>
              <a:t>涡旋式</a:t>
            </a:r>
            <a:endParaRPr lang="zh-CN" altLang="en-US" sz="2000" dirty="0" smtClean="0">
              <a:latin typeface="Arial" panose="020B0604020202020204" pitchFamily="34" charset="0"/>
              <a:ea typeface="微软雅黑" panose="020B0503020204020204" pitchFamily="34" charset="-122"/>
            </a:endParaRPr>
          </a:p>
        </p:txBody>
      </p:sp>
      <p:pic>
        <p:nvPicPr>
          <p:cNvPr id="1026" name="Picture 2"/>
          <p:cNvPicPr>
            <a:picLocks noChangeAspect="1" noChangeArrowheads="1"/>
          </p:cNvPicPr>
          <p:nvPr/>
        </p:nvPicPr>
        <p:blipFill>
          <a:blip r:embed="rId3" cstate="print"/>
          <a:srcRect/>
          <a:stretch>
            <a:fillRect/>
          </a:stretch>
        </p:blipFill>
        <p:spPr bwMode="auto">
          <a:xfrm>
            <a:off x="6119813" y="1219199"/>
            <a:ext cx="2462640" cy="1952626"/>
          </a:xfrm>
          <a:prstGeom prst="rect">
            <a:avLst/>
          </a:prstGeom>
          <a:noFill/>
          <a:ln w="9525">
            <a:noFill/>
            <a:miter lim="800000"/>
            <a:headEnd/>
            <a:tailEnd/>
          </a:ln>
        </p:spPr>
      </p:pic>
      <p:sp>
        <p:nvSpPr>
          <p:cNvPr id="34" name="TextBox 33"/>
          <p:cNvSpPr txBox="1"/>
          <p:nvPr/>
        </p:nvSpPr>
        <p:spPr>
          <a:xfrm>
            <a:off x="5257800" y="1495425"/>
            <a:ext cx="1171575" cy="448071"/>
          </a:xfrm>
          <a:prstGeom prst="rect">
            <a:avLst/>
          </a:prstGeom>
          <a:noFill/>
        </p:spPr>
        <p:txBody>
          <a:bodyPr wrap="square" rtlCol="0">
            <a:spAutoFit/>
          </a:bodyPr>
          <a:lstStyle/>
          <a:p>
            <a:pPr>
              <a:lnSpc>
                <a:spcPct val="130000"/>
              </a:lnSpc>
            </a:pPr>
            <a:r>
              <a:rPr lang="zh-CN" altLang="en-US" sz="2000" dirty="0" smtClean="0">
                <a:solidFill>
                  <a:schemeClr val="accent1"/>
                </a:solidFill>
                <a:latin typeface="楷体" panose="02010609060101010101" charset="-122"/>
                <a:ea typeface="楷体" panose="02010609060101010101" charset="-122"/>
              </a:rPr>
              <a:t>旋叶式</a:t>
            </a:r>
            <a:endParaRPr lang="zh-CN" altLang="en-US" sz="2000" dirty="0" smtClean="0">
              <a:latin typeface="Arial" panose="020B0604020202020204" pitchFamily="34" charset="0"/>
              <a:ea typeface="微软雅黑" panose="020B0503020204020204" pitchFamily="34" charset="-122"/>
            </a:endParaRPr>
          </a:p>
        </p:txBody>
      </p:sp>
      <p:sp>
        <p:nvSpPr>
          <p:cNvPr id="35" name="TextBox 34"/>
          <p:cNvSpPr txBox="1"/>
          <p:nvPr/>
        </p:nvSpPr>
        <p:spPr>
          <a:xfrm>
            <a:off x="1428750" y="3429000"/>
            <a:ext cx="1171575" cy="448071"/>
          </a:xfrm>
          <a:prstGeom prst="rect">
            <a:avLst/>
          </a:prstGeom>
          <a:noFill/>
        </p:spPr>
        <p:txBody>
          <a:bodyPr wrap="square" rtlCol="0">
            <a:spAutoFit/>
          </a:bodyPr>
          <a:lstStyle/>
          <a:p>
            <a:pPr>
              <a:lnSpc>
                <a:spcPct val="130000"/>
              </a:lnSpc>
            </a:pPr>
            <a:r>
              <a:rPr lang="zh-CN" altLang="en-US" sz="2000" dirty="0" smtClean="0">
                <a:solidFill>
                  <a:schemeClr val="accent1"/>
                </a:solidFill>
                <a:latin typeface="楷体" panose="02010609060101010101" charset="-122"/>
                <a:ea typeface="楷体" panose="02010609060101010101" charset="-122"/>
              </a:rPr>
              <a:t>转子式</a:t>
            </a:r>
            <a:endParaRPr lang="zh-CN" altLang="en-US" sz="2000" dirty="0" smtClean="0">
              <a:latin typeface="Arial" panose="020B0604020202020204" pitchFamily="34" charset="0"/>
              <a:ea typeface="微软雅黑" panose="020B0503020204020204" pitchFamily="34" charset="-122"/>
            </a:endParaRPr>
          </a:p>
        </p:txBody>
      </p:sp>
      <p:pic>
        <p:nvPicPr>
          <p:cNvPr id="1027" name="Picture 3"/>
          <p:cNvPicPr>
            <a:picLocks noChangeAspect="1" noChangeArrowheads="1"/>
          </p:cNvPicPr>
          <p:nvPr/>
        </p:nvPicPr>
        <p:blipFill>
          <a:blip r:embed="rId4" cstate="print"/>
          <a:srcRect/>
          <a:stretch>
            <a:fillRect/>
          </a:stretch>
        </p:blipFill>
        <p:spPr bwMode="auto">
          <a:xfrm>
            <a:off x="2419350" y="3088790"/>
            <a:ext cx="2724150" cy="17195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descr="涡旋"/>
          <p:cNvPicPr>
            <a:picLocks noGrp="1" noChangeAspect="1"/>
          </p:cNvPicPr>
          <p:nvPr>
            <p:ph idx="1"/>
          </p:nvPr>
        </p:nvPicPr>
        <p:blipFill>
          <a:blip r:embed="rId2" cstate="print"/>
          <a:stretch>
            <a:fillRect/>
          </a:stretch>
        </p:blipFill>
        <p:spPr>
          <a:xfrm>
            <a:off x="2500790" y="860107"/>
            <a:ext cx="3960495" cy="3960495"/>
          </a:xfrm>
          <a:prstGeom prst="rect">
            <a:avLst/>
          </a:prstGeom>
        </p:spPr>
      </p:pic>
      <p:sp>
        <p:nvSpPr>
          <p:cNvPr id="3" name="灯片编号占位符 2"/>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8</a:t>
            </a:fld>
            <a:endParaRPr lang="zh-CN" altLang="en-US" dirty="0">
              <a:latin typeface="+mn-lt"/>
              <a:ea typeface="+mn-ea"/>
              <a:cs typeface="+mn-cs"/>
            </a:endParaRPr>
          </a:p>
        </p:txBody>
      </p:sp>
      <p:sp>
        <p:nvSpPr>
          <p:cNvPr id="7" name="标题 1"/>
          <p:cNvSpPr txBox="1"/>
          <p:nvPr/>
        </p:nvSpPr>
        <p:spPr>
          <a:xfrm>
            <a:off x="1561148" y="720568"/>
            <a:ext cx="4473893" cy="589121"/>
          </a:xfrm>
          <a:prstGeom prst="rect">
            <a:avLst/>
          </a:prstGeom>
          <a:noFill/>
          <a:ln w="9525">
            <a:noFill/>
            <a:miter/>
          </a:ln>
        </p:spPr>
        <p:txBody>
          <a:bodyPr vert="horz" wrap="square" lIns="68579" tIns="34289" rIns="68579" bIns="34289" anchor="ctr">
            <a:normAutofit/>
          </a:bodyPr>
          <a:lstStyle/>
          <a:p>
            <a:pPr lvl="0" defTabSz="513715" rtl="0" eaLnBrk="1" fontAlgn="auto" hangingPunct="1">
              <a:lnSpc>
                <a:spcPct val="90000"/>
              </a:lnSpc>
              <a:spcAft>
                <a:spcPts val="0"/>
              </a:spcAft>
            </a:pPr>
            <a:r>
              <a:rPr lang="zh-CN" altLang="en-US" sz="2400" b="1" dirty="0" smtClean="0">
                <a:solidFill>
                  <a:srgbClr val="0070C0"/>
                </a:solidFill>
                <a:latin typeface="楷体" panose="02010609060101010101" charset="-122"/>
                <a:ea typeface="楷体" panose="02010609060101010101" charset="-122"/>
              </a:rPr>
              <a:t>涡旋压缩机工作原理</a:t>
            </a:r>
            <a:endParaRPr kumimoji="0" lang="zh-CN" altLang="en-US" sz="2400" b="1" i="0" u="none" strike="noStrike" kern="1200" cap="none" spc="150" normalizeH="0" baseline="0" noProof="0" dirty="0" smtClean="0">
              <a:ln>
                <a:noFill/>
              </a:ln>
              <a:solidFill>
                <a:srgbClr val="0070C0"/>
              </a:solidFill>
              <a:effectLst/>
              <a:uLnTx/>
              <a:uFillTx/>
              <a:latin typeface="楷体" panose="02010609060101010101" charset="-122"/>
              <a:ea typeface="楷体" panose="02010609060101010101" charset="-122"/>
              <a:cs typeface="+mn-cs"/>
              <a:sym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lvl="0" indent="0" algn="l" defTabSz="914400" eaLnBrk="0" fontAlgn="base" hangingPunct="0">
              <a:lnSpc>
                <a:spcPct val="100000"/>
              </a:lnSpc>
              <a:spcBef>
                <a:spcPct val="0"/>
              </a:spcBef>
              <a:spcAft>
                <a:spcPct val="0"/>
              </a:spcAft>
              <a:buClrTx/>
              <a:buSzTx/>
              <a:buNone/>
              <a:defRPr/>
            </a:pPr>
            <a:r>
              <a:rPr lang="zh-CN" altLang="en-US" sz="2600" kern="0" dirty="0" smtClean="0">
                <a:solidFill>
                  <a:srgbClr val="0070C0"/>
                </a:solidFill>
                <a:latin typeface="黑体" pitchFamily="2" charset="-122"/>
                <a:ea typeface="黑体" pitchFamily="2" charset="-122"/>
              </a:rPr>
              <a:t>电动压缩机对比</a:t>
            </a: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9</a:t>
            </a:fld>
            <a:endParaRPr lang="zh-CN" altLang="en-US" dirty="0">
              <a:latin typeface="+mn-lt"/>
              <a:ea typeface="+mn-ea"/>
              <a:cs typeface="+mn-cs"/>
            </a:endParaRPr>
          </a:p>
        </p:txBody>
      </p:sp>
      <p:graphicFrame>
        <p:nvGraphicFramePr>
          <p:cNvPr id="5" name="表格 4"/>
          <p:cNvGraphicFramePr>
            <a:graphicFrameLocks noGrp="1"/>
          </p:cNvGraphicFramePr>
          <p:nvPr/>
        </p:nvGraphicFramePr>
        <p:xfrm>
          <a:off x="1476375" y="1117600"/>
          <a:ext cx="6524625" cy="3302000"/>
        </p:xfrm>
        <a:graphic>
          <a:graphicData uri="http://schemas.openxmlformats.org/drawingml/2006/table">
            <a:tbl>
              <a:tblPr firstRow="1" bandRow="1">
                <a:tableStyleId>{5C22544A-7EE6-4342-B048-85BDC9FD1C3A}</a:tableStyleId>
              </a:tblPr>
              <a:tblGrid>
                <a:gridCol w="1276350"/>
                <a:gridCol w="1749425"/>
                <a:gridCol w="1749425"/>
                <a:gridCol w="1749425"/>
              </a:tblGrid>
              <a:tr h="370840">
                <a:tc>
                  <a:txBody>
                    <a:bodyPr/>
                    <a:lstStyle/>
                    <a:p>
                      <a:pPr algn="ctr"/>
                      <a:endParaRPr lang="zh-CN" altLang="en-US" sz="1600" dirty="0"/>
                    </a:p>
                  </a:txBody>
                  <a:tcPr anchor="ctr"/>
                </a:tc>
                <a:tc>
                  <a:txBody>
                    <a:bodyPr/>
                    <a:lstStyle/>
                    <a:p>
                      <a:pPr algn="ctr"/>
                      <a:r>
                        <a:rPr lang="zh-CN" altLang="en-US" sz="1600" dirty="0" smtClean="0"/>
                        <a:t>涡旋式</a:t>
                      </a:r>
                      <a:endParaRPr lang="zh-CN" altLang="en-US" sz="1600" dirty="0"/>
                    </a:p>
                  </a:txBody>
                  <a:tcPr anchor="ctr"/>
                </a:tc>
                <a:tc>
                  <a:txBody>
                    <a:bodyPr/>
                    <a:lstStyle/>
                    <a:p>
                      <a:pPr algn="ctr"/>
                      <a:r>
                        <a:rPr lang="zh-CN" altLang="en-US" sz="1600" dirty="0" smtClean="0"/>
                        <a:t>旋叶式</a:t>
                      </a:r>
                      <a:endParaRPr lang="zh-CN" altLang="en-US" sz="1600" dirty="0"/>
                    </a:p>
                  </a:txBody>
                  <a:tcPr anchor="ctr"/>
                </a:tc>
                <a:tc>
                  <a:txBody>
                    <a:bodyPr/>
                    <a:lstStyle/>
                    <a:p>
                      <a:pPr algn="ctr"/>
                      <a:r>
                        <a:rPr lang="zh-CN" altLang="en-US" sz="1600" dirty="0" smtClean="0"/>
                        <a:t>转子式</a:t>
                      </a:r>
                      <a:endParaRPr lang="zh-CN" altLang="en-US" sz="1600" dirty="0"/>
                    </a:p>
                  </a:txBody>
                  <a:tcPr anchor="ctr"/>
                </a:tc>
              </a:tr>
              <a:tr h="370840">
                <a:tc>
                  <a:txBody>
                    <a:bodyPr/>
                    <a:lstStyle/>
                    <a:p>
                      <a:pPr algn="ctr"/>
                      <a:r>
                        <a:rPr lang="zh-CN" altLang="en-US" sz="1600" dirty="0" smtClean="0"/>
                        <a:t>性能</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r>
                        <a:rPr lang="zh-CN" altLang="en-US" sz="1600" dirty="0" smtClean="0"/>
                        <a:t>寿命</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r>
                        <a:rPr lang="zh-CN" altLang="en-US" sz="1600" dirty="0" smtClean="0"/>
                        <a:t>重量</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r>
              <a:tr h="370840">
                <a:tc>
                  <a:txBody>
                    <a:bodyPr/>
                    <a:lstStyle/>
                    <a:p>
                      <a:pPr algn="ctr"/>
                      <a:r>
                        <a:rPr lang="zh-CN" altLang="en-US" sz="1600" dirty="0" smtClean="0"/>
                        <a:t>噪音</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r>
              <a:tr h="370840">
                <a:tc>
                  <a:txBody>
                    <a:bodyPr/>
                    <a:lstStyle/>
                    <a:p>
                      <a:pPr algn="ctr"/>
                      <a:r>
                        <a:rPr lang="zh-CN" altLang="en-US" sz="1600" dirty="0" smtClean="0"/>
                        <a:t>振动</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r>
                        <a:rPr lang="zh-CN" altLang="en-US" sz="1600" dirty="0" smtClean="0"/>
                        <a:t>成本</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r>
                        <a:rPr lang="zh-CN" altLang="en-US" sz="1600" dirty="0" smtClean="0"/>
                        <a:t>备注</a:t>
                      </a:r>
                      <a:endParaRPr lang="zh-CN" altLang="en-US" sz="1600" dirty="0"/>
                    </a:p>
                  </a:txBody>
                  <a:tcPr anchor="ctr"/>
                </a:tc>
                <a:tc>
                  <a:txBody>
                    <a:bodyPr/>
                    <a:lstStyle/>
                    <a:p>
                      <a:pPr algn="ctr"/>
                      <a:r>
                        <a:rPr lang="zh-CN" altLang="en-US" sz="1600" dirty="0" smtClean="0"/>
                        <a:t>可做一体式</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zh-CN" altLang="en-US" sz="1600" dirty="0" smtClean="0"/>
                        <a:t>可做一体式</a:t>
                      </a:r>
                      <a:endParaRPr lang="zh-CN" altLang="en-US" sz="1600" dirty="0"/>
                    </a:p>
                  </a:txBody>
                  <a:tcPr anchor="ctr"/>
                </a:tc>
                <a:tc>
                  <a:txBody>
                    <a:bodyPr/>
                    <a:lstStyle/>
                    <a:p>
                      <a:pPr algn="ctr"/>
                      <a:r>
                        <a:rPr lang="zh-CN" altLang="en-US" sz="1600" dirty="0" smtClean="0"/>
                        <a:t>只能分体式</a:t>
                      </a:r>
                      <a:endParaRPr lang="zh-CN" altLang="en-US" sz="1600" dirty="0"/>
                    </a:p>
                  </a:txBody>
                  <a:tcPr anchor="ctr"/>
                </a:tc>
              </a:tr>
              <a:tr h="189230">
                <a:tc>
                  <a:txBody>
                    <a:bodyPr/>
                    <a:lstStyle/>
                    <a:p>
                      <a:pPr algn="ctr"/>
                      <a:r>
                        <a:rPr lang="zh-CN" altLang="en-US" sz="1600" dirty="0" smtClean="0"/>
                        <a:t>代表厂商</a:t>
                      </a:r>
                      <a:endParaRPr lang="zh-CN" altLang="en-US" sz="1600" dirty="0"/>
                    </a:p>
                  </a:txBody>
                  <a:tcPr anchor="ctr"/>
                </a:tc>
                <a:tc>
                  <a:txBody>
                    <a:bodyPr/>
                    <a:lstStyle/>
                    <a:p>
                      <a:pPr algn="ctr"/>
                      <a:r>
                        <a:rPr lang="zh-CN" altLang="en-US" sz="1600" dirty="0" smtClean="0"/>
                        <a:t>南京奥特佳</a:t>
                      </a:r>
                      <a:endParaRPr lang="zh-CN" altLang="en-US" sz="1600" dirty="0"/>
                    </a:p>
                  </a:txBody>
                  <a:tcPr anchor="ctr"/>
                </a:tc>
                <a:tc>
                  <a:txBody>
                    <a:bodyPr/>
                    <a:lstStyle/>
                    <a:p>
                      <a:pPr algn="ctr"/>
                      <a:r>
                        <a:rPr lang="zh-CN" altLang="en-US" sz="1600" dirty="0" smtClean="0"/>
                        <a:t>重庆建设</a:t>
                      </a:r>
                      <a:endParaRPr lang="zh-CN" altLang="en-US" sz="1600" dirty="0"/>
                    </a:p>
                  </a:txBody>
                  <a:tcPr anchor="ctr"/>
                </a:tc>
                <a:tc>
                  <a:txBody>
                    <a:bodyPr/>
                    <a:lstStyle/>
                    <a:p>
                      <a:pPr algn="ctr"/>
                      <a:r>
                        <a:rPr lang="zh-CN" altLang="en-US" sz="1600" dirty="0" smtClean="0"/>
                        <a:t>浙江博阳</a:t>
                      </a:r>
                      <a:endParaRPr lang="zh-CN" altLang="en-US" sz="1600" dirty="0"/>
                    </a:p>
                  </a:txBody>
                  <a:tcPr anchor="ctr"/>
                </a:tc>
              </a:tr>
            </a:tbl>
          </a:graphicData>
        </a:graphic>
      </p:graphicFrame>
      <p:sp>
        <p:nvSpPr>
          <p:cNvPr id="7" name="TextBox 6"/>
          <p:cNvSpPr txBox="1"/>
          <p:nvPr/>
        </p:nvSpPr>
        <p:spPr>
          <a:xfrm>
            <a:off x="1590675" y="4457700"/>
            <a:ext cx="4895850" cy="341312"/>
          </a:xfrm>
          <a:prstGeom prst="rect">
            <a:avLst/>
          </a:prstGeom>
          <a:noFill/>
        </p:spPr>
        <p:txBody>
          <a:bodyPr wrap="square" rtlCol="0">
            <a:spAutoFit/>
          </a:bodyPr>
          <a:lstStyle/>
          <a:p>
            <a:pPr rtl="0">
              <a:lnSpc>
                <a:spcPct val="130000"/>
              </a:lnSpc>
            </a:pPr>
            <a:r>
              <a:rPr lang="zh-CN" altLang="en-US" dirty="0" smtClean="0"/>
              <a:t>好  </a:t>
            </a:r>
            <a:r>
              <a:rPr lang="en-US" altLang="zh-CN" dirty="0" smtClean="0"/>
              <a:t>●●●</a:t>
            </a:r>
            <a:r>
              <a:rPr lang="zh-CN" altLang="en-US" dirty="0" smtClean="0">
                <a:ea typeface="微软雅黑" panose="020B0503020204020204" pitchFamily="34" charset="-122"/>
              </a:rPr>
              <a:t>         差  </a:t>
            </a:r>
            <a:r>
              <a:rPr lang="en-US" altLang="zh-CN" dirty="0" smtClean="0"/>
              <a:t>●</a:t>
            </a:r>
            <a:r>
              <a:rPr lang="zh-CN" altLang="en-US" dirty="0" smtClean="0">
                <a:ea typeface="微软雅黑" panose="020B0503020204020204" pitchFamily="34" charset="-122"/>
              </a:rPr>
              <a:t>     </a:t>
            </a:r>
            <a:endParaRPr lang="zh-CN" alt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涡旋压缩机防自转机构类型</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2400" dirty="0" smtClean="0">
                <a:latin typeface="楷体" panose="02010609060101010101" charset="-122"/>
                <a:ea typeface="楷体" panose="02010609060101010101" charset="-122"/>
              </a:rPr>
              <a:t>1.</a:t>
            </a:r>
            <a:r>
              <a:rPr lang="zh-CN" altLang="en-US" sz="2400" dirty="0" smtClean="0">
                <a:latin typeface="楷体" panose="02010609060101010101" charset="-122"/>
                <a:ea typeface="楷体" panose="02010609060101010101" charset="-122"/>
              </a:rPr>
              <a:t>十字滑环式</a:t>
            </a:r>
            <a:r>
              <a:rPr lang="en-US" altLang="zh-CN" sz="2400" dirty="0" smtClean="0">
                <a:latin typeface="楷体" panose="02010609060101010101" charset="-122"/>
                <a:ea typeface="楷体" panose="02010609060101010101" charset="-122"/>
              </a:rPr>
              <a:t>——</a:t>
            </a:r>
            <a:r>
              <a:rPr lang="zh-CN" altLang="en-US" sz="2400" dirty="0" smtClean="0">
                <a:latin typeface="楷体" panose="02010609060101010101" charset="-122"/>
                <a:ea typeface="楷体" panose="02010609060101010101" charset="-122"/>
              </a:rPr>
              <a:t>湖南贝特、柳州易舟、上海海立、宁波汇峰、三菱</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2400" dirty="0" smtClean="0">
                <a:latin typeface="楷体" panose="02010609060101010101" charset="-122"/>
                <a:ea typeface="楷体" panose="02010609060101010101" charset="-122"/>
              </a:rPr>
              <a:t>2.</a:t>
            </a:r>
            <a:r>
              <a:rPr lang="zh-CN" altLang="en-US" sz="2400" dirty="0" smtClean="0">
                <a:latin typeface="楷体" panose="02010609060101010101" charset="-122"/>
                <a:ea typeface="楷体" panose="02010609060101010101" charset="-122"/>
              </a:rPr>
              <a:t>柱销式</a:t>
            </a:r>
            <a:r>
              <a:rPr lang="en-US" altLang="zh-CN" sz="2400" dirty="0" smtClean="0">
                <a:latin typeface="楷体" panose="02010609060101010101" charset="-122"/>
                <a:ea typeface="楷体" panose="02010609060101010101" charset="-122"/>
              </a:rPr>
              <a:t>——</a:t>
            </a:r>
            <a:r>
              <a:rPr lang="zh-CN" altLang="en-US" sz="2400" dirty="0" smtClean="0">
                <a:latin typeface="楷体" panose="02010609060101010101" charset="-122"/>
                <a:ea typeface="楷体" panose="02010609060101010101" charset="-122"/>
              </a:rPr>
              <a:t>电装、三电、汤普悦丝、奥特佳</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2400" dirty="0" smtClean="0">
                <a:latin typeface="楷体" panose="02010609060101010101" charset="-122"/>
                <a:ea typeface="楷体" panose="02010609060101010101" charset="-122"/>
              </a:rPr>
              <a:t>3.</a:t>
            </a:r>
            <a:r>
              <a:rPr lang="zh-CN" altLang="en-US" sz="2400" dirty="0" smtClean="0">
                <a:latin typeface="楷体" panose="02010609060101010101" charset="-122"/>
                <a:ea typeface="楷体" panose="02010609060101010101" charset="-122"/>
              </a:rPr>
              <a:t>球形防自转式</a:t>
            </a:r>
            <a:r>
              <a:rPr lang="en-US" altLang="zh-CN" sz="2400" dirty="0" smtClean="0">
                <a:latin typeface="楷体" panose="02010609060101010101" charset="-122"/>
                <a:ea typeface="楷体" panose="02010609060101010101" charset="-122"/>
              </a:rPr>
              <a:t>——</a:t>
            </a:r>
            <a:r>
              <a:rPr lang="zh-CN" altLang="en-US" sz="2400" dirty="0" smtClean="0">
                <a:latin typeface="楷体" panose="02010609060101010101" charset="-122"/>
                <a:ea typeface="楷体" panose="02010609060101010101" charset="-122"/>
              </a:rPr>
              <a:t>奥特佳</a:t>
            </a:r>
            <a:r>
              <a:rPr lang="en-US" altLang="zh-CN" sz="2400" dirty="0" smtClean="0">
                <a:latin typeface="楷体" panose="02010609060101010101" charset="-122"/>
                <a:ea typeface="楷体" panose="02010609060101010101" charset="-122"/>
              </a:rPr>
              <a:t>E36</a:t>
            </a:r>
            <a:r>
              <a:rPr lang="zh-CN" altLang="en-US" sz="2400" dirty="0" smtClean="0">
                <a:latin typeface="楷体" panose="02010609060101010101" charset="-122"/>
                <a:ea typeface="楷体" panose="02010609060101010101" charset="-122"/>
              </a:rPr>
              <a:t>和</a:t>
            </a:r>
            <a:r>
              <a:rPr lang="en-US" altLang="zh-CN" sz="2400" dirty="0" smtClean="0">
                <a:latin typeface="楷体" panose="02010609060101010101" charset="-122"/>
                <a:ea typeface="楷体" panose="02010609060101010101" charset="-122"/>
              </a:rPr>
              <a:t>E66</a:t>
            </a:r>
            <a:r>
              <a:rPr lang="zh-CN" altLang="en-US" sz="2400" dirty="0" smtClean="0">
                <a:latin typeface="楷体" panose="02010609060101010101" charset="-122"/>
                <a:ea typeface="楷体" panose="02010609060101010101" charset="-122"/>
              </a:rPr>
              <a:t>、四川天泉</a:t>
            </a:r>
            <a:endParaRPr lang="zh-CN" altLang="en-US" sz="2400"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10</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800" dirty="0" smtClean="0">
                <a:latin typeface="楷体" panose="02010609060101010101" charset="-122"/>
                <a:ea typeface="楷体" panose="02010609060101010101" charset="-122"/>
              </a:rPr>
              <a:t>涡旋压缩机防自转机构类型对比</a:t>
            </a:r>
            <a:endParaRPr lang="en-US" altLang="zh-CN" sz="28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11</a:t>
            </a:fld>
            <a:endParaRPr lang="zh-CN" altLang="en-US" dirty="0">
              <a:latin typeface="+mn-lt"/>
              <a:ea typeface="+mn-ea"/>
              <a:cs typeface="+mn-cs"/>
            </a:endParaRPr>
          </a:p>
        </p:txBody>
      </p:sp>
      <p:graphicFrame>
        <p:nvGraphicFramePr>
          <p:cNvPr id="5" name="表格 4"/>
          <p:cNvGraphicFramePr>
            <a:graphicFrameLocks noGrp="1"/>
          </p:cNvGraphicFramePr>
          <p:nvPr/>
        </p:nvGraphicFramePr>
        <p:xfrm>
          <a:off x="1476375" y="1155700"/>
          <a:ext cx="6524625" cy="3302000"/>
        </p:xfrm>
        <a:graphic>
          <a:graphicData uri="http://schemas.openxmlformats.org/drawingml/2006/table">
            <a:tbl>
              <a:tblPr firstRow="1" bandRow="1">
                <a:tableStyleId>{5C22544A-7EE6-4342-B048-85BDC9FD1C3A}</a:tableStyleId>
              </a:tblPr>
              <a:tblGrid>
                <a:gridCol w="1276350"/>
                <a:gridCol w="1749425"/>
                <a:gridCol w="1749425"/>
                <a:gridCol w="1749425"/>
              </a:tblGrid>
              <a:tr h="370840">
                <a:tc>
                  <a:txBody>
                    <a:bodyPr/>
                    <a:lstStyle/>
                    <a:p>
                      <a:pPr algn="ctr"/>
                      <a:endParaRPr lang="zh-CN" altLang="en-US" sz="1600" dirty="0"/>
                    </a:p>
                  </a:txBody>
                  <a:tcPr anchor="ctr"/>
                </a:tc>
                <a:tc>
                  <a:txBody>
                    <a:bodyPr/>
                    <a:lstStyle/>
                    <a:p>
                      <a:pPr algn="ctr"/>
                      <a:r>
                        <a:rPr lang="zh-CN" altLang="en-US" sz="1600" dirty="0" smtClean="0"/>
                        <a:t>十字滑环</a:t>
                      </a:r>
                      <a:endParaRPr lang="zh-CN" altLang="en-US" sz="1600" dirty="0"/>
                    </a:p>
                  </a:txBody>
                  <a:tcPr anchor="ctr"/>
                </a:tc>
                <a:tc>
                  <a:txBody>
                    <a:bodyPr/>
                    <a:lstStyle/>
                    <a:p>
                      <a:pPr algn="ctr"/>
                      <a:r>
                        <a:rPr lang="zh-CN" altLang="en-US" sz="1600" dirty="0" smtClean="0"/>
                        <a:t>柱销</a:t>
                      </a:r>
                      <a:endParaRPr lang="zh-CN" altLang="en-US" sz="1600" dirty="0"/>
                    </a:p>
                  </a:txBody>
                  <a:tcPr anchor="ctr"/>
                </a:tc>
                <a:tc>
                  <a:txBody>
                    <a:bodyPr/>
                    <a:lstStyle/>
                    <a:p>
                      <a:pPr algn="ctr"/>
                      <a:r>
                        <a:rPr lang="zh-CN" altLang="en-US" sz="1600" dirty="0" smtClean="0"/>
                        <a:t>球式</a:t>
                      </a:r>
                      <a:endParaRPr lang="zh-CN" altLang="en-US" sz="1600" dirty="0"/>
                    </a:p>
                  </a:txBody>
                  <a:tcPr anchor="ctr"/>
                </a:tc>
              </a:tr>
              <a:tr h="370840">
                <a:tc>
                  <a:txBody>
                    <a:bodyPr/>
                    <a:lstStyle/>
                    <a:p>
                      <a:pPr algn="ctr"/>
                      <a:r>
                        <a:rPr lang="zh-CN" altLang="en-US" sz="1600" dirty="0" smtClean="0"/>
                        <a:t>性能</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r>
                        <a:rPr lang="zh-CN" altLang="en-US" sz="1600" dirty="0" smtClean="0"/>
                        <a:t>寿命</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r>
                        <a:rPr lang="zh-CN" altLang="en-US" sz="1600" dirty="0" smtClean="0"/>
                        <a:t>重量</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r>
              <a:tr h="370840">
                <a:tc>
                  <a:txBody>
                    <a:bodyPr/>
                    <a:lstStyle/>
                    <a:p>
                      <a:pPr algn="ctr"/>
                      <a:r>
                        <a:rPr lang="zh-CN" altLang="en-US" sz="1600" dirty="0" smtClean="0"/>
                        <a:t>噪音</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r>
              <a:tr h="370840">
                <a:tc>
                  <a:txBody>
                    <a:bodyPr/>
                    <a:lstStyle/>
                    <a:p>
                      <a:pPr algn="ctr"/>
                      <a:r>
                        <a:rPr lang="zh-CN" altLang="en-US" sz="1600" dirty="0" smtClean="0"/>
                        <a:t>振动</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r>
                        <a:rPr lang="zh-CN" altLang="en-US" sz="1600" dirty="0" smtClean="0"/>
                        <a:t>成本</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algn="ctr"/>
                      <a:r>
                        <a:rPr lang="en-US" altLang="zh-CN" sz="1600" dirty="0" smtClean="0"/>
                        <a:t>●</a:t>
                      </a: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600" dirty="0" smtClean="0"/>
                        <a:t>●●</a:t>
                      </a:r>
                      <a:endParaRPr lang="zh-CN" altLang="en-US" sz="1600" dirty="0"/>
                    </a:p>
                  </a:txBody>
                  <a:tcPr anchor="ctr"/>
                </a:tc>
              </a:tr>
              <a:tr h="370840">
                <a:tc>
                  <a:txBody>
                    <a:bodyPr/>
                    <a:lstStyle/>
                    <a:p>
                      <a:pPr algn="ctr"/>
                      <a:endParaRPr lang="zh-CN" altLang="en-US" sz="1600" dirty="0"/>
                    </a:p>
                  </a:txBody>
                  <a:tcPr anchor="ctr"/>
                </a:tc>
                <a:tc>
                  <a:txBody>
                    <a:bodyPr/>
                    <a:lstStyle/>
                    <a:p>
                      <a:pPr algn="ctr"/>
                      <a:endParaRPr lang="zh-CN" altLang="en-US" sz="16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endParaRPr lang="zh-CN" altLang="en-US" sz="1600" dirty="0"/>
                    </a:p>
                  </a:txBody>
                  <a:tcPr anchor="ctr"/>
                </a:tc>
                <a:tc>
                  <a:txBody>
                    <a:bodyPr/>
                    <a:lstStyle/>
                    <a:p>
                      <a:pPr algn="ctr"/>
                      <a:endParaRPr lang="zh-CN" altLang="en-US" sz="1600" dirty="0"/>
                    </a:p>
                  </a:txBody>
                  <a:tcPr anchor="ctr"/>
                </a:tc>
              </a:tr>
              <a:tr h="189230">
                <a:tc>
                  <a:txBody>
                    <a:bodyPr/>
                    <a:lstStyle/>
                    <a:p>
                      <a:pPr algn="ctr"/>
                      <a:endParaRPr lang="zh-CN" altLang="en-US" sz="1600" dirty="0"/>
                    </a:p>
                  </a:txBody>
                  <a:tcPr anchor="ctr"/>
                </a:tc>
                <a:tc>
                  <a:txBody>
                    <a:bodyPr/>
                    <a:lstStyle/>
                    <a:p>
                      <a:pPr algn="ctr"/>
                      <a:endParaRPr lang="zh-CN" altLang="en-US" sz="1600" dirty="0"/>
                    </a:p>
                  </a:txBody>
                  <a:tcPr anchor="ctr"/>
                </a:tc>
                <a:tc>
                  <a:txBody>
                    <a:bodyPr/>
                    <a:lstStyle/>
                    <a:p>
                      <a:pPr algn="ctr"/>
                      <a:endParaRPr lang="zh-CN" altLang="en-US" sz="1600" dirty="0"/>
                    </a:p>
                  </a:txBody>
                  <a:tcPr anchor="ctr"/>
                </a:tc>
                <a:tc>
                  <a:txBody>
                    <a:bodyPr/>
                    <a:lstStyle/>
                    <a:p>
                      <a:pPr algn="ctr"/>
                      <a:endParaRPr lang="zh-CN" altLang="en-US" sz="1600" dirty="0"/>
                    </a:p>
                  </a:txBody>
                  <a:tcPr anchor="ctr"/>
                </a:tc>
              </a:tr>
            </a:tbl>
          </a:graphicData>
        </a:graphic>
      </p:graphicFrame>
      <p:sp>
        <p:nvSpPr>
          <p:cNvPr id="7" name="TextBox 6"/>
          <p:cNvSpPr txBox="1"/>
          <p:nvPr/>
        </p:nvSpPr>
        <p:spPr>
          <a:xfrm>
            <a:off x="1590675" y="4457700"/>
            <a:ext cx="4895850" cy="341312"/>
          </a:xfrm>
          <a:prstGeom prst="rect">
            <a:avLst/>
          </a:prstGeom>
          <a:noFill/>
        </p:spPr>
        <p:txBody>
          <a:bodyPr wrap="square" rtlCol="0">
            <a:spAutoFit/>
          </a:bodyPr>
          <a:lstStyle/>
          <a:p>
            <a:pPr rtl="0">
              <a:lnSpc>
                <a:spcPct val="130000"/>
              </a:lnSpc>
            </a:pPr>
            <a:r>
              <a:rPr lang="zh-CN" altLang="en-US" dirty="0" smtClean="0"/>
              <a:t>好  </a:t>
            </a:r>
            <a:r>
              <a:rPr lang="en-US" altLang="zh-CN" dirty="0" smtClean="0"/>
              <a:t>●●●</a:t>
            </a:r>
            <a:r>
              <a:rPr lang="zh-CN" altLang="en-US" dirty="0" smtClean="0">
                <a:ea typeface="微软雅黑" panose="020B0503020204020204" pitchFamily="34" charset="-122"/>
              </a:rPr>
              <a:t>         差  </a:t>
            </a:r>
            <a:r>
              <a:rPr lang="en-US" altLang="zh-CN" dirty="0" smtClean="0"/>
              <a:t>●</a:t>
            </a:r>
            <a:r>
              <a:rPr lang="zh-CN" altLang="en-US" dirty="0" smtClean="0">
                <a:ea typeface="微软雅黑" panose="020B0503020204020204" pitchFamily="34" charset="-122"/>
              </a:rPr>
              <a:t>     </a:t>
            </a:r>
            <a:endParaRPr lang="zh-CN" alt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12</a:t>
            </a:fld>
            <a:endParaRPr lang="zh-CN" altLang="en-US" dirty="0">
              <a:latin typeface="+mn-lt"/>
              <a:ea typeface="+mn-ea"/>
              <a:cs typeface="+mn-cs"/>
            </a:endParaRPr>
          </a:p>
        </p:txBody>
      </p:sp>
      <p:graphicFrame>
        <p:nvGraphicFramePr>
          <p:cNvPr id="4" name="表格 3"/>
          <p:cNvGraphicFramePr>
            <a:graphicFrameLocks noGrp="1"/>
          </p:cNvGraphicFramePr>
          <p:nvPr/>
        </p:nvGraphicFramePr>
        <p:xfrm>
          <a:off x="1411856" y="988327"/>
          <a:ext cx="6791865" cy="3566160"/>
        </p:xfrm>
        <a:graphic>
          <a:graphicData uri="http://schemas.openxmlformats.org/drawingml/2006/table">
            <a:tbl>
              <a:tblPr firstRow="1" bandRow="1">
                <a:tableStyleId>{5C22544A-7EE6-4342-B048-85BDC9FD1C3A}</a:tableStyleId>
              </a:tblPr>
              <a:tblGrid>
                <a:gridCol w="1358373"/>
                <a:gridCol w="1358373"/>
                <a:gridCol w="1358373"/>
                <a:gridCol w="1358373"/>
                <a:gridCol w="1358373"/>
              </a:tblGrid>
              <a:tr h="360000">
                <a:tc>
                  <a:txBody>
                    <a:bodyPr/>
                    <a:lstStyle/>
                    <a:p>
                      <a:pPr algn="ctr"/>
                      <a:r>
                        <a:rPr lang="zh-CN" altLang="en-US" sz="1400" dirty="0" smtClean="0"/>
                        <a:t>排量</a:t>
                      </a:r>
                      <a:endParaRPr lang="en-US" altLang="zh-CN" sz="1400" dirty="0" smtClean="0"/>
                    </a:p>
                    <a:p>
                      <a:pPr algn="ctr"/>
                      <a:r>
                        <a:rPr lang="en-US" altLang="zh-CN" sz="1400" dirty="0" smtClean="0"/>
                        <a:t>ml/r</a:t>
                      </a:r>
                      <a:endParaRPr lang="zh-CN" altLang="en-US" sz="1400" dirty="0"/>
                    </a:p>
                  </a:txBody>
                  <a:tcPr anchor="ctr"/>
                </a:tc>
                <a:tc>
                  <a:txBody>
                    <a:bodyPr/>
                    <a:lstStyle/>
                    <a:p>
                      <a:pPr algn="ctr"/>
                      <a:r>
                        <a:rPr lang="zh-CN" altLang="en-US" sz="1400" dirty="0" smtClean="0"/>
                        <a:t>额定电压</a:t>
                      </a:r>
                      <a:endParaRPr lang="en-US" altLang="zh-CN" sz="1400" dirty="0" smtClean="0"/>
                    </a:p>
                    <a:p>
                      <a:pPr algn="ctr"/>
                      <a:r>
                        <a:rPr lang="en-US" altLang="zh-CN" sz="1400" dirty="0" smtClean="0"/>
                        <a:t>VDC</a:t>
                      </a:r>
                      <a:endParaRPr lang="zh-CN" altLang="en-US" sz="1400" dirty="0"/>
                    </a:p>
                  </a:txBody>
                  <a:tcPr anchor="ctr"/>
                </a:tc>
                <a:tc>
                  <a:txBody>
                    <a:bodyPr/>
                    <a:lstStyle/>
                    <a:p>
                      <a:pPr algn="ctr"/>
                      <a:r>
                        <a:rPr lang="zh-CN" altLang="en-US" sz="1400" dirty="0" smtClean="0"/>
                        <a:t>最高转速</a:t>
                      </a:r>
                      <a:r>
                        <a:rPr lang="en-US" altLang="zh-CN" sz="1400" dirty="0" smtClean="0"/>
                        <a:t>rpm</a:t>
                      </a:r>
                      <a:endParaRPr lang="zh-CN" altLang="en-US" sz="1400" dirty="0"/>
                    </a:p>
                  </a:txBody>
                  <a:tcPr anchor="ctr"/>
                </a:tc>
                <a:tc>
                  <a:txBody>
                    <a:bodyPr/>
                    <a:lstStyle/>
                    <a:p>
                      <a:pPr algn="ctr"/>
                      <a:r>
                        <a:rPr lang="zh-CN" altLang="en-US" sz="1400" dirty="0" smtClean="0"/>
                        <a:t>制冷量</a:t>
                      </a:r>
                      <a:endParaRPr lang="en-US" altLang="zh-CN" sz="1400" dirty="0" smtClean="0"/>
                    </a:p>
                    <a:p>
                      <a:pPr algn="ctr"/>
                      <a:r>
                        <a:rPr lang="en-US" altLang="zh-CN" sz="1400" dirty="0" smtClean="0"/>
                        <a:t>W</a:t>
                      </a:r>
                      <a:endParaRPr lang="zh-CN" altLang="en-US" sz="1400" dirty="0"/>
                    </a:p>
                  </a:txBody>
                  <a:tcPr anchor="ctr"/>
                </a:tc>
                <a:tc>
                  <a:txBody>
                    <a:bodyPr/>
                    <a:lstStyle/>
                    <a:p>
                      <a:pPr algn="ctr"/>
                      <a:r>
                        <a:rPr lang="zh-CN" altLang="en-US" sz="1400" dirty="0" smtClean="0"/>
                        <a:t>最大电流</a:t>
                      </a:r>
                      <a:endParaRPr lang="en-US" altLang="zh-CN" sz="1400" dirty="0" smtClean="0"/>
                    </a:p>
                    <a:p>
                      <a:pPr algn="ctr"/>
                      <a:r>
                        <a:rPr lang="en-US" altLang="zh-CN" sz="1400" dirty="0" smtClean="0"/>
                        <a:t>A</a:t>
                      </a:r>
                      <a:endParaRPr lang="zh-CN" altLang="en-US" sz="1400" dirty="0"/>
                    </a:p>
                  </a:txBody>
                  <a:tcPr anchor="ctr"/>
                </a:tc>
              </a:tr>
              <a:tr h="288000">
                <a:tc rowSpan="8">
                  <a:txBody>
                    <a:bodyPr/>
                    <a:lstStyle/>
                    <a:p>
                      <a:pPr algn="ctr"/>
                      <a:r>
                        <a:rPr lang="en-US" altLang="zh-CN" sz="1400" dirty="0" smtClean="0"/>
                        <a:t>27</a:t>
                      </a:r>
                      <a:endParaRPr lang="zh-CN" altLang="en-US" sz="1400" dirty="0"/>
                    </a:p>
                  </a:txBody>
                  <a:tcPr anchor="ctr"/>
                </a:tc>
                <a:tc>
                  <a:txBody>
                    <a:bodyPr/>
                    <a:lstStyle/>
                    <a:p>
                      <a:pPr algn="ctr"/>
                      <a:r>
                        <a:rPr lang="en-US" altLang="zh-CN" sz="1400" dirty="0" smtClean="0"/>
                        <a:t>24</a:t>
                      </a:r>
                      <a:endParaRPr lang="zh-CN" altLang="en-US" sz="1400" dirty="0"/>
                    </a:p>
                  </a:txBody>
                  <a:tcPr anchor="ctr"/>
                </a:tc>
                <a:tc>
                  <a:txBody>
                    <a:bodyPr/>
                    <a:lstStyle/>
                    <a:p>
                      <a:pPr algn="ctr"/>
                      <a:r>
                        <a:rPr lang="en-US" altLang="zh-CN" sz="1400" dirty="0" smtClean="0"/>
                        <a:t>2700</a:t>
                      </a:r>
                      <a:endParaRPr lang="zh-CN" altLang="en-US" sz="1400" dirty="0"/>
                    </a:p>
                  </a:txBody>
                  <a:tcPr anchor="ctr"/>
                </a:tc>
                <a:tc>
                  <a:txBody>
                    <a:bodyPr/>
                    <a:lstStyle/>
                    <a:p>
                      <a:pPr algn="ctr"/>
                      <a:r>
                        <a:rPr lang="en-US" altLang="zh-CN" sz="1400" dirty="0" smtClean="0"/>
                        <a:t>2000</a:t>
                      </a:r>
                      <a:endParaRPr lang="zh-CN" altLang="en-US" sz="1400" dirty="0"/>
                    </a:p>
                  </a:txBody>
                  <a:tcPr anchor="ctr"/>
                </a:tc>
                <a:tc>
                  <a:txBody>
                    <a:bodyPr/>
                    <a:lstStyle/>
                    <a:p>
                      <a:pPr algn="ctr"/>
                      <a:r>
                        <a:rPr lang="en-US" altLang="zh-CN" sz="1400" dirty="0" smtClean="0"/>
                        <a:t>50</a:t>
                      </a:r>
                      <a:endParaRPr lang="zh-CN" altLang="en-US" sz="1400" dirty="0"/>
                    </a:p>
                  </a:txBody>
                  <a:tcPr anchor="ctr"/>
                </a:tc>
              </a:tr>
              <a:tr h="288000">
                <a:tc vMerge="1">
                  <a:txBody>
                    <a:bodyPr/>
                    <a:lstStyle/>
                    <a:p>
                      <a:pPr algn="ctr"/>
                      <a:endParaRPr lang="zh-CN" altLang="en-US" sz="1600" dirty="0"/>
                    </a:p>
                  </a:txBody>
                  <a:tcPr anchor="ctr"/>
                </a:tc>
                <a:tc>
                  <a:txBody>
                    <a:bodyPr/>
                    <a:lstStyle/>
                    <a:p>
                      <a:pPr algn="ctr"/>
                      <a:r>
                        <a:rPr lang="en-US" altLang="zh-CN" sz="1400" dirty="0" smtClean="0"/>
                        <a:t>60</a:t>
                      </a:r>
                      <a:endParaRPr lang="zh-CN" altLang="en-US" sz="1400" dirty="0"/>
                    </a:p>
                  </a:txBody>
                  <a:tcPr anchor="ctr"/>
                </a:tc>
                <a:tc>
                  <a:txBody>
                    <a:bodyPr/>
                    <a:lstStyle/>
                    <a:p>
                      <a:pPr algn="ctr"/>
                      <a:r>
                        <a:rPr lang="en-US" altLang="zh-CN" sz="1400" dirty="0" smtClean="0"/>
                        <a:t>3000</a:t>
                      </a:r>
                      <a:endParaRPr lang="zh-CN" altLang="en-US" sz="1400" dirty="0"/>
                    </a:p>
                  </a:txBody>
                  <a:tcPr anchor="ctr"/>
                </a:tc>
                <a:tc>
                  <a:txBody>
                    <a:bodyPr/>
                    <a:lstStyle/>
                    <a:p>
                      <a:pPr algn="ctr"/>
                      <a:r>
                        <a:rPr lang="en-US" altLang="zh-CN" sz="1400" dirty="0" smtClean="0"/>
                        <a:t>2310</a:t>
                      </a:r>
                      <a:endParaRPr lang="zh-CN" altLang="en-US" sz="1400" dirty="0"/>
                    </a:p>
                  </a:txBody>
                  <a:tcPr anchor="ctr"/>
                </a:tc>
                <a:tc>
                  <a:txBody>
                    <a:bodyPr/>
                    <a:lstStyle/>
                    <a:p>
                      <a:pPr algn="ctr"/>
                      <a:r>
                        <a:rPr lang="en-US" altLang="zh-CN" sz="1400" dirty="0" smtClean="0"/>
                        <a:t>30</a:t>
                      </a:r>
                      <a:endParaRPr lang="zh-CN" altLang="en-US" sz="1400" dirty="0"/>
                    </a:p>
                  </a:txBody>
                  <a:tcPr anchor="ctr"/>
                </a:tc>
              </a:tr>
              <a:tr h="288000">
                <a:tc vMerge="1">
                  <a:txBody>
                    <a:bodyPr/>
                    <a:lstStyle/>
                    <a:p>
                      <a:pPr algn="ctr"/>
                      <a:endParaRPr lang="zh-CN" altLang="en-US" sz="1600" dirty="0"/>
                    </a:p>
                  </a:txBody>
                  <a:tcPr anchor="ctr"/>
                </a:tc>
                <a:tc>
                  <a:txBody>
                    <a:bodyPr/>
                    <a:lstStyle/>
                    <a:p>
                      <a:pPr algn="ctr"/>
                      <a:r>
                        <a:rPr lang="en-US" altLang="zh-CN" sz="1400" dirty="0" smtClean="0"/>
                        <a:t>72</a:t>
                      </a:r>
                      <a:endParaRPr lang="zh-CN" altLang="en-US" sz="1400" dirty="0"/>
                    </a:p>
                  </a:txBody>
                  <a:tcPr anchor="ctr"/>
                </a:tc>
                <a:tc>
                  <a:txBody>
                    <a:bodyPr/>
                    <a:lstStyle/>
                    <a:p>
                      <a:pPr algn="ctr"/>
                      <a:r>
                        <a:rPr lang="en-US" altLang="zh-CN" sz="1400" dirty="0" smtClean="0"/>
                        <a:t>3500</a:t>
                      </a:r>
                      <a:endParaRPr lang="zh-CN" altLang="en-US" sz="1400" dirty="0"/>
                    </a:p>
                  </a:txBody>
                  <a:tcPr anchor="ctr"/>
                </a:tc>
                <a:tc>
                  <a:txBody>
                    <a:bodyPr/>
                    <a:lstStyle/>
                    <a:p>
                      <a:pPr algn="ctr"/>
                      <a:r>
                        <a:rPr lang="en-US" altLang="zh-CN" sz="1400" dirty="0" smtClean="0"/>
                        <a:t>2695</a:t>
                      </a:r>
                      <a:endParaRPr lang="zh-CN" altLang="en-US" sz="1400" dirty="0"/>
                    </a:p>
                  </a:txBody>
                  <a:tcPr anchor="ctr"/>
                </a:tc>
                <a:tc>
                  <a:txBody>
                    <a:bodyPr/>
                    <a:lstStyle/>
                    <a:p>
                      <a:pPr algn="ctr"/>
                      <a:r>
                        <a:rPr lang="en-US" altLang="zh-CN" sz="1400" dirty="0" smtClean="0"/>
                        <a:t>30</a:t>
                      </a:r>
                      <a:endParaRPr lang="zh-CN" altLang="en-US" sz="1400" dirty="0"/>
                    </a:p>
                  </a:txBody>
                  <a:tcPr anchor="ctr"/>
                </a:tc>
              </a:tr>
              <a:tr h="288000">
                <a:tc vMerge="1">
                  <a:txBody>
                    <a:bodyPr/>
                    <a:lstStyle/>
                    <a:p>
                      <a:endParaRPr lang="zh-CN" altLang="en-US"/>
                    </a:p>
                  </a:txBody>
                  <a:tcPr/>
                </a:tc>
                <a:tc>
                  <a:txBody>
                    <a:bodyPr/>
                    <a:lstStyle/>
                    <a:p>
                      <a:pPr algn="ctr"/>
                      <a:r>
                        <a:rPr lang="en-US" altLang="zh-CN" sz="1400" dirty="0" smtClean="0"/>
                        <a:t>96</a:t>
                      </a:r>
                      <a:endParaRPr lang="zh-CN" altLang="en-US" sz="1400" dirty="0"/>
                    </a:p>
                  </a:txBody>
                  <a:tcPr anchor="ctr"/>
                </a:tc>
                <a:tc>
                  <a:txBody>
                    <a:bodyPr/>
                    <a:lstStyle/>
                    <a:p>
                      <a:pPr algn="ctr"/>
                      <a:r>
                        <a:rPr lang="en-US" altLang="zh-CN" sz="1400" dirty="0" smtClean="0"/>
                        <a:t>5000</a:t>
                      </a:r>
                      <a:endParaRPr lang="zh-CN" altLang="en-US" sz="1400" dirty="0"/>
                    </a:p>
                  </a:txBody>
                  <a:tcPr anchor="ctr"/>
                </a:tc>
                <a:tc>
                  <a:txBody>
                    <a:bodyPr/>
                    <a:lstStyle/>
                    <a:p>
                      <a:pPr algn="ctr"/>
                      <a:r>
                        <a:rPr lang="en-US" altLang="zh-CN" sz="1400" dirty="0" smtClean="0"/>
                        <a:t>3900</a:t>
                      </a:r>
                      <a:endParaRPr lang="zh-CN" altLang="en-US" sz="1400" dirty="0"/>
                    </a:p>
                  </a:txBody>
                  <a:tcPr anchor="ctr"/>
                </a:tc>
                <a:tc>
                  <a:txBody>
                    <a:bodyPr/>
                    <a:lstStyle/>
                    <a:p>
                      <a:pPr algn="ctr"/>
                      <a:r>
                        <a:rPr lang="en-US" altLang="zh-CN" sz="1400" dirty="0" smtClean="0"/>
                        <a:t>30</a:t>
                      </a:r>
                      <a:endParaRPr lang="zh-CN" altLang="en-US" sz="1400" dirty="0"/>
                    </a:p>
                  </a:txBody>
                  <a:tcPr anchor="ctr"/>
                </a:tc>
              </a:tr>
              <a:tr h="288000">
                <a:tc vMerge="1">
                  <a:txBody>
                    <a:bodyPr/>
                    <a:lstStyle/>
                    <a:p>
                      <a:pPr algn="ctr"/>
                      <a:endParaRPr lang="zh-CN" altLang="en-US" sz="1600" dirty="0"/>
                    </a:p>
                  </a:txBody>
                  <a:tcPr anchor="ctr"/>
                </a:tc>
                <a:tc>
                  <a:txBody>
                    <a:bodyPr/>
                    <a:lstStyle/>
                    <a:p>
                      <a:pPr algn="ctr"/>
                      <a:r>
                        <a:rPr lang="en-US" altLang="zh-CN" sz="1400" dirty="0" smtClean="0"/>
                        <a:t>108</a:t>
                      </a:r>
                      <a:endParaRPr lang="zh-CN" altLang="en-US" sz="1400" dirty="0"/>
                    </a:p>
                  </a:txBody>
                  <a:tcPr anchor="ctr"/>
                </a:tc>
                <a:tc>
                  <a:txBody>
                    <a:bodyPr/>
                    <a:lstStyle/>
                    <a:p>
                      <a:pPr algn="ctr"/>
                      <a:r>
                        <a:rPr lang="en-US" altLang="zh-CN" sz="1400" dirty="0" smtClean="0"/>
                        <a:t>6000</a:t>
                      </a:r>
                      <a:endParaRPr lang="zh-CN" altLang="en-US" sz="1400" dirty="0"/>
                    </a:p>
                  </a:txBody>
                  <a:tcPr anchor="ct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400" dirty="0" smtClean="0"/>
                        <a:t>4680</a:t>
                      </a:r>
                      <a:endParaRPr lang="zh-CN" altLang="en-US" sz="1400" dirty="0"/>
                    </a:p>
                  </a:txBody>
                  <a:tcPr anchor="ctr"/>
                </a:tc>
                <a:tc>
                  <a:txBody>
                    <a:bodyPr/>
                    <a:lstStyle/>
                    <a:p>
                      <a:pPr algn="ctr"/>
                      <a:r>
                        <a:rPr lang="en-US" altLang="zh-CN" sz="1400" dirty="0" smtClean="0"/>
                        <a:t>30</a:t>
                      </a:r>
                      <a:endParaRPr lang="zh-CN" altLang="en-US" sz="1400" dirty="0"/>
                    </a:p>
                  </a:txBody>
                  <a:tcPr anchor="ctr"/>
                </a:tc>
              </a:tr>
              <a:tr h="288000">
                <a:tc vMerge="1">
                  <a:txBody>
                    <a:bodyPr/>
                    <a:lstStyle/>
                    <a:p>
                      <a:endParaRPr lang="zh-CN" altLang="en-US"/>
                    </a:p>
                  </a:txBody>
                  <a:tcPr/>
                </a:tc>
                <a:tc>
                  <a:txBody>
                    <a:bodyPr/>
                    <a:lstStyle/>
                    <a:p>
                      <a:pPr algn="ctr"/>
                      <a:r>
                        <a:rPr lang="en-US" altLang="zh-CN" sz="1400" dirty="0" smtClean="0"/>
                        <a:t>144</a:t>
                      </a:r>
                      <a:endParaRPr lang="zh-CN" altLang="en-US" sz="1400" dirty="0"/>
                    </a:p>
                  </a:txBody>
                  <a:tcPr anchor="ctr"/>
                </a:tc>
                <a:tc>
                  <a:txBody>
                    <a:bodyPr/>
                    <a:lstStyle/>
                    <a:p>
                      <a:pPr algn="ctr"/>
                      <a:r>
                        <a:rPr lang="en-US" altLang="zh-CN" sz="1400" dirty="0" smtClean="0"/>
                        <a:t>6000</a:t>
                      </a:r>
                      <a:endParaRPr lang="zh-CN" altLang="en-US" sz="1400" dirty="0"/>
                    </a:p>
                  </a:txBody>
                  <a:tcPr anchor="ctr"/>
                </a:tc>
                <a:tc>
                  <a:txBody>
                    <a:bodyPr/>
                    <a:lstStyle/>
                    <a:p>
                      <a:pPr algn="ctr"/>
                      <a:r>
                        <a:rPr lang="en-US" altLang="zh-CN" sz="1400" dirty="0" smtClean="0"/>
                        <a:t>4680</a:t>
                      </a:r>
                      <a:endParaRPr lang="zh-CN" altLang="en-US" sz="1400" dirty="0"/>
                    </a:p>
                  </a:txBody>
                  <a:tcPr anchor="ctr"/>
                </a:tc>
                <a:tc>
                  <a:txBody>
                    <a:bodyPr/>
                    <a:lstStyle/>
                    <a:p>
                      <a:pPr algn="ctr"/>
                      <a:r>
                        <a:rPr lang="en-US" altLang="zh-CN" sz="1400" dirty="0" smtClean="0"/>
                        <a:t>30</a:t>
                      </a:r>
                      <a:endParaRPr lang="zh-CN" altLang="en-US" sz="1400" dirty="0"/>
                    </a:p>
                  </a:txBody>
                  <a:tcPr anchor="ctr"/>
                </a:tc>
              </a:tr>
              <a:tr h="288000">
                <a:tc vMerge="1">
                  <a:txBody>
                    <a:bodyPr/>
                    <a:lstStyle/>
                    <a:p>
                      <a:pPr algn="ctr"/>
                      <a:endParaRPr lang="zh-CN" altLang="en-US" sz="1600" dirty="0"/>
                    </a:p>
                  </a:txBody>
                  <a:tcPr anchor="ctr"/>
                </a:tc>
                <a:tc>
                  <a:txBody>
                    <a:bodyPr/>
                    <a:lstStyle/>
                    <a:p>
                      <a:pPr algn="ctr"/>
                      <a:r>
                        <a:rPr lang="en-US" altLang="zh-CN" sz="1400" dirty="0" smtClean="0"/>
                        <a:t>320</a:t>
                      </a:r>
                      <a:endParaRPr lang="zh-CN" altLang="en-US" sz="1400" dirty="0"/>
                    </a:p>
                  </a:txBody>
                  <a:tcPr anchor="ctr"/>
                </a:tc>
                <a:tc>
                  <a:txBody>
                    <a:bodyPr/>
                    <a:lstStyle/>
                    <a:p>
                      <a:pPr algn="ctr"/>
                      <a:r>
                        <a:rPr lang="en-US" altLang="zh-CN" sz="1400" dirty="0" smtClean="0"/>
                        <a:t>6000</a:t>
                      </a:r>
                      <a:endParaRPr lang="zh-CN" altLang="en-US" sz="1400" dirty="0"/>
                    </a:p>
                  </a:txBody>
                  <a:tcPr anchor="ctr"/>
                </a:tc>
                <a:tc>
                  <a:txBody>
                    <a:bodyPr/>
                    <a:lstStyle/>
                    <a:p>
                      <a:pPr algn="ctr"/>
                      <a:r>
                        <a:rPr lang="en-US" altLang="zh-CN" sz="1400" dirty="0" smtClean="0"/>
                        <a:t>4680</a:t>
                      </a:r>
                      <a:endParaRPr lang="zh-CN" altLang="en-US" sz="1400" dirty="0"/>
                    </a:p>
                  </a:txBody>
                  <a:tcPr anchor="ctr"/>
                </a:tc>
                <a:tc>
                  <a:txBody>
                    <a:bodyPr/>
                    <a:lstStyle/>
                    <a:p>
                      <a:pPr algn="ctr"/>
                      <a:r>
                        <a:rPr lang="en-US" altLang="zh-CN" sz="1400" dirty="0" smtClean="0"/>
                        <a:t>10</a:t>
                      </a:r>
                      <a:endParaRPr lang="zh-CN" altLang="en-US" sz="1400" dirty="0"/>
                    </a:p>
                  </a:txBody>
                  <a:tcPr anchor="ctr"/>
                </a:tc>
              </a:tr>
              <a:tr h="288000">
                <a:tc vMerge="1">
                  <a:txBody>
                    <a:bodyPr/>
                    <a:lstStyle/>
                    <a:p>
                      <a:pPr algn="ctr"/>
                      <a:endParaRPr lang="zh-CN" altLang="en-US" sz="1600" dirty="0"/>
                    </a:p>
                  </a:txBody>
                  <a:tcPr anchor="ctr"/>
                </a:tc>
                <a:tc>
                  <a:txBody>
                    <a:bodyPr/>
                    <a:lstStyle/>
                    <a:p>
                      <a:pPr algn="ctr"/>
                      <a:r>
                        <a:rPr lang="en-US" altLang="zh-CN" sz="1400" dirty="0" smtClean="0"/>
                        <a:t>540</a:t>
                      </a:r>
                      <a:endParaRPr lang="zh-CN" altLang="en-US" sz="1400" dirty="0"/>
                    </a:p>
                  </a:txBody>
                  <a:tcPr anchor="ctr"/>
                </a:tc>
                <a:tc>
                  <a:txBody>
                    <a:bodyPr/>
                    <a:lstStyle/>
                    <a:p>
                      <a:pPr algn="ctr"/>
                      <a:r>
                        <a:rPr lang="en-US" altLang="zh-CN" sz="1400" dirty="0" smtClean="0"/>
                        <a:t>6000</a:t>
                      </a:r>
                      <a:endParaRPr lang="zh-CN" altLang="en-US" sz="1400" dirty="0"/>
                    </a:p>
                  </a:txBody>
                  <a:tcPr anchor="ctr"/>
                </a:tc>
                <a:tc>
                  <a:txBody>
                    <a:bodyPr/>
                    <a:lstStyle/>
                    <a:p>
                      <a:pPr algn="ctr"/>
                      <a:r>
                        <a:rPr lang="en-US" altLang="zh-CN" sz="1400" dirty="0" smtClean="0"/>
                        <a:t>4680</a:t>
                      </a:r>
                      <a:endParaRPr lang="zh-CN" altLang="en-US" sz="1400" dirty="0"/>
                    </a:p>
                  </a:txBody>
                  <a:tcPr anchor="ctr"/>
                </a:tc>
                <a:tc>
                  <a:txBody>
                    <a:bodyPr/>
                    <a:lstStyle/>
                    <a:p>
                      <a:pPr algn="ctr"/>
                      <a:r>
                        <a:rPr lang="en-US" altLang="zh-CN" sz="1400" dirty="0" smtClean="0"/>
                        <a:t>7</a:t>
                      </a:r>
                      <a:endParaRPr lang="zh-CN" altLang="en-US" sz="1400" dirty="0"/>
                    </a:p>
                  </a:txBody>
                  <a:tcPr anchor="ctr"/>
                </a:tc>
              </a:tr>
              <a:tr h="288000">
                <a:tc rowSpan="2">
                  <a:txBody>
                    <a:bodyPr/>
                    <a:lstStyle/>
                    <a:p>
                      <a:pPr algn="ctr"/>
                      <a:r>
                        <a:rPr lang="en-US" altLang="zh-CN" sz="1400" dirty="0" smtClean="0"/>
                        <a:t>34</a:t>
                      </a:r>
                      <a:endParaRPr lang="zh-CN" altLang="en-US" sz="1400" dirty="0"/>
                    </a:p>
                  </a:txBody>
                  <a:tcPr anchor="ctr"/>
                </a:tc>
                <a:tc>
                  <a:txBody>
                    <a:bodyPr/>
                    <a:lstStyle/>
                    <a:p>
                      <a:pPr algn="ctr"/>
                      <a:r>
                        <a:rPr lang="en-US" altLang="zh-CN" sz="1400" dirty="0" smtClean="0"/>
                        <a:t>320</a:t>
                      </a:r>
                      <a:endParaRPr lang="zh-CN" altLang="en-US" sz="1400" dirty="0"/>
                    </a:p>
                  </a:txBody>
                  <a:tcPr anchor="ctr"/>
                </a:tc>
                <a:tc>
                  <a:txBody>
                    <a:bodyPr/>
                    <a:lstStyle/>
                    <a:p>
                      <a:pPr algn="ctr"/>
                      <a:r>
                        <a:rPr lang="en-US" altLang="zh-CN" sz="1400" dirty="0" smtClean="0"/>
                        <a:t>6000</a:t>
                      </a:r>
                      <a:endParaRPr lang="zh-CN" altLang="en-US" sz="1400" dirty="0"/>
                    </a:p>
                  </a:txBody>
                  <a:tcPr anchor="ctr"/>
                </a:tc>
                <a:tc>
                  <a:txBody>
                    <a:bodyPr/>
                    <a:lstStyle/>
                    <a:p>
                      <a:pPr algn="ctr"/>
                      <a:r>
                        <a:rPr lang="en-US" altLang="zh-CN" sz="1400" dirty="0" smtClean="0"/>
                        <a:t>5940</a:t>
                      </a:r>
                      <a:endParaRPr lang="zh-CN" altLang="en-US" sz="1400" dirty="0"/>
                    </a:p>
                  </a:txBody>
                  <a:tcPr anchor="ctr"/>
                </a:tc>
                <a:tc>
                  <a:txBody>
                    <a:bodyPr/>
                    <a:lstStyle/>
                    <a:p>
                      <a:pPr algn="ctr"/>
                      <a:r>
                        <a:rPr lang="en-US" altLang="zh-CN" sz="1400" dirty="0" smtClean="0"/>
                        <a:t>15</a:t>
                      </a:r>
                      <a:endParaRPr lang="zh-CN" altLang="en-US" sz="1400" dirty="0"/>
                    </a:p>
                  </a:txBody>
                  <a:tcPr anchor="ctr"/>
                </a:tc>
              </a:tr>
              <a:tr h="288000">
                <a:tc vMerge="1">
                  <a:txBody>
                    <a:bodyPr/>
                    <a:lstStyle/>
                    <a:p>
                      <a:pPr algn="ctr"/>
                      <a:endParaRPr lang="zh-CN" altLang="en-US" sz="1600" dirty="0"/>
                    </a:p>
                  </a:txBody>
                  <a:tcPr anchor="ctr"/>
                </a:tc>
                <a:tc>
                  <a:txBody>
                    <a:bodyPr/>
                    <a:lstStyle/>
                    <a:p>
                      <a:pPr algn="ctr"/>
                      <a:r>
                        <a:rPr lang="en-US" altLang="zh-CN" sz="1400" dirty="0" smtClean="0"/>
                        <a:t>540</a:t>
                      </a:r>
                      <a:endParaRPr lang="zh-CN" altLang="en-US" sz="1400" dirty="0"/>
                    </a:p>
                  </a:txBody>
                  <a:tcPr anchor="ctr"/>
                </a:tc>
                <a:tc>
                  <a:txBody>
                    <a:bodyPr/>
                    <a:lstStyle/>
                    <a:p>
                      <a:pPr algn="ctr"/>
                      <a:r>
                        <a:rPr lang="en-US" altLang="zh-CN" sz="1400" dirty="0" smtClean="0"/>
                        <a:t>6000</a:t>
                      </a:r>
                      <a:endParaRPr lang="zh-CN" altLang="en-US" sz="1400" dirty="0"/>
                    </a:p>
                  </a:txBody>
                  <a:tcPr anchor="ctr"/>
                </a:tc>
                <a:tc>
                  <a:txBody>
                    <a:bodyPr/>
                    <a:lstStyle/>
                    <a:p>
                      <a:pPr algn="ctr"/>
                      <a:r>
                        <a:rPr lang="en-US" altLang="zh-CN" sz="1400" dirty="0" smtClean="0"/>
                        <a:t>5940</a:t>
                      </a:r>
                      <a:endParaRPr lang="zh-CN" altLang="en-US" sz="1400" dirty="0"/>
                    </a:p>
                  </a:txBody>
                  <a:tcPr anchor="ctr"/>
                </a:tc>
                <a:tc>
                  <a:txBody>
                    <a:bodyPr/>
                    <a:lstStyle/>
                    <a:p>
                      <a:pPr algn="ctr"/>
                      <a:r>
                        <a:rPr lang="en-US" altLang="zh-CN" sz="1400" dirty="0" smtClean="0"/>
                        <a:t>10</a:t>
                      </a:r>
                      <a:endParaRPr lang="zh-CN" altLang="en-US" sz="1400" dirty="0"/>
                    </a:p>
                  </a:txBody>
                  <a:tcPr anchor="ctr"/>
                </a:tc>
              </a:tr>
            </a:tbl>
          </a:graphicData>
        </a:graphic>
      </p:graphicFrame>
      <p:sp>
        <p:nvSpPr>
          <p:cNvPr id="5" name="标题 1"/>
          <p:cNvSpPr txBox="1"/>
          <p:nvPr/>
        </p:nvSpPr>
        <p:spPr>
          <a:xfrm>
            <a:off x="1328235" y="496281"/>
            <a:ext cx="5411152" cy="589121"/>
          </a:xfrm>
          <a:prstGeom prst="rect">
            <a:avLst/>
          </a:prstGeom>
          <a:noFill/>
          <a:ln w="9525">
            <a:noFill/>
            <a:miter/>
          </a:ln>
        </p:spPr>
        <p:txBody>
          <a:bodyPr vert="horz" wrap="square" lIns="68579" tIns="34289" rIns="68579" bIns="34289" anchor="ctr">
            <a:normAutofit/>
          </a:bodyPr>
          <a:lstStyle/>
          <a:p>
            <a:pPr lvl="0" defTabSz="513715" rtl="0" eaLnBrk="1" fontAlgn="auto" hangingPunct="1">
              <a:lnSpc>
                <a:spcPct val="90000"/>
              </a:lnSpc>
              <a:spcAft>
                <a:spcPts val="0"/>
              </a:spcAft>
            </a:pPr>
            <a:r>
              <a:rPr kumimoji="0" lang="zh-CN" altLang="en-US" sz="2400" b="1" i="0" u="none" strike="noStrike" kern="1200" cap="none" spc="150" normalizeH="0" baseline="0" noProof="0" dirty="0" smtClean="0">
                <a:ln>
                  <a:noFill/>
                </a:ln>
                <a:solidFill>
                  <a:srgbClr val="0070C0"/>
                </a:solidFill>
                <a:effectLst/>
                <a:uLnTx/>
                <a:uFillTx/>
                <a:latin typeface="楷体" panose="02010609060101010101" charset="-122"/>
                <a:ea typeface="楷体" panose="02010609060101010101" charset="-122"/>
                <a:cs typeface="+mn-cs"/>
                <a:sym typeface="+mn-ea"/>
              </a:rPr>
              <a:t>排量、电压、制冷量对应表</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电动压缩机的</a:t>
            </a:r>
            <a:r>
              <a:rPr lang="en-US" altLang="zh-CN" sz="2400" dirty="0" smtClean="0">
                <a:latin typeface="楷体" panose="02010609060101010101" charset="-122"/>
                <a:ea typeface="楷体" panose="02010609060101010101" charset="-122"/>
              </a:rPr>
              <a:t>DVP</a:t>
            </a:r>
            <a:r>
              <a:rPr lang="zh-CN" altLang="en-US" sz="2400" dirty="0" smtClean="0">
                <a:latin typeface="楷体" panose="02010609060101010101" charset="-122"/>
                <a:ea typeface="楷体" panose="02010609060101010101" charset="-122"/>
              </a:rPr>
              <a:t>验证</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2400" dirty="0" smtClean="0">
                <a:latin typeface="楷体" panose="02010609060101010101" charset="-122"/>
                <a:ea typeface="楷体" panose="02010609060101010101" charset="-122"/>
              </a:rPr>
              <a:t>DVP：</a:t>
            </a:r>
            <a:r>
              <a:rPr lang="zh-CN" altLang="en-US" sz="2400" dirty="0" smtClean="0">
                <a:latin typeface="楷体" panose="02010609060101010101" charset="-122"/>
                <a:ea typeface="楷体" panose="02010609060101010101" charset="-122"/>
              </a:rPr>
              <a:t>设计验证计划，即试验计划书</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2400" dirty="0" smtClean="0">
                <a:latin typeface="楷体" panose="02010609060101010101" charset="-122"/>
                <a:ea typeface="楷体" panose="02010609060101010101" charset="-122"/>
              </a:rPr>
              <a:t>告诉客户压缩机在开发阶段需要做那些试验，试验标准是什么，怎么做，什么时候完成</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2400" dirty="0" smtClean="0">
                <a:latin typeface="楷体" panose="02010609060101010101" charset="-122"/>
                <a:ea typeface="楷体" panose="02010609060101010101" charset="-122"/>
              </a:rPr>
              <a:t>有的客户会提出他们的</a:t>
            </a:r>
            <a:r>
              <a:rPr lang="en-US" altLang="zh-CN" sz="2400" dirty="0" smtClean="0">
                <a:latin typeface="楷体" panose="02010609060101010101" charset="-122"/>
                <a:ea typeface="楷体" panose="02010609060101010101" charset="-122"/>
              </a:rPr>
              <a:t>DVP</a:t>
            </a:r>
            <a:r>
              <a:rPr lang="zh-CN" altLang="en-US" sz="2400" dirty="0" smtClean="0">
                <a:latin typeface="楷体" panose="02010609060101010101" charset="-122"/>
                <a:ea typeface="楷体" panose="02010609060101010101" charset="-122"/>
              </a:rPr>
              <a:t>要求</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2400" dirty="0" smtClean="0">
                <a:latin typeface="楷体" panose="02010609060101010101" charset="-122"/>
                <a:ea typeface="楷体" panose="02010609060101010101" charset="-122"/>
              </a:rPr>
              <a:t>通常客户会要求提交</a:t>
            </a:r>
            <a:r>
              <a:rPr lang="en-US" altLang="zh-CN" sz="2400" dirty="0" smtClean="0">
                <a:latin typeface="楷体" panose="02010609060101010101" charset="-122"/>
                <a:ea typeface="楷体" panose="02010609060101010101" charset="-122"/>
              </a:rPr>
              <a:t>DVP</a:t>
            </a:r>
            <a:r>
              <a:rPr lang="zh-CN" altLang="en-US" sz="2400" dirty="0" smtClean="0">
                <a:latin typeface="楷体" panose="02010609060101010101" charset="-122"/>
                <a:ea typeface="楷体" panose="02010609060101010101" charset="-122"/>
              </a:rPr>
              <a:t>相关试验报告</a:t>
            </a:r>
            <a:endParaRPr lang="en-US" altLang="zh-CN" sz="2400" dirty="0" smtClean="0">
              <a:latin typeface="楷体" panose="02010609060101010101" charset="-122"/>
              <a:ea typeface="楷体" panose="02010609060101010101" charset="-122"/>
            </a:endParaRPr>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13</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14</a:t>
            </a:fld>
            <a:endParaRPr lang="zh-CN" altLang="en-US" dirty="0">
              <a:latin typeface="+mn-lt"/>
              <a:ea typeface="+mn-ea"/>
              <a:cs typeface="+mn-cs"/>
            </a:endParaRPr>
          </a:p>
        </p:txBody>
      </p:sp>
      <p:graphicFrame>
        <p:nvGraphicFramePr>
          <p:cNvPr id="9" name="表格 8"/>
          <p:cNvGraphicFramePr>
            <a:graphicFrameLocks noGrp="1"/>
          </p:cNvGraphicFramePr>
          <p:nvPr/>
        </p:nvGraphicFramePr>
        <p:xfrm>
          <a:off x="1076326" y="565164"/>
          <a:ext cx="6743697" cy="4430211"/>
        </p:xfrm>
        <a:graphic>
          <a:graphicData uri="http://schemas.openxmlformats.org/drawingml/2006/table">
            <a:tbl>
              <a:tblPr/>
              <a:tblGrid>
                <a:gridCol w="154538"/>
                <a:gridCol w="662301"/>
                <a:gridCol w="576938"/>
                <a:gridCol w="730004"/>
                <a:gridCol w="741777"/>
                <a:gridCol w="370889"/>
                <a:gridCol w="317904"/>
                <a:gridCol w="317904"/>
                <a:gridCol w="353228"/>
                <a:gridCol w="348812"/>
                <a:gridCol w="317904"/>
                <a:gridCol w="317904"/>
                <a:gridCol w="317904"/>
                <a:gridCol w="317904"/>
                <a:gridCol w="326735"/>
                <a:gridCol w="211937"/>
                <a:gridCol w="359114"/>
              </a:tblGrid>
              <a:tr h="175450">
                <a:tc rowSpan="2" gridSpan="10">
                  <a:txBody>
                    <a:bodyPr/>
                    <a:lstStyle/>
                    <a:p>
                      <a:pPr algn="l" fontAlgn="ctr"/>
                      <a:r>
                        <a:rPr lang="zh-CN" altLang="en-US" sz="800" b="0" i="0" u="none" strike="noStrike">
                          <a:solidFill>
                            <a:srgbClr val="000000"/>
                          </a:solidFill>
                          <a:latin typeface="宋体"/>
                        </a:rPr>
                        <a:t>设计验证计划和报告（</a:t>
                      </a:r>
                      <a:r>
                        <a:rPr lang="en-US" altLang="zh-CN" sz="800" b="0" i="0" u="none" strike="noStrike">
                          <a:solidFill>
                            <a:srgbClr val="000000"/>
                          </a:solidFill>
                          <a:latin typeface="宋体"/>
                        </a:rPr>
                        <a:t>DVP</a:t>
                      </a:r>
                      <a:r>
                        <a:rPr lang="zh-CN" altLang="en-US" sz="800" b="0" i="0" u="none" strike="noStrike">
                          <a:solidFill>
                            <a:srgbClr val="000000"/>
                          </a:solidFill>
                          <a:latin typeface="宋体"/>
                        </a:rPr>
                        <a:t>）</a:t>
                      </a:r>
                      <a:endParaRPr lang="zh-CN" altLang="en-US" sz="500" b="0" i="0" u="none" strike="noStrike">
                        <a:solidFill>
                          <a:srgbClr val="000000"/>
                        </a:solidFill>
                        <a:latin typeface="宋体"/>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rowSpan="2"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编 制（日期）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会 签（日期）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l" fontAlgn="ctr"/>
                      <a:r>
                        <a:rPr lang="zh-CN" altLang="en-US" sz="6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1600">
                <a:tc gridSpan="10"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审 核（日期）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批 准（日期）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zh-CN" altLang="en-US" sz="6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0068">
                <a:tc gridSpan="2">
                  <a:txBody>
                    <a:bodyPr/>
                    <a:lstStyle/>
                    <a:p>
                      <a:pPr algn="ctr" fontAlgn="ctr"/>
                      <a:r>
                        <a:rPr lang="zh-CN" altLang="en-US" sz="500" b="0" i="0" u="none" strike="noStrike">
                          <a:solidFill>
                            <a:srgbClr val="000000"/>
                          </a:solidFill>
                          <a:latin typeface="宋体"/>
                        </a:rPr>
                        <a:t>产品型号</a:t>
                      </a:r>
                      <a:r>
                        <a:rPr lang="en-US" altLang="zh-CN" sz="500" b="0" i="0" u="none" strike="noStrike">
                          <a:solidFill>
                            <a:srgbClr val="000000"/>
                          </a:solidFill>
                          <a:latin typeface="宋体"/>
                        </a:rPr>
                        <a:t>/</a:t>
                      </a:r>
                      <a:r>
                        <a:rPr lang="zh-CN" altLang="en-US" sz="500" b="0" i="0" u="none" strike="noStrike">
                          <a:solidFill>
                            <a:srgbClr val="000000"/>
                          </a:solidFill>
                          <a:latin typeface="宋体"/>
                        </a:rPr>
                        <a:t>零（部）件号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en-US" sz="500" b="0" i="0" u="none" strike="noStrike">
                          <a:solidFill>
                            <a:srgbClr val="000000"/>
                          </a:solidFill>
                          <a:latin typeface="宋体"/>
                        </a:rPr>
                        <a:t>BET34-C901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产品名称</a:t>
                      </a:r>
                      <a:r>
                        <a:rPr lang="en-US" altLang="zh-CN" sz="500" b="0" i="0" u="none" strike="noStrike">
                          <a:solidFill>
                            <a:srgbClr val="000000"/>
                          </a:solidFill>
                          <a:latin typeface="宋体"/>
                        </a:rPr>
                        <a:t>/</a:t>
                      </a:r>
                      <a:r>
                        <a:rPr lang="zh-CN" altLang="en-US" sz="500" b="0" i="0" u="none" strike="noStrike">
                          <a:solidFill>
                            <a:srgbClr val="000000"/>
                          </a:solidFill>
                          <a:latin typeface="宋体"/>
                        </a:rPr>
                        <a:t>零（部）件名称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fontAlgn="ctr"/>
                      <a:r>
                        <a:rPr lang="zh-CN" altLang="en-US" sz="500" b="0" i="0" u="none" strike="noStrike">
                          <a:solidFill>
                            <a:srgbClr val="000000"/>
                          </a:solidFill>
                          <a:latin typeface="宋体"/>
                        </a:rPr>
                        <a:t>压缩机总成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fontAlgn="ctr"/>
                      <a:r>
                        <a:rPr lang="en-US" sz="500" b="0" i="0" u="none" strike="noStrike">
                          <a:solidFill>
                            <a:srgbClr val="000000"/>
                          </a:solidFill>
                          <a:latin typeface="宋体"/>
                        </a:rPr>
                        <a:t>DVP&amp;R</a:t>
                      </a:r>
                      <a:r>
                        <a:rPr lang="zh-CN" altLang="en-US" sz="500" b="0" i="0" u="none" strike="noStrike">
                          <a:solidFill>
                            <a:srgbClr val="000000"/>
                          </a:solidFill>
                          <a:latin typeface="宋体"/>
                        </a:rPr>
                        <a:t>编号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部门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zh-CN" altLang="en-US" sz="500" b="0" i="0" u="none" strike="noStrike">
                          <a:solidFill>
                            <a:srgbClr val="000000"/>
                          </a:solidFill>
                          <a:latin typeface="宋体"/>
                        </a:rPr>
                        <a:t>技术中心</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9279">
                <a:tc gridSpan="12">
                  <a:txBody>
                    <a:bodyPr/>
                    <a:lstStyle/>
                    <a:p>
                      <a:pPr algn="ctr" fontAlgn="ctr"/>
                      <a:r>
                        <a:rPr lang="zh-CN" altLang="en-US" sz="500" b="0" i="0" u="none" strike="noStrike">
                          <a:solidFill>
                            <a:srgbClr val="000000"/>
                          </a:solidFill>
                          <a:latin typeface="宋体"/>
                        </a:rPr>
                        <a:t>验证计划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fontAlgn="ctr"/>
                      <a:r>
                        <a:rPr lang="zh-CN" altLang="en-US" sz="500" b="0" i="0" u="none" strike="noStrike">
                          <a:solidFill>
                            <a:srgbClr val="000000"/>
                          </a:solidFill>
                          <a:latin typeface="宋体"/>
                        </a:rPr>
                        <a:t>实际测试情况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3">
                  <a:txBody>
                    <a:bodyPr/>
                    <a:lstStyle/>
                    <a:p>
                      <a:pPr algn="ctr" fontAlgn="ctr"/>
                      <a:r>
                        <a:rPr lang="zh-CN" altLang="en-US" sz="500" b="0" i="0" u="none" strike="noStrike">
                          <a:solidFill>
                            <a:srgbClr val="000000"/>
                          </a:solidFill>
                          <a:latin typeface="宋体"/>
                        </a:rPr>
                        <a:t>备注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20045">
                <a:tc rowSpan="2">
                  <a:txBody>
                    <a:bodyPr/>
                    <a:lstStyle/>
                    <a:p>
                      <a:pPr algn="ctr" fontAlgn="ctr"/>
                      <a:r>
                        <a:rPr lang="zh-CN" altLang="en-US" sz="500" b="0" i="0" u="none" strike="noStrike">
                          <a:solidFill>
                            <a:srgbClr val="000000"/>
                          </a:solidFill>
                          <a:latin typeface="宋体"/>
                        </a:rPr>
                        <a:t>序号</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500" b="0" i="0" u="none" strike="noStrike">
                          <a:solidFill>
                            <a:srgbClr val="000000"/>
                          </a:solidFill>
                          <a:latin typeface="宋体"/>
                        </a:rPr>
                        <a:t>试验项目</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500" b="0" i="0" u="none" strike="noStrike">
                          <a:solidFill>
                            <a:srgbClr val="000000"/>
                          </a:solidFill>
                          <a:latin typeface="宋体"/>
                        </a:rPr>
                        <a:t>试验标准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500" b="0" i="0" u="none" strike="noStrike">
                          <a:solidFill>
                            <a:srgbClr val="000000"/>
                          </a:solidFill>
                          <a:latin typeface="宋体"/>
                        </a:rPr>
                        <a:t>试验描述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500" b="0" i="0" u="none" strike="noStrike">
                          <a:solidFill>
                            <a:srgbClr val="000000"/>
                          </a:solidFill>
                          <a:latin typeface="宋体"/>
                        </a:rPr>
                        <a:t>目的要求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500" b="0" i="0" u="none" strike="noStrike">
                          <a:solidFill>
                            <a:srgbClr val="000000"/>
                          </a:solidFill>
                          <a:latin typeface="宋体"/>
                        </a:rPr>
                        <a:t>设计验证</a:t>
                      </a:r>
                      <a:r>
                        <a:rPr lang="en-US" altLang="zh-CN" sz="500" b="0" i="0" u="none" strike="noStrike">
                          <a:solidFill>
                            <a:srgbClr val="000000"/>
                          </a:solidFill>
                          <a:latin typeface="宋体"/>
                        </a:rPr>
                        <a:t>/</a:t>
                      </a:r>
                      <a:r>
                        <a:rPr lang="zh-CN" altLang="en-US" sz="500" b="0" i="0" u="none" strike="noStrike">
                          <a:solidFill>
                            <a:srgbClr val="000000"/>
                          </a:solidFill>
                          <a:latin typeface="宋体"/>
                        </a:rPr>
                        <a:t>认可试验</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500" b="0" i="0" u="none" strike="noStrike">
                          <a:solidFill>
                            <a:srgbClr val="000000"/>
                          </a:solidFill>
                          <a:latin typeface="宋体"/>
                        </a:rPr>
                        <a:t>样件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fontAlgn="ctr"/>
                      <a:r>
                        <a:rPr lang="zh-CN" altLang="en-US" sz="500" b="0" i="0" u="none" strike="noStrike">
                          <a:solidFill>
                            <a:srgbClr val="000000"/>
                          </a:solidFill>
                          <a:latin typeface="宋体"/>
                        </a:rPr>
                        <a:t>试验单位</a:t>
                      </a:r>
                      <a:r>
                        <a:rPr lang="en-US" altLang="zh-CN" sz="500" b="0" i="0" u="none" strike="noStrike">
                          <a:solidFill>
                            <a:srgbClr val="000000"/>
                          </a:solidFill>
                          <a:latin typeface="宋体"/>
                        </a:rPr>
                        <a:t>/</a:t>
                      </a:r>
                      <a:r>
                        <a:rPr lang="zh-CN" altLang="en-US" sz="500" b="0" i="0" u="none" strike="noStrike">
                          <a:solidFill>
                            <a:srgbClr val="000000"/>
                          </a:solidFill>
                          <a:latin typeface="宋体"/>
                        </a:rPr>
                        <a:t>地点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500" b="0" i="0" u="none" strike="noStrike">
                          <a:solidFill>
                            <a:srgbClr val="000000"/>
                          </a:solidFill>
                          <a:latin typeface="宋体"/>
                        </a:rPr>
                        <a:t>测试责任人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500" b="0" i="0" u="none" strike="noStrike">
                          <a:solidFill>
                            <a:srgbClr val="000000"/>
                          </a:solidFill>
                          <a:latin typeface="宋体"/>
                        </a:rPr>
                        <a:t>计划日期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500" b="0" i="0" u="none" strike="noStrike">
                          <a:solidFill>
                            <a:srgbClr val="000000"/>
                          </a:solidFill>
                          <a:latin typeface="宋体"/>
                        </a:rPr>
                        <a:t>实际实施日期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zh-CN" altLang="en-US" sz="500" b="0" i="0" u="none" strike="noStrike">
                          <a:solidFill>
                            <a:srgbClr val="000000"/>
                          </a:solidFill>
                          <a:latin typeface="宋体"/>
                        </a:rPr>
                        <a:t>测试报告</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500" b="0" i="0" u="none" strike="noStrike">
                          <a:solidFill>
                            <a:srgbClr val="000000"/>
                          </a:solidFill>
                          <a:latin typeface="宋体"/>
                        </a:rPr>
                        <a:t>结果判定</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ltLang="en-US"/>
                    </a:p>
                  </a:txBody>
                  <a:tcPr/>
                </a:tc>
              </a:tr>
              <a:tr h="11081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500" b="0" i="0" u="none" strike="noStrike">
                          <a:solidFill>
                            <a:srgbClr val="000000"/>
                          </a:solidFill>
                          <a:latin typeface="宋体"/>
                        </a:rPr>
                        <a:t>数量</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类型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500" b="0" i="0" u="none" strike="noStrike">
                          <a:solidFill>
                            <a:srgbClr val="000000"/>
                          </a:solidFill>
                          <a:latin typeface="宋体"/>
                        </a:rPr>
                        <a:t>开始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完成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开始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完成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测试结果</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tr>
              <a:tr h="207770">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外观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检查压缩机外观质量、外形尺寸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电动动压缩机总成应符合本标准的规定</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能效比</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6.3</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符合</a:t>
                      </a:r>
                      <a:r>
                        <a:rPr lang="en-US" sz="500" b="0" i="0" u="none" strike="noStrike">
                          <a:solidFill>
                            <a:srgbClr val="000000"/>
                          </a:solidFill>
                          <a:latin typeface="宋体"/>
                        </a:rPr>
                        <a:t>GB/T 22068-2008</a:t>
                      </a:r>
                      <a:r>
                        <a:rPr lang="zh-CN" altLang="en-US" sz="500" b="0" i="0" u="none" strike="noStrike">
                          <a:solidFill>
                            <a:srgbClr val="000000"/>
                          </a:solidFill>
                          <a:latin typeface="宋体"/>
                        </a:rPr>
                        <a:t>表</a:t>
                      </a:r>
                      <a:r>
                        <a:rPr lang="en-US" altLang="zh-CN" sz="500" b="0" i="0" u="none" strike="noStrike">
                          <a:solidFill>
                            <a:srgbClr val="000000"/>
                          </a:solidFill>
                          <a:latin typeface="宋体"/>
                        </a:rPr>
                        <a:t>2</a:t>
                      </a:r>
                      <a:r>
                        <a:rPr lang="zh-CN" altLang="en-US" sz="500" b="0" i="0" u="none" strike="noStrike">
                          <a:solidFill>
                            <a:srgbClr val="000000"/>
                          </a:solidFill>
                          <a:latin typeface="宋体"/>
                        </a:rPr>
                        <a:t>要求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噪音</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6.4</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符合设计要求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耐久性</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6.7</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耐久性满足国标要求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清洁度</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6.5.1</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杂质总量＜</a:t>
                      </a:r>
                      <a:r>
                        <a:rPr lang="en-US" altLang="zh-CN" sz="500" b="0" i="0" u="none" strike="noStrike">
                          <a:solidFill>
                            <a:srgbClr val="000000"/>
                          </a:solidFill>
                          <a:latin typeface="宋体"/>
                        </a:rPr>
                        <a:t>40</a:t>
                      </a:r>
                      <a:r>
                        <a:rPr lang="en-US" sz="500" b="0" i="0" u="none" strike="noStrike">
                          <a:solidFill>
                            <a:srgbClr val="000000"/>
                          </a:solidFill>
                          <a:latin typeface="宋体"/>
                        </a:rPr>
                        <a:t>mg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含水率</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6.5.2</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含水率＜</a:t>
                      </a:r>
                      <a:r>
                        <a:rPr lang="en-US" altLang="zh-CN" sz="500" b="0" i="0" u="none" strike="noStrike">
                          <a:solidFill>
                            <a:srgbClr val="000000"/>
                          </a:solidFill>
                          <a:latin typeface="宋体"/>
                        </a:rPr>
                        <a:t>1500</a:t>
                      </a:r>
                      <a:r>
                        <a:rPr lang="en-US" sz="500" b="0" i="0" u="none" strike="noStrike">
                          <a:solidFill>
                            <a:srgbClr val="000000"/>
                          </a:solidFill>
                          <a:latin typeface="宋体"/>
                        </a:rPr>
                        <a:t>PPm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气密性</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6.5.3</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年泄漏量≤</a:t>
                      </a:r>
                      <a:r>
                        <a:rPr lang="en-US" altLang="zh-CN" sz="500" b="0" i="0" u="none" strike="noStrike">
                          <a:solidFill>
                            <a:srgbClr val="000000"/>
                          </a:solidFill>
                          <a:latin typeface="宋体"/>
                        </a:rPr>
                        <a:t>15</a:t>
                      </a:r>
                      <a:r>
                        <a:rPr lang="en-US" sz="500" b="0" i="0" u="none" strike="noStrike">
                          <a:solidFill>
                            <a:srgbClr val="000000"/>
                          </a:solidFill>
                          <a:latin typeface="宋体"/>
                        </a:rPr>
                        <a:t>g/</a:t>
                      </a:r>
                      <a:r>
                        <a:rPr lang="zh-CN" altLang="en-US" sz="500" b="0" i="0" u="none" strike="noStrike">
                          <a:solidFill>
                            <a:srgbClr val="000000"/>
                          </a:solidFill>
                          <a:latin typeface="宋体"/>
                        </a:rPr>
                        <a:t>年</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电动机定子绕组对外壳的耐电压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6.5.5</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三相电阻平衡率≤</a:t>
                      </a:r>
                      <a:r>
                        <a:rPr lang="en-US" altLang="zh-CN" sz="500" b="0" i="0" u="none" strike="noStrike">
                          <a:solidFill>
                            <a:srgbClr val="000000"/>
                          </a:solidFill>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电动机定子绕组的匝间绝缘</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6.5.6</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无匝间短路</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07770">
                <a:tc>
                  <a:txBody>
                    <a:bodyPr/>
                    <a:lstStyle/>
                    <a:p>
                      <a:pPr algn="ctr" fontAlgn="ctr"/>
                      <a:r>
                        <a:rPr lang="en-US" altLang="zh-CN" sz="500" b="0" i="0" u="none" strike="noStrike">
                          <a:solidFill>
                            <a:srgbClr val="000000"/>
                          </a:solidFill>
                          <a:latin typeface="宋体"/>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电动机定子绕组对外壳的绝缘电阻</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6.5.7</a:t>
                      </a:r>
                      <a:r>
                        <a:rPr lang="zh-CN" altLang="en-US" sz="500" b="0" i="0" u="none" strike="noStrike">
                          <a:solidFill>
                            <a:srgbClr val="000000"/>
                          </a:solidFill>
                          <a:latin typeface="宋体"/>
                        </a:rPr>
                        <a:t>条款测试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400" b="0" i="0" u="none" strike="noStrike">
                          <a:solidFill>
                            <a:srgbClr val="000000"/>
                          </a:solidFill>
                          <a:latin typeface="宋体"/>
                        </a:rPr>
                        <a:t>绝缘电阻≥</a:t>
                      </a:r>
                      <a:r>
                        <a:rPr lang="en-US" altLang="zh-CN" sz="400" b="0" i="0" u="none" strike="noStrike">
                          <a:solidFill>
                            <a:srgbClr val="000000"/>
                          </a:solidFill>
                          <a:latin typeface="宋体"/>
                        </a:rPr>
                        <a:t>20</a:t>
                      </a:r>
                      <a:r>
                        <a:rPr lang="en-US" sz="400" b="0" i="0" u="none" strike="noStrike">
                          <a:solidFill>
                            <a:srgbClr val="000000"/>
                          </a:solidFill>
                          <a:latin typeface="宋体"/>
                        </a:rPr>
                        <a:t>M</a:t>
                      </a:r>
                      <a:r>
                        <a:rPr lang="el-GR" sz="400" b="0" i="0" u="none" strike="noStrike">
                          <a:solidFill>
                            <a:srgbClr val="000000"/>
                          </a:solidFill>
                          <a:latin typeface="宋体"/>
                        </a:rPr>
                        <a:t>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89302">
                <a:tc>
                  <a:txBody>
                    <a:bodyPr/>
                    <a:lstStyle/>
                    <a:p>
                      <a:pPr algn="ctr" fontAlgn="ctr"/>
                      <a:r>
                        <a:rPr lang="en-US" altLang="zh-CN" sz="500" b="0" i="0" u="none" strike="noStrike">
                          <a:solidFill>
                            <a:srgbClr val="000000"/>
                          </a:solidFill>
                          <a:latin typeface="宋体"/>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电动机定子绕组对外壳的耐电压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6.5.8</a:t>
                      </a:r>
                      <a:r>
                        <a:rPr lang="zh-CN" altLang="en-US" sz="500" b="0" i="0" u="none" strike="noStrike">
                          <a:solidFill>
                            <a:srgbClr val="000000"/>
                          </a:solidFill>
                          <a:latin typeface="宋体"/>
                        </a:rPr>
                        <a:t>条款表</a:t>
                      </a:r>
                      <a:r>
                        <a:rPr lang="en-US" altLang="zh-CN" sz="500" b="0" i="0" u="none" strike="noStrike">
                          <a:solidFill>
                            <a:srgbClr val="000000"/>
                          </a:solidFill>
                          <a:latin typeface="宋体"/>
                        </a:rPr>
                        <a:t>4</a:t>
                      </a:r>
                      <a:r>
                        <a:rPr lang="zh-CN" altLang="en-US" sz="500" b="0" i="0" u="none" strike="noStrike">
                          <a:solidFill>
                            <a:srgbClr val="000000"/>
                          </a:solidFill>
                          <a:latin typeface="宋体"/>
                        </a:rPr>
                        <a:t>规定测试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漏电流应符合国际规定</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6239">
                <a:tc>
                  <a:txBody>
                    <a:bodyPr/>
                    <a:lstStyle/>
                    <a:p>
                      <a:pPr algn="ctr" fontAlgn="ctr"/>
                      <a:r>
                        <a:rPr lang="en-US" altLang="zh-CN" sz="500" b="0" i="0" u="none" strike="noStrike">
                          <a:solidFill>
                            <a:srgbClr val="000000"/>
                          </a:solidFill>
                          <a:latin typeface="宋体"/>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热循环</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6.5.13</a:t>
                      </a:r>
                      <a:r>
                        <a:rPr lang="zh-CN" altLang="en-US" sz="500" b="0" i="0" u="none" strike="noStrike">
                          <a:solidFill>
                            <a:srgbClr val="000000"/>
                          </a:solidFill>
                          <a:latin typeface="宋体"/>
                        </a:rPr>
                        <a:t>规定测试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满足国标要求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6239">
                <a:tc>
                  <a:txBody>
                    <a:bodyPr/>
                    <a:lstStyle/>
                    <a:p>
                      <a:pPr algn="ctr" fontAlgn="ctr"/>
                      <a:r>
                        <a:rPr lang="en-US" altLang="zh-CN" sz="500" b="0" i="0" u="none" strike="noStrike">
                          <a:solidFill>
                            <a:srgbClr val="000000"/>
                          </a:solidFill>
                          <a:latin typeface="宋体"/>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交变湿热</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6.5.14</a:t>
                      </a:r>
                      <a:r>
                        <a:rPr lang="zh-CN" altLang="en-US" sz="500" b="0" i="0" u="none" strike="noStrike">
                          <a:solidFill>
                            <a:srgbClr val="000000"/>
                          </a:solidFill>
                          <a:latin typeface="宋体"/>
                        </a:rPr>
                        <a:t>规定测试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满足国标要求</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67228">
                <a:tc>
                  <a:txBody>
                    <a:bodyPr/>
                    <a:lstStyle/>
                    <a:p>
                      <a:pPr algn="ctr" fontAlgn="ctr"/>
                      <a:r>
                        <a:rPr lang="en-US" altLang="zh-CN" sz="500" b="0" i="0" u="none" strike="noStrike">
                          <a:solidFill>
                            <a:srgbClr val="000000"/>
                          </a:solidFill>
                          <a:latin typeface="宋体"/>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耐腐蚀性</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zh-CN" altLang="en-US" sz="500" b="0" i="0" u="none" strike="noStrike" dirty="0">
                          <a:solidFill>
                            <a:srgbClr val="000000"/>
                          </a:solidFill>
                          <a:latin typeface="宋体"/>
                        </a:rPr>
                        <a:t>将试验样件按正常的安装放入试验空间温度为</a:t>
                      </a:r>
                      <a:r>
                        <a:rPr lang="en-US" altLang="zh-CN" sz="500" b="0" i="0" u="none" strike="noStrike" dirty="0">
                          <a:solidFill>
                            <a:srgbClr val="000000"/>
                          </a:solidFill>
                          <a:latin typeface="宋体"/>
                        </a:rPr>
                        <a:t>35±2℃</a:t>
                      </a:r>
                      <a:r>
                        <a:rPr lang="zh-CN" altLang="en-US" sz="500" b="0" i="0" u="none" strike="noStrike" dirty="0">
                          <a:solidFill>
                            <a:srgbClr val="000000"/>
                          </a:solidFill>
                          <a:latin typeface="宋体"/>
                        </a:rPr>
                        <a:t>的试验箱中，放置时间</a:t>
                      </a:r>
                      <a:r>
                        <a:rPr lang="en-US" altLang="zh-CN" sz="500" b="0" i="0" u="none" strike="noStrike" dirty="0">
                          <a:solidFill>
                            <a:srgbClr val="000000"/>
                          </a:solidFill>
                          <a:latin typeface="宋体"/>
                        </a:rPr>
                        <a:t>96</a:t>
                      </a:r>
                      <a:r>
                        <a:rPr lang="zh-CN" altLang="en-US" sz="500" b="0" i="0" u="none" strike="noStrike" dirty="0">
                          <a:solidFill>
                            <a:srgbClr val="000000"/>
                          </a:solidFill>
                          <a:latin typeface="宋体"/>
                        </a:rPr>
                        <a:t>个小时连续喷雾</a:t>
                      </a:r>
                      <a:br>
                        <a:rPr lang="zh-CN" altLang="en-US" sz="500" b="0" i="0" u="none" strike="noStrike" dirty="0">
                          <a:solidFill>
                            <a:srgbClr val="000000"/>
                          </a:solidFill>
                          <a:latin typeface="宋体"/>
                        </a:rPr>
                      </a:br>
                      <a:endParaRPr lang="zh-CN" altLang="en-US" sz="500" b="0" i="0" u="none" strike="noStrike" dirty="0">
                        <a:solidFill>
                          <a:srgbClr val="000000"/>
                        </a:solidFill>
                        <a:latin typeface="宋体"/>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试验结束后，要求样件的表面油漆无起泡、腐蚀斑点现象，样件性能良好</a:t>
                      </a:r>
                      <a:br>
                        <a:rPr lang="zh-CN" altLang="en-US" sz="500" b="0" i="0" u="none" strike="noStrike">
                          <a:solidFill>
                            <a:srgbClr val="000000"/>
                          </a:solidFill>
                          <a:latin typeface="宋体"/>
                        </a:rPr>
                      </a:br>
                      <a:endParaRPr lang="zh-CN" altLang="en-US" sz="500" b="0" i="0" u="none" strike="noStrike">
                        <a:solidFill>
                          <a:srgbClr val="000000"/>
                        </a:solidFill>
                        <a:latin typeface="宋体"/>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6239">
                <a:tc>
                  <a:txBody>
                    <a:bodyPr/>
                    <a:lstStyle/>
                    <a:p>
                      <a:pPr algn="ctr" fontAlgn="ctr"/>
                      <a:r>
                        <a:rPr lang="en-US" altLang="zh-CN" sz="500" b="0" i="0" u="none" strike="noStrike">
                          <a:solidFill>
                            <a:srgbClr val="000000"/>
                          </a:solidFill>
                          <a:latin typeface="宋体"/>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驱动控制器绝缘电阻</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6.6.2</a:t>
                      </a:r>
                      <a:r>
                        <a:rPr lang="zh-CN" altLang="en-US" sz="500" b="0" i="0" u="none" strike="noStrike">
                          <a:solidFill>
                            <a:srgbClr val="000000"/>
                          </a:solidFill>
                          <a:latin typeface="宋体"/>
                        </a:rPr>
                        <a:t>规定测试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驱动控制器绝缘电阻＞</a:t>
                      </a:r>
                      <a:r>
                        <a:rPr lang="en-US" altLang="zh-CN" sz="500" b="0" i="0" u="none" strike="noStrike">
                          <a:solidFill>
                            <a:srgbClr val="000000"/>
                          </a:solidFill>
                          <a:latin typeface="宋体"/>
                        </a:rPr>
                        <a:t>20MΩ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6239">
                <a:tc>
                  <a:txBody>
                    <a:bodyPr/>
                    <a:lstStyle/>
                    <a:p>
                      <a:pPr algn="ctr" fontAlgn="ctr"/>
                      <a:r>
                        <a:rPr lang="en-US" altLang="zh-CN" sz="500" b="0" i="0" u="none" strike="noStrike">
                          <a:solidFill>
                            <a:srgbClr val="000000"/>
                          </a:solidFill>
                          <a:latin typeface="宋体"/>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驱动控制器耐电压</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500" b="0" i="0" u="none" strike="noStrike">
                          <a:solidFill>
                            <a:srgbClr val="000000"/>
                          </a:solidFill>
                          <a:latin typeface="宋体"/>
                        </a:rPr>
                        <a:t>GB/T 22068-2008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6.6.3</a:t>
                      </a:r>
                      <a:r>
                        <a:rPr lang="zh-CN" altLang="en-US" sz="500" b="0" i="0" u="none" strike="noStrike">
                          <a:solidFill>
                            <a:srgbClr val="000000"/>
                          </a:solidFill>
                          <a:latin typeface="宋体"/>
                        </a:rPr>
                        <a:t>规定测试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漏电流应符合国际规定</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设计验证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模具成品</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湖南贝特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韦川基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1" name="图片 10" descr="cbet大图裁剪"/>
          <p:cNvPicPr>
            <a:picLocks noChangeAspect="1" noChangeArrowheads="1"/>
          </p:cNvPicPr>
          <p:nvPr/>
        </p:nvPicPr>
        <p:blipFill>
          <a:blip r:embed="rId2" cstate="print"/>
          <a:srcRect/>
          <a:stretch>
            <a:fillRect/>
          </a:stretch>
        </p:blipFill>
        <p:spPr>
          <a:xfrm>
            <a:off x="9524" y="47625"/>
            <a:ext cx="752475" cy="4191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15</a:t>
            </a:fld>
            <a:endParaRPr lang="zh-CN" altLang="en-US" dirty="0">
              <a:latin typeface="+mn-lt"/>
              <a:ea typeface="+mn-ea"/>
              <a:cs typeface="+mn-cs"/>
            </a:endParaRPr>
          </a:p>
        </p:txBody>
      </p:sp>
      <p:graphicFrame>
        <p:nvGraphicFramePr>
          <p:cNvPr id="5" name="表格 4"/>
          <p:cNvGraphicFramePr>
            <a:graphicFrameLocks noGrp="1"/>
          </p:cNvGraphicFramePr>
          <p:nvPr/>
        </p:nvGraphicFramePr>
        <p:xfrm>
          <a:off x="1114426" y="574637"/>
          <a:ext cx="7315198" cy="4568865"/>
        </p:xfrm>
        <a:graphic>
          <a:graphicData uri="http://schemas.openxmlformats.org/drawingml/2006/table">
            <a:tbl>
              <a:tblPr/>
              <a:tblGrid>
                <a:gridCol w="390524"/>
                <a:gridCol w="239786"/>
                <a:gridCol w="324160"/>
                <a:gridCol w="172885"/>
                <a:gridCol w="172885"/>
                <a:gridCol w="172885"/>
                <a:gridCol w="172885"/>
                <a:gridCol w="449489"/>
                <a:gridCol w="2165399"/>
                <a:gridCol w="501601"/>
                <a:gridCol w="2552699"/>
              </a:tblGrid>
              <a:tr h="103316">
                <a:tc rowSpan="2">
                  <a:txBody>
                    <a:bodyPr/>
                    <a:lstStyle/>
                    <a:p>
                      <a:pPr algn="ctr" fontAlgn="ctr"/>
                      <a:r>
                        <a:rPr lang="en-US" sz="600" b="0" i="0" u="none" strike="noStrike" dirty="0">
                          <a:solidFill>
                            <a:srgbClr val="000000"/>
                          </a:solidFill>
                          <a:latin typeface="宋体"/>
                        </a:rPr>
                        <a:t>GB/T22068-2008</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600" b="0" i="0" u="none" strike="noStrike">
                          <a:solidFill>
                            <a:srgbClr val="000000"/>
                          </a:solidFill>
                          <a:latin typeface="宋体"/>
                        </a:rPr>
                        <a:t>序号</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600" b="0" i="0" u="none" strike="noStrike">
                          <a:solidFill>
                            <a:srgbClr val="000000"/>
                          </a:solidFill>
                          <a:latin typeface="宋体"/>
                        </a:rPr>
                        <a:t>试验项目</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600" b="0" i="0" u="none" strike="noStrike">
                          <a:solidFill>
                            <a:srgbClr val="000000"/>
                          </a:solidFill>
                          <a:latin typeface="宋体"/>
                        </a:rPr>
                        <a:t>出厂检验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600" b="0" i="0" u="none" strike="noStrike">
                          <a:solidFill>
                            <a:srgbClr val="000000"/>
                          </a:solidFill>
                          <a:latin typeface="宋体"/>
                        </a:rPr>
                        <a:t>抽样检验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600" b="0" i="0" u="none" strike="noStrike">
                          <a:solidFill>
                            <a:srgbClr val="000000"/>
                          </a:solidFill>
                          <a:latin typeface="宋体"/>
                        </a:rPr>
                        <a:t>型式检验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CN" altLang="en-US" sz="600" b="0" i="0" u="none" strike="noStrike">
                          <a:solidFill>
                            <a:srgbClr val="000000"/>
                          </a:solidFill>
                          <a:latin typeface="宋体"/>
                        </a:rPr>
                        <a:t>生产许可</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600" b="0" i="0" u="none" strike="noStrike" dirty="0">
                          <a:solidFill>
                            <a:srgbClr val="000000"/>
                          </a:solidFill>
                          <a:latin typeface="宋体"/>
                        </a:rPr>
                        <a:t>技术要求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600" b="0" i="0" u="none" strike="noStrike" dirty="0">
                          <a:solidFill>
                            <a:srgbClr val="000000"/>
                          </a:solidFill>
                          <a:latin typeface="宋体"/>
                        </a:rPr>
                        <a:t>试验方法</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r>
              <a:tr h="10331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r>
                        <a:rPr lang="zh-CN" altLang="en-US" sz="600" b="0" i="0" u="none" strike="noStrike">
                          <a:solidFill>
                            <a:srgbClr val="000000"/>
                          </a:solidFill>
                          <a:latin typeface="宋体"/>
                        </a:rPr>
                        <a:t>条款</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内容</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条款</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内容</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93621">
                <a:tc rowSpan="9">
                  <a:txBody>
                    <a:bodyPr/>
                    <a:lstStyle/>
                    <a:p>
                      <a:pPr algn="ctr" fontAlgn="ctr"/>
                      <a:r>
                        <a:rPr lang="zh-CN" altLang="en-US" sz="600" b="0" i="0" u="none" strike="noStrike" dirty="0">
                          <a:solidFill>
                            <a:srgbClr val="000000"/>
                          </a:solidFill>
                          <a:latin typeface="宋体"/>
                        </a:rPr>
                        <a:t>电动压缩机总成</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dirty="0">
                          <a:solidFill>
                            <a:srgbClr val="000000"/>
                          </a:solidFill>
                          <a:latin typeface="宋体"/>
                        </a:rPr>
                        <a:t>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外观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电动动压缩机总成应符合本标准的规定，并按经规定程序批准的图样和技术文件（或用户和制造厂的协议）制造。其外形和安装尺寸应符合产品图纸的规定，外表面不应有油污、锈蚀、锐边等缺陷，导线护套不得破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电动压缩机总成外形尺寸用通用或专用量具检测，外观质量和标志用目测法检测</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8469">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能效比</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5.2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6.3</a:t>
                      </a:r>
                      <a:r>
                        <a:rPr lang="zh-CN" altLang="en-US" sz="600" b="0" i="0" u="none" strike="noStrike">
                          <a:solidFill>
                            <a:srgbClr val="000000"/>
                          </a:solidFill>
                          <a:latin typeface="宋体"/>
                        </a:rPr>
                        <a:t>方法试验后，电动压缩机总成的能效比应符合表</a:t>
                      </a:r>
                      <a:r>
                        <a:rPr lang="en-US" altLang="zh-CN" sz="600" b="0" i="0" u="none" strike="noStrike">
                          <a:solidFill>
                            <a:srgbClr val="000000"/>
                          </a:solidFill>
                          <a:latin typeface="宋体"/>
                        </a:rPr>
                        <a:t>2</a:t>
                      </a:r>
                      <a:r>
                        <a:rPr lang="zh-CN" altLang="en-US" sz="600" b="0" i="0" u="none" strike="noStrike">
                          <a:solidFill>
                            <a:srgbClr val="000000"/>
                          </a:solidFill>
                          <a:latin typeface="宋体"/>
                        </a:rPr>
                        <a:t>的要求。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电动压缩机总成按</a:t>
                      </a:r>
                      <a:r>
                        <a:rPr lang="en-US" altLang="zh-CN" sz="600" b="0" i="0" u="none" strike="noStrike">
                          <a:solidFill>
                            <a:srgbClr val="000000"/>
                          </a:solidFill>
                          <a:latin typeface="宋体"/>
                        </a:rPr>
                        <a:t>GB/T5773-2004</a:t>
                      </a:r>
                      <a:r>
                        <a:rPr lang="zh-CN" altLang="en-US" sz="600" b="0" i="0" u="none" strike="noStrike">
                          <a:solidFill>
                            <a:srgbClr val="000000"/>
                          </a:solidFill>
                          <a:latin typeface="宋体"/>
                        </a:rPr>
                        <a:t>中规定的方法和记录要求试验，仪器准确度按</a:t>
                      </a:r>
                      <a:r>
                        <a:rPr lang="en-US" altLang="zh-CN" sz="600" b="0" i="0" u="none" strike="noStrike">
                          <a:solidFill>
                            <a:srgbClr val="000000"/>
                          </a:solidFill>
                          <a:latin typeface="宋体"/>
                        </a:rPr>
                        <a:t>GB/T5773-2004</a:t>
                      </a:r>
                      <a:r>
                        <a:rPr lang="zh-CN" altLang="en-US" sz="600" b="0" i="0" u="none" strike="noStrike">
                          <a:solidFill>
                            <a:srgbClr val="000000"/>
                          </a:solidFill>
                          <a:latin typeface="宋体"/>
                        </a:rPr>
                        <a:t>中</a:t>
                      </a:r>
                      <a:r>
                        <a:rPr lang="en-US" altLang="zh-CN" sz="600" b="0" i="0" u="none" strike="noStrike">
                          <a:solidFill>
                            <a:srgbClr val="000000"/>
                          </a:solidFill>
                          <a:latin typeface="宋体"/>
                        </a:rPr>
                        <a:t>4.4</a:t>
                      </a:r>
                      <a:r>
                        <a:rPr lang="zh-CN" altLang="en-US" sz="600" b="0" i="0" u="none" strike="noStrike">
                          <a:solidFill>
                            <a:srgbClr val="000000"/>
                          </a:solidFill>
                          <a:latin typeface="宋体"/>
                        </a:rPr>
                        <a:t>的要求，试验工况见表</a:t>
                      </a:r>
                      <a:r>
                        <a:rPr lang="en-US" altLang="zh-CN" sz="600" b="0" i="0" u="none" strike="noStrike">
                          <a:solidFill>
                            <a:srgbClr val="000000"/>
                          </a:solidFill>
                          <a:latin typeface="宋体"/>
                        </a:rPr>
                        <a:t>5</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6045">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噪声</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5.3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6.4</a:t>
                      </a:r>
                      <a:r>
                        <a:rPr lang="zh-CN" altLang="en-US" sz="600" b="0" i="0" u="none" strike="noStrike">
                          <a:solidFill>
                            <a:srgbClr val="000000"/>
                          </a:solidFill>
                          <a:latin typeface="宋体"/>
                        </a:rPr>
                        <a:t>方法试验后，电动压缩机总成的噪声值应符合表</a:t>
                      </a:r>
                      <a:r>
                        <a:rPr lang="en-US" altLang="zh-CN" sz="600" b="0" i="0" u="none" strike="noStrike">
                          <a:solidFill>
                            <a:srgbClr val="000000"/>
                          </a:solidFill>
                          <a:latin typeface="宋体"/>
                        </a:rPr>
                        <a:t>3</a:t>
                      </a:r>
                      <a:r>
                        <a:rPr lang="zh-CN" altLang="en-US" sz="600" b="0" i="0" u="none" strike="noStrike">
                          <a:solidFill>
                            <a:srgbClr val="000000"/>
                          </a:solidFill>
                          <a:latin typeface="宋体"/>
                        </a:rPr>
                        <a:t>的要求。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6.4</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在消声室或隔音室内，按</a:t>
                      </a:r>
                      <a:r>
                        <a:rPr lang="en-US" altLang="zh-CN" sz="600" b="0" i="0" u="none" strike="noStrike">
                          <a:solidFill>
                            <a:srgbClr val="000000"/>
                          </a:solidFill>
                          <a:latin typeface="宋体"/>
                        </a:rPr>
                        <a:t>QC/T660-2000</a:t>
                      </a:r>
                      <a:r>
                        <a:rPr lang="zh-CN" altLang="en-US" sz="600" b="0" i="0" u="none" strike="noStrike">
                          <a:solidFill>
                            <a:srgbClr val="000000"/>
                          </a:solidFill>
                          <a:latin typeface="宋体"/>
                        </a:rPr>
                        <a:t>中</a:t>
                      </a:r>
                      <a:r>
                        <a:rPr lang="en-US" altLang="zh-CN" sz="600" b="0" i="0" u="none" strike="noStrike">
                          <a:solidFill>
                            <a:srgbClr val="000000"/>
                          </a:solidFill>
                          <a:latin typeface="宋体"/>
                        </a:rPr>
                        <a:t>4.2</a:t>
                      </a:r>
                      <a:r>
                        <a:rPr lang="zh-CN" altLang="en-US" sz="600" b="0" i="0" u="none" strike="noStrike">
                          <a:solidFill>
                            <a:srgbClr val="000000"/>
                          </a:solidFill>
                          <a:latin typeface="宋体"/>
                        </a:rPr>
                        <a:t>规定的方法测量电动压缩机总成的噪声，噪声传感安装在压缩机正上方</a:t>
                      </a:r>
                      <a:r>
                        <a:rPr lang="en-US" altLang="zh-CN" sz="600" b="0" i="0" u="none" strike="noStrike">
                          <a:solidFill>
                            <a:srgbClr val="000000"/>
                          </a:solidFill>
                          <a:latin typeface="宋体"/>
                        </a:rPr>
                        <a:t>15cm</a:t>
                      </a:r>
                      <a:r>
                        <a:rPr lang="zh-CN" altLang="en-US" sz="600" b="0" i="0" u="none" strike="noStrike">
                          <a:solidFill>
                            <a:srgbClr val="000000"/>
                          </a:solidFill>
                          <a:latin typeface="宋体"/>
                        </a:rPr>
                        <a:t>处，试验工况表</a:t>
                      </a:r>
                      <a:r>
                        <a:rPr lang="en-US" altLang="zh-CN" sz="600" b="0" i="0" u="none" strike="noStrike">
                          <a:solidFill>
                            <a:srgbClr val="000000"/>
                          </a:solidFill>
                          <a:latin typeface="宋体"/>
                        </a:rPr>
                        <a:t>6</a:t>
                      </a:r>
                      <a:r>
                        <a:rPr lang="zh-CN" altLang="en-US" sz="600" b="0" i="0" u="none" strike="noStrike">
                          <a:solidFill>
                            <a:srgbClr val="000000"/>
                          </a:solidFill>
                          <a:latin typeface="宋体"/>
                        </a:rPr>
                        <a:t>，仪表的准确度按</a:t>
                      </a:r>
                      <a:r>
                        <a:rPr lang="en-US" altLang="zh-CN" sz="600" b="0" i="0" u="none" strike="noStrike">
                          <a:solidFill>
                            <a:srgbClr val="000000"/>
                          </a:solidFill>
                          <a:latin typeface="宋体"/>
                        </a:rPr>
                        <a:t>GB/T5773-2004</a:t>
                      </a:r>
                      <a:r>
                        <a:rPr lang="zh-CN" altLang="en-US" sz="600" b="0" i="0" u="none" strike="noStrike">
                          <a:solidFill>
                            <a:srgbClr val="000000"/>
                          </a:solidFill>
                          <a:latin typeface="宋体"/>
                        </a:rPr>
                        <a:t>中</a:t>
                      </a:r>
                      <a:r>
                        <a:rPr lang="en-US" altLang="zh-CN" sz="600" b="0" i="0" u="none" strike="noStrike">
                          <a:solidFill>
                            <a:srgbClr val="000000"/>
                          </a:solidFill>
                          <a:latin typeface="宋体"/>
                        </a:rPr>
                        <a:t>4.4</a:t>
                      </a:r>
                      <a:r>
                        <a:rPr lang="zh-CN" altLang="en-US" sz="600" b="0" i="0" u="none" strike="noStrike">
                          <a:solidFill>
                            <a:srgbClr val="000000"/>
                          </a:solidFill>
                          <a:latin typeface="宋体"/>
                        </a:rPr>
                        <a:t>要求，数据应在工况稳定后采集</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79078">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4</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耐久性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5.6</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6.7</a:t>
                      </a:r>
                      <a:r>
                        <a:rPr lang="zh-CN" altLang="en-US" sz="600" b="0" i="0" u="none" strike="noStrike" dirty="0">
                          <a:solidFill>
                            <a:srgbClr val="000000"/>
                          </a:solidFill>
                          <a:latin typeface="宋体"/>
                        </a:rPr>
                        <a:t>方法试验后，电动压缩机应符合以下要求：</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1.</a:t>
                      </a:r>
                      <a:r>
                        <a:rPr lang="zh-CN" altLang="en-US" sz="600" b="0" i="0" u="none" strike="noStrike" dirty="0">
                          <a:solidFill>
                            <a:srgbClr val="000000"/>
                          </a:solidFill>
                          <a:latin typeface="宋体"/>
                        </a:rPr>
                        <a:t>压缩机内部各面不应出现裂纹和损坏，螺栓不应有松动和损坏</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2.</a:t>
                      </a: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6.5.3</a:t>
                      </a:r>
                      <a:r>
                        <a:rPr lang="zh-CN" altLang="en-US" sz="600" b="0" i="0" u="none" strike="noStrike" dirty="0">
                          <a:solidFill>
                            <a:srgbClr val="000000"/>
                          </a:solidFill>
                          <a:latin typeface="宋体"/>
                        </a:rPr>
                        <a:t>方法试验，电动压缩机总泄漏量不超过</a:t>
                      </a:r>
                      <a:r>
                        <a:rPr lang="en-US" altLang="zh-CN" sz="600" b="0" i="0" u="none" strike="noStrike" dirty="0">
                          <a:solidFill>
                            <a:srgbClr val="000000"/>
                          </a:solidFill>
                          <a:latin typeface="宋体"/>
                        </a:rPr>
                        <a:t>15g/</a:t>
                      </a:r>
                      <a:r>
                        <a:rPr lang="zh-CN" altLang="en-US" sz="600" b="0" i="0" u="none" strike="noStrike" dirty="0">
                          <a:solidFill>
                            <a:srgbClr val="000000"/>
                          </a:solidFill>
                          <a:latin typeface="宋体"/>
                        </a:rPr>
                        <a:t>年</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3.</a:t>
                      </a:r>
                      <a:r>
                        <a:rPr lang="zh-CN" altLang="en-US" sz="600" b="0" i="0" u="none" strike="noStrike" dirty="0">
                          <a:solidFill>
                            <a:srgbClr val="000000"/>
                          </a:solidFill>
                          <a:latin typeface="宋体"/>
                        </a:rPr>
                        <a:t>电动机定子绕组对外壳绝缘电阻符合</a:t>
                      </a:r>
                      <a:r>
                        <a:rPr lang="en-US" altLang="zh-CN" sz="600" b="0" i="0" u="none" strike="noStrike" dirty="0">
                          <a:solidFill>
                            <a:srgbClr val="000000"/>
                          </a:solidFill>
                          <a:latin typeface="宋体"/>
                        </a:rPr>
                        <a:t>5.4.7</a:t>
                      </a:r>
                      <a:r>
                        <a:rPr lang="zh-CN" altLang="en-US" sz="600" b="0" i="0" u="none" strike="noStrike" dirty="0">
                          <a:solidFill>
                            <a:srgbClr val="000000"/>
                          </a:solidFill>
                          <a:latin typeface="宋体"/>
                        </a:rPr>
                        <a:t>规定</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4.</a:t>
                      </a:r>
                      <a:r>
                        <a:rPr lang="zh-CN" altLang="en-US" sz="600" b="0" i="0" u="none" strike="noStrike" dirty="0">
                          <a:solidFill>
                            <a:srgbClr val="000000"/>
                          </a:solidFill>
                          <a:latin typeface="宋体"/>
                        </a:rPr>
                        <a:t>耐电压试验应符合</a:t>
                      </a:r>
                      <a:r>
                        <a:rPr lang="en-US" altLang="zh-CN" sz="600" b="0" i="0" u="none" strike="noStrike" dirty="0">
                          <a:solidFill>
                            <a:srgbClr val="000000"/>
                          </a:solidFill>
                          <a:latin typeface="宋体"/>
                        </a:rPr>
                        <a:t>5.4.8</a:t>
                      </a:r>
                      <a:r>
                        <a:rPr lang="zh-CN" altLang="en-US" sz="600" b="0" i="0" u="none" strike="noStrike" dirty="0">
                          <a:solidFill>
                            <a:srgbClr val="000000"/>
                          </a:solidFill>
                          <a:latin typeface="宋体"/>
                        </a:rPr>
                        <a:t>规定</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5.</a:t>
                      </a: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6.3</a:t>
                      </a:r>
                      <a:r>
                        <a:rPr lang="zh-CN" altLang="en-US" sz="600" b="0" i="0" u="none" strike="noStrike" dirty="0">
                          <a:solidFill>
                            <a:srgbClr val="000000"/>
                          </a:solidFill>
                          <a:latin typeface="宋体"/>
                        </a:rPr>
                        <a:t>规定的</a:t>
                      </a:r>
                      <a:r>
                        <a:rPr lang="en-US" altLang="zh-CN" sz="600" b="0" i="0" u="none" strike="noStrike" dirty="0">
                          <a:solidFill>
                            <a:srgbClr val="000000"/>
                          </a:solidFill>
                          <a:latin typeface="宋体"/>
                        </a:rPr>
                        <a:t>4000r/min</a:t>
                      </a:r>
                      <a:r>
                        <a:rPr lang="zh-CN" altLang="en-US" sz="600" b="0" i="0" u="none" strike="noStrike" dirty="0">
                          <a:solidFill>
                            <a:srgbClr val="000000"/>
                          </a:solidFill>
                          <a:latin typeface="宋体"/>
                        </a:rPr>
                        <a:t>工况复测，电动压缩机总成制冷量不低于试验前测试值的</a:t>
                      </a:r>
                      <a:r>
                        <a:rPr lang="en-US" altLang="zh-CN" sz="600" b="0" i="0" u="none" strike="noStrike" dirty="0">
                          <a:solidFill>
                            <a:srgbClr val="000000"/>
                          </a:solidFill>
                          <a:latin typeface="宋体"/>
                        </a:rPr>
                        <a:t>90%</a:t>
                      </a:r>
                      <a:r>
                        <a:rPr lang="zh-CN" altLang="en-US" sz="600" b="0" i="0" u="none" strike="noStrike" dirty="0">
                          <a:solidFill>
                            <a:srgbClr val="000000"/>
                          </a:solidFill>
                          <a:latin typeface="宋体"/>
                        </a:rPr>
                        <a:t>，能效比不低于试验前测试值的</a:t>
                      </a:r>
                      <a:r>
                        <a:rPr lang="en-US" altLang="zh-CN" sz="600" b="0" i="0" u="none" strike="noStrike" dirty="0">
                          <a:solidFill>
                            <a:srgbClr val="000000"/>
                          </a:solidFill>
                          <a:latin typeface="宋体"/>
                        </a:rPr>
                        <a:t>82%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6.7</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将电动压缩机总成安装在压缩机耐久性试验台上，按</a:t>
                      </a:r>
                      <a:r>
                        <a:rPr lang="en-US" altLang="zh-CN" sz="600" b="0" i="0" u="none" strike="noStrike">
                          <a:solidFill>
                            <a:srgbClr val="000000"/>
                          </a:solidFill>
                          <a:latin typeface="宋体"/>
                        </a:rPr>
                        <a:t>QC/T660-2000</a:t>
                      </a:r>
                      <a:r>
                        <a:rPr lang="zh-CN" altLang="en-US" sz="600" b="0" i="0" u="none" strike="noStrike">
                          <a:solidFill>
                            <a:srgbClr val="000000"/>
                          </a:solidFill>
                          <a:latin typeface="宋体"/>
                        </a:rPr>
                        <a:t>中</a:t>
                      </a:r>
                      <a:r>
                        <a:rPr lang="en-US" altLang="zh-CN" sz="600" b="0" i="0" u="none" strike="noStrike">
                          <a:solidFill>
                            <a:srgbClr val="000000"/>
                          </a:solidFill>
                          <a:latin typeface="宋体"/>
                        </a:rPr>
                        <a:t>4.5</a:t>
                      </a:r>
                      <a:r>
                        <a:rPr lang="zh-CN" altLang="en-US" sz="600" b="0" i="0" u="none" strike="noStrike">
                          <a:solidFill>
                            <a:srgbClr val="000000"/>
                          </a:solidFill>
                          <a:latin typeface="宋体"/>
                        </a:rPr>
                        <a:t>规定的方法试验，试验工况见表</a:t>
                      </a:r>
                      <a:r>
                        <a:rPr lang="en-US" altLang="zh-CN" sz="600" b="0" i="0" u="none" strike="noStrike">
                          <a:solidFill>
                            <a:srgbClr val="000000"/>
                          </a:solidFill>
                          <a:latin typeface="宋体"/>
                        </a:rPr>
                        <a:t>10</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8469">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5</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电磁辐射抗扰性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5.7.1.1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6.8.1.1</a:t>
                      </a:r>
                      <a:r>
                        <a:rPr lang="zh-CN" altLang="en-US" sz="600" b="0" i="0" u="none" strike="noStrike" dirty="0">
                          <a:solidFill>
                            <a:srgbClr val="000000"/>
                          </a:solidFill>
                          <a:latin typeface="宋体"/>
                        </a:rPr>
                        <a:t>方法试验，在</a:t>
                      </a:r>
                      <a:r>
                        <a:rPr lang="en-US" altLang="zh-CN" sz="600" b="0" i="0" u="none" strike="noStrike" dirty="0">
                          <a:solidFill>
                            <a:srgbClr val="000000"/>
                          </a:solidFill>
                          <a:latin typeface="宋体"/>
                        </a:rPr>
                        <a:t>GB/T17619-1998</a:t>
                      </a:r>
                      <a:r>
                        <a:rPr lang="zh-CN" altLang="en-US" sz="600" b="0" i="0" u="none" strike="noStrike" dirty="0">
                          <a:solidFill>
                            <a:srgbClr val="000000"/>
                          </a:solidFill>
                          <a:latin typeface="宋体"/>
                        </a:rPr>
                        <a:t>中第</a:t>
                      </a:r>
                      <a:r>
                        <a:rPr lang="en-US" altLang="zh-CN" sz="600" b="0" i="0" u="none" strike="noStrike" dirty="0">
                          <a:solidFill>
                            <a:srgbClr val="000000"/>
                          </a:solidFill>
                          <a:latin typeface="宋体"/>
                        </a:rPr>
                        <a:t>4</a:t>
                      </a:r>
                      <a:r>
                        <a:rPr lang="zh-CN" altLang="en-US" sz="600" b="0" i="0" u="none" strike="noStrike" dirty="0">
                          <a:solidFill>
                            <a:srgbClr val="000000"/>
                          </a:solidFill>
                          <a:latin typeface="宋体"/>
                        </a:rPr>
                        <a:t>章规定的抗扰性限值下，电动压缩机总成在正常使用条件下能应正常工作</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6.8.1.1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GB/T17619-1998</a:t>
                      </a:r>
                      <a:r>
                        <a:rPr lang="zh-CN" altLang="en-US" sz="600" b="0" i="0" u="none" strike="noStrike">
                          <a:solidFill>
                            <a:srgbClr val="000000"/>
                          </a:solidFill>
                          <a:latin typeface="宋体"/>
                        </a:rPr>
                        <a:t>中第</a:t>
                      </a:r>
                      <a:r>
                        <a:rPr lang="en-US" altLang="zh-CN" sz="600" b="0" i="0" u="none" strike="noStrike">
                          <a:solidFill>
                            <a:srgbClr val="000000"/>
                          </a:solidFill>
                          <a:latin typeface="宋体"/>
                        </a:rPr>
                        <a:t>9</a:t>
                      </a:r>
                      <a:r>
                        <a:rPr lang="zh-CN" altLang="en-US" sz="600" b="0" i="0" u="none" strike="noStrike">
                          <a:solidFill>
                            <a:srgbClr val="000000"/>
                          </a:solidFill>
                          <a:latin typeface="宋体"/>
                        </a:rPr>
                        <a:t>章规定的方法进行试验，建议采用自由场法、</a:t>
                      </a:r>
                      <a:r>
                        <a:rPr lang="en-US" altLang="zh-CN" sz="600" b="0" i="0" u="none" strike="noStrike">
                          <a:solidFill>
                            <a:srgbClr val="000000"/>
                          </a:solidFill>
                          <a:latin typeface="宋体"/>
                        </a:rPr>
                        <a:t>TEM</a:t>
                      </a:r>
                      <a:r>
                        <a:rPr lang="zh-CN" altLang="en-US" sz="600" b="0" i="0" u="none" strike="noStrike">
                          <a:solidFill>
                            <a:srgbClr val="000000"/>
                          </a:solidFill>
                          <a:latin typeface="宋体"/>
                        </a:rPr>
                        <a:t>小室法和大电流注入法，或按与用户协商双方认可的方法进行试验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6045">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6</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电瞬变传导抗扰性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5.7.1.2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6.8.1.2</a:t>
                      </a:r>
                      <a:r>
                        <a:rPr lang="zh-CN" altLang="en-US" sz="600" b="0" i="0" u="none" strike="noStrike" dirty="0">
                          <a:solidFill>
                            <a:srgbClr val="000000"/>
                          </a:solidFill>
                          <a:latin typeface="宋体"/>
                        </a:rPr>
                        <a:t>方法试验，在</a:t>
                      </a:r>
                      <a:r>
                        <a:rPr lang="en-US" altLang="zh-CN" sz="600" b="0" i="0" u="none" strike="noStrike" dirty="0">
                          <a:solidFill>
                            <a:srgbClr val="000000"/>
                          </a:solidFill>
                          <a:latin typeface="宋体"/>
                        </a:rPr>
                        <a:t>ISO7637-2:2004</a:t>
                      </a:r>
                      <a:r>
                        <a:rPr lang="zh-CN" altLang="en-US" sz="600" b="0" i="0" u="none" strike="noStrike" dirty="0">
                          <a:solidFill>
                            <a:srgbClr val="000000"/>
                          </a:solidFill>
                          <a:latin typeface="宋体"/>
                        </a:rPr>
                        <a:t>和</a:t>
                      </a:r>
                      <a:r>
                        <a:rPr lang="en-US" altLang="zh-CN" sz="600" b="0" i="0" u="none" strike="noStrike" dirty="0">
                          <a:solidFill>
                            <a:srgbClr val="000000"/>
                          </a:solidFill>
                          <a:latin typeface="宋体"/>
                        </a:rPr>
                        <a:t>ISO7637-3:2007</a:t>
                      </a:r>
                      <a:r>
                        <a:rPr lang="zh-CN" altLang="en-US" sz="600" b="0" i="0" u="none" strike="noStrike" dirty="0">
                          <a:solidFill>
                            <a:srgbClr val="000000"/>
                          </a:solidFill>
                          <a:latin typeface="宋体"/>
                        </a:rPr>
                        <a:t>中规定的脉冲种类和</a:t>
                      </a:r>
                      <a:r>
                        <a:rPr lang="en-US" altLang="zh-CN" sz="600" b="0" i="0" u="none" strike="noStrike" dirty="0">
                          <a:solidFill>
                            <a:srgbClr val="000000"/>
                          </a:solidFill>
                          <a:latin typeface="宋体"/>
                        </a:rPr>
                        <a:t>Ⅲ</a:t>
                      </a:r>
                      <a:r>
                        <a:rPr lang="zh-CN" altLang="en-US" sz="600" b="0" i="0" u="none" strike="noStrike" dirty="0">
                          <a:solidFill>
                            <a:srgbClr val="000000"/>
                          </a:solidFill>
                          <a:latin typeface="宋体"/>
                        </a:rPr>
                        <a:t>级抗扰性限值下，电动压缩机总成在正常使用条件下能应能正常工作</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6.8.1.2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ISO7637-2:2004</a:t>
                      </a:r>
                      <a:r>
                        <a:rPr lang="zh-CN" altLang="en-US" sz="600" b="0" i="0" u="none" strike="noStrike" dirty="0">
                          <a:solidFill>
                            <a:srgbClr val="000000"/>
                          </a:solidFill>
                          <a:latin typeface="宋体"/>
                        </a:rPr>
                        <a:t>和</a:t>
                      </a:r>
                      <a:r>
                        <a:rPr lang="en-US" altLang="zh-CN" sz="600" b="0" i="0" u="none" strike="noStrike" dirty="0">
                          <a:solidFill>
                            <a:srgbClr val="000000"/>
                          </a:solidFill>
                          <a:latin typeface="宋体"/>
                        </a:rPr>
                        <a:t>ISO7637-3:2007</a:t>
                      </a:r>
                      <a:r>
                        <a:rPr lang="zh-CN" altLang="en-US" sz="600" b="0" i="0" u="none" strike="noStrike" dirty="0">
                          <a:solidFill>
                            <a:srgbClr val="000000"/>
                          </a:solidFill>
                          <a:latin typeface="宋体"/>
                        </a:rPr>
                        <a:t>中规定的方法进行试验或按与用户协商双方认可的方法进行试验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8469">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7</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静电放电抗扰性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5.7.1.3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6.8.1.3</a:t>
                      </a:r>
                      <a:r>
                        <a:rPr lang="zh-CN" altLang="en-US" sz="600" b="0" i="0" u="none" strike="noStrike">
                          <a:solidFill>
                            <a:srgbClr val="000000"/>
                          </a:solidFill>
                          <a:latin typeface="宋体"/>
                        </a:rPr>
                        <a:t>方法试验，在</a:t>
                      </a:r>
                      <a:r>
                        <a:rPr lang="en-US" altLang="zh-CN" sz="600" b="0" i="0" u="none" strike="noStrike">
                          <a:solidFill>
                            <a:srgbClr val="000000"/>
                          </a:solidFill>
                          <a:latin typeface="宋体"/>
                        </a:rPr>
                        <a:t>GB/T19951-2005</a:t>
                      </a:r>
                      <a:r>
                        <a:rPr lang="zh-CN" altLang="en-US" sz="600" b="0" i="0" u="none" strike="noStrike">
                          <a:solidFill>
                            <a:srgbClr val="000000"/>
                          </a:solidFill>
                          <a:latin typeface="宋体"/>
                        </a:rPr>
                        <a:t>中表</a:t>
                      </a:r>
                      <a:r>
                        <a:rPr lang="en-US" altLang="zh-CN" sz="600" b="0" i="0" u="none" strike="noStrike">
                          <a:solidFill>
                            <a:srgbClr val="000000"/>
                          </a:solidFill>
                          <a:latin typeface="宋体"/>
                        </a:rPr>
                        <a:t>B.1</a:t>
                      </a:r>
                      <a:r>
                        <a:rPr lang="zh-CN" altLang="en-US" sz="600" b="0" i="0" u="none" strike="noStrike">
                          <a:solidFill>
                            <a:srgbClr val="000000"/>
                          </a:solidFill>
                          <a:latin typeface="宋体"/>
                        </a:rPr>
                        <a:t>规定的</a:t>
                      </a:r>
                      <a:r>
                        <a:rPr lang="en-US" altLang="zh-CN" sz="600" b="0" i="0" u="none" strike="noStrike">
                          <a:solidFill>
                            <a:srgbClr val="000000"/>
                          </a:solidFill>
                          <a:latin typeface="宋体"/>
                        </a:rPr>
                        <a:t>Ⅲ</a:t>
                      </a:r>
                      <a:r>
                        <a:rPr lang="zh-CN" altLang="en-US" sz="600" b="0" i="0" u="none" strike="noStrike">
                          <a:solidFill>
                            <a:srgbClr val="000000"/>
                          </a:solidFill>
                          <a:latin typeface="宋体"/>
                        </a:rPr>
                        <a:t>级抗扰性限值下，电动压缩机总成在正常使用条件下能应正常工作</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6.8.1.3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GB/T19951-2005</a:t>
                      </a:r>
                      <a:r>
                        <a:rPr lang="zh-CN" altLang="en-US" sz="600" b="0" i="0" u="none" strike="noStrike" dirty="0">
                          <a:solidFill>
                            <a:srgbClr val="000000"/>
                          </a:solidFill>
                          <a:latin typeface="宋体"/>
                        </a:rPr>
                        <a:t>中第</a:t>
                      </a:r>
                      <a:r>
                        <a:rPr lang="en-US" altLang="zh-CN" sz="600" b="0" i="0" u="none" strike="noStrike" dirty="0">
                          <a:solidFill>
                            <a:srgbClr val="000000"/>
                          </a:solidFill>
                          <a:latin typeface="宋体"/>
                        </a:rPr>
                        <a:t>5</a:t>
                      </a:r>
                      <a:r>
                        <a:rPr lang="zh-CN" altLang="en-US" sz="600" b="0" i="0" u="none" strike="noStrike" dirty="0">
                          <a:solidFill>
                            <a:srgbClr val="000000"/>
                          </a:solidFill>
                          <a:latin typeface="宋体"/>
                        </a:rPr>
                        <a:t>章规定的方法进行试验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6045">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8</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传导骚扰性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5.7.2.1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6.8.2.1</a:t>
                      </a:r>
                      <a:r>
                        <a:rPr lang="zh-CN" altLang="en-US" sz="600" b="0" i="0" u="none" strike="noStrike">
                          <a:solidFill>
                            <a:srgbClr val="000000"/>
                          </a:solidFill>
                          <a:latin typeface="宋体"/>
                        </a:rPr>
                        <a:t>方法试验，电动压缩机在正常使用的条件下，其工作产生的传导骚扰应符合</a:t>
                      </a:r>
                      <a:r>
                        <a:rPr lang="en-US" altLang="zh-CN" sz="600" b="0" i="0" u="none" strike="noStrike">
                          <a:solidFill>
                            <a:srgbClr val="000000"/>
                          </a:solidFill>
                          <a:latin typeface="宋体"/>
                        </a:rPr>
                        <a:t>GB/T18655-2002</a:t>
                      </a:r>
                      <a:r>
                        <a:rPr lang="zh-CN" altLang="en-US" sz="600" b="0" i="0" u="none" strike="noStrike">
                          <a:solidFill>
                            <a:srgbClr val="000000"/>
                          </a:solidFill>
                          <a:latin typeface="宋体"/>
                        </a:rPr>
                        <a:t>中第</a:t>
                      </a:r>
                      <a:r>
                        <a:rPr lang="en-US" altLang="zh-CN" sz="600" b="0" i="0" u="none" strike="noStrike">
                          <a:solidFill>
                            <a:srgbClr val="000000"/>
                          </a:solidFill>
                          <a:latin typeface="宋体"/>
                        </a:rPr>
                        <a:t>12</a:t>
                      </a:r>
                      <a:r>
                        <a:rPr lang="zh-CN" altLang="en-US" sz="600" b="0" i="0" u="none" strike="noStrike">
                          <a:solidFill>
                            <a:srgbClr val="000000"/>
                          </a:solidFill>
                          <a:latin typeface="宋体"/>
                        </a:rPr>
                        <a:t>章规定的零部件传导骚扰限值的要求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6.8.2.1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GB/T18655-2002</a:t>
                      </a:r>
                      <a:r>
                        <a:rPr lang="zh-CN" altLang="en-US" sz="600" b="0" i="0" u="none" strike="noStrike" dirty="0">
                          <a:solidFill>
                            <a:srgbClr val="000000"/>
                          </a:solidFill>
                          <a:latin typeface="宋体"/>
                        </a:rPr>
                        <a:t>中第</a:t>
                      </a:r>
                      <a:r>
                        <a:rPr lang="en-US" altLang="zh-CN" sz="600" b="0" i="0" u="none" strike="noStrike" dirty="0">
                          <a:solidFill>
                            <a:srgbClr val="000000"/>
                          </a:solidFill>
                          <a:latin typeface="宋体"/>
                        </a:rPr>
                        <a:t>11</a:t>
                      </a:r>
                      <a:r>
                        <a:rPr lang="zh-CN" altLang="en-US" sz="600" b="0" i="0" u="none" strike="noStrike" dirty="0">
                          <a:solidFill>
                            <a:srgbClr val="000000"/>
                          </a:solidFill>
                          <a:latin typeface="宋体"/>
                        </a:rPr>
                        <a:t>章规定的方法进行试验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05992">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9</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辐射骚扰性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5.7.2.2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6.8.2.2</a:t>
                      </a:r>
                      <a:r>
                        <a:rPr lang="zh-CN" altLang="en-US" sz="600" b="0" i="0" u="none" strike="noStrike">
                          <a:solidFill>
                            <a:srgbClr val="000000"/>
                          </a:solidFill>
                          <a:latin typeface="宋体"/>
                        </a:rPr>
                        <a:t>方法试验，电动压缩机在正常使用的条件下，其工作产生的传导骚扰应符合</a:t>
                      </a:r>
                      <a:r>
                        <a:rPr lang="en-US" altLang="zh-CN" sz="600" b="0" i="0" u="none" strike="noStrike">
                          <a:solidFill>
                            <a:srgbClr val="000000"/>
                          </a:solidFill>
                          <a:latin typeface="宋体"/>
                        </a:rPr>
                        <a:t>GB/T18655-2002</a:t>
                      </a:r>
                      <a:r>
                        <a:rPr lang="zh-CN" altLang="en-US" sz="600" b="0" i="0" u="none" strike="noStrike">
                          <a:solidFill>
                            <a:srgbClr val="000000"/>
                          </a:solidFill>
                          <a:latin typeface="宋体"/>
                        </a:rPr>
                        <a:t>中第</a:t>
                      </a:r>
                      <a:r>
                        <a:rPr lang="en-US" altLang="zh-CN" sz="600" b="0" i="0" u="none" strike="noStrike">
                          <a:solidFill>
                            <a:srgbClr val="000000"/>
                          </a:solidFill>
                          <a:latin typeface="宋体"/>
                        </a:rPr>
                        <a:t>14</a:t>
                      </a:r>
                      <a:r>
                        <a:rPr lang="zh-CN" altLang="en-US" sz="600" b="0" i="0" u="none" strike="noStrike">
                          <a:solidFill>
                            <a:srgbClr val="000000"/>
                          </a:solidFill>
                          <a:latin typeface="宋体"/>
                        </a:rPr>
                        <a:t>章和第</a:t>
                      </a:r>
                      <a:r>
                        <a:rPr lang="en-US" altLang="zh-CN" sz="600" b="0" i="0" u="none" strike="noStrike">
                          <a:solidFill>
                            <a:srgbClr val="000000"/>
                          </a:solidFill>
                          <a:latin typeface="宋体"/>
                        </a:rPr>
                        <a:t>16</a:t>
                      </a:r>
                      <a:r>
                        <a:rPr lang="zh-CN" altLang="en-US" sz="600" b="0" i="0" u="none" strike="noStrike">
                          <a:solidFill>
                            <a:srgbClr val="000000"/>
                          </a:solidFill>
                          <a:latin typeface="宋体"/>
                        </a:rPr>
                        <a:t>章规定的零部件辐射骚扰限值的要求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6.8.2.2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GB/T18655-2002</a:t>
                      </a:r>
                      <a:r>
                        <a:rPr lang="zh-CN" altLang="en-US" sz="600" b="0" i="0" u="none" strike="noStrike" dirty="0">
                          <a:solidFill>
                            <a:srgbClr val="000000"/>
                          </a:solidFill>
                          <a:latin typeface="宋体"/>
                        </a:rPr>
                        <a:t>中第</a:t>
                      </a:r>
                      <a:r>
                        <a:rPr lang="en-US" altLang="zh-CN" sz="600" b="0" i="0" u="none" strike="noStrike" dirty="0">
                          <a:solidFill>
                            <a:srgbClr val="000000"/>
                          </a:solidFill>
                          <a:latin typeface="宋体"/>
                        </a:rPr>
                        <a:t>13</a:t>
                      </a:r>
                      <a:r>
                        <a:rPr lang="zh-CN" altLang="en-US" sz="600" b="0" i="0" u="none" strike="noStrike" dirty="0">
                          <a:solidFill>
                            <a:srgbClr val="000000"/>
                          </a:solidFill>
                          <a:latin typeface="宋体"/>
                        </a:rPr>
                        <a:t>章和第</a:t>
                      </a:r>
                      <a:r>
                        <a:rPr lang="en-US" altLang="zh-CN" sz="600" b="0" i="0" u="none" strike="noStrike" dirty="0">
                          <a:solidFill>
                            <a:srgbClr val="000000"/>
                          </a:solidFill>
                          <a:latin typeface="宋体"/>
                        </a:rPr>
                        <a:t>15</a:t>
                      </a:r>
                      <a:r>
                        <a:rPr lang="zh-CN" altLang="en-US" sz="600" b="0" i="0" u="none" strike="noStrike" dirty="0">
                          <a:solidFill>
                            <a:srgbClr val="000000"/>
                          </a:solidFill>
                          <a:latin typeface="宋体"/>
                        </a:rPr>
                        <a:t>章规定的方法进行试验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16</a:t>
            </a:fld>
            <a:endParaRPr lang="zh-CN" altLang="en-US" dirty="0">
              <a:latin typeface="+mn-lt"/>
              <a:ea typeface="+mn-ea"/>
              <a:cs typeface="+mn-cs"/>
            </a:endParaRPr>
          </a:p>
        </p:txBody>
      </p:sp>
      <p:graphicFrame>
        <p:nvGraphicFramePr>
          <p:cNvPr id="4" name="表格 3"/>
          <p:cNvGraphicFramePr>
            <a:graphicFrameLocks noGrp="1"/>
          </p:cNvGraphicFramePr>
          <p:nvPr/>
        </p:nvGraphicFramePr>
        <p:xfrm>
          <a:off x="1084780" y="549274"/>
          <a:ext cx="7515756" cy="4609337"/>
        </p:xfrm>
        <a:graphic>
          <a:graphicData uri="http://schemas.openxmlformats.org/drawingml/2006/table">
            <a:tbl>
              <a:tblPr/>
              <a:tblGrid>
                <a:gridCol w="314545"/>
                <a:gridCol w="333047"/>
                <a:gridCol w="531506"/>
                <a:gridCol w="182476"/>
                <a:gridCol w="215099"/>
                <a:gridCol w="215100"/>
                <a:gridCol w="172079"/>
                <a:gridCol w="309744"/>
                <a:gridCol w="2104119"/>
                <a:gridCol w="344971"/>
                <a:gridCol w="2793070"/>
              </a:tblGrid>
              <a:tr h="168224">
                <a:tc rowSpan="15">
                  <a:txBody>
                    <a:bodyPr/>
                    <a:lstStyle/>
                    <a:p>
                      <a:pPr algn="ctr" fontAlgn="ctr"/>
                      <a:r>
                        <a:rPr lang="zh-CN" altLang="en-US" sz="500" b="0" i="0" u="none" strike="noStrike" dirty="0">
                          <a:solidFill>
                            <a:srgbClr val="000000"/>
                          </a:solidFill>
                          <a:latin typeface="宋体"/>
                        </a:rPr>
                        <a:t>电动压缩机部分</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500" b="0" i="0" u="none" strike="noStrike">
                          <a:solidFill>
                            <a:srgbClr val="000000"/>
                          </a:solidFill>
                          <a:latin typeface="宋体"/>
                        </a:rPr>
                        <a:t>10</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清洁度</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5.4.1</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6.5.1</a:t>
                      </a:r>
                      <a:r>
                        <a:rPr lang="zh-CN" altLang="en-US" sz="500" b="0" i="0" u="none" strike="noStrike">
                          <a:solidFill>
                            <a:srgbClr val="000000"/>
                          </a:solidFill>
                          <a:latin typeface="宋体"/>
                        </a:rPr>
                        <a:t>方法试验，电动压缩机内部杂质总量应小于</a:t>
                      </a:r>
                      <a:r>
                        <a:rPr lang="en-US" altLang="zh-CN" sz="500" b="0" i="0" u="none" strike="noStrike">
                          <a:solidFill>
                            <a:srgbClr val="000000"/>
                          </a:solidFill>
                          <a:latin typeface="宋体"/>
                        </a:rPr>
                        <a:t>40mg</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6.5.1</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QC/T660-2000</a:t>
                      </a:r>
                      <a:r>
                        <a:rPr lang="zh-CN" altLang="en-US" sz="500" b="0" i="0" u="none" strike="noStrike">
                          <a:solidFill>
                            <a:srgbClr val="000000"/>
                          </a:solidFill>
                          <a:latin typeface="宋体"/>
                        </a:rPr>
                        <a:t>中附录</a:t>
                      </a:r>
                      <a:r>
                        <a:rPr lang="en-US" altLang="zh-CN" sz="500" b="0" i="0" u="none" strike="noStrike">
                          <a:solidFill>
                            <a:srgbClr val="000000"/>
                          </a:solidFill>
                          <a:latin typeface="宋体"/>
                        </a:rPr>
                        <a:t>A</a:t>
                      </a:r>
                      <a:r>
                        <a:rPr lang="zh-CN" altLang="en-US" sz="500" b="0" i="0" u="none" strike="noStrike">
                          <a:solidFill>
                            <a:srgbClr val="000000"/>
                          </a:solidFill>
                          <a:latin typeface="宋体"/>
                        </a:rPr>
                        <a:t>规定的方法测试，用乙二醇溶剂油注入电动压缩机内，采用</a:t>
                      </a:r>
                      <a:r>
                        <a:rPr lang="en-US" altLang="zh-CN" sz="500" b="0" i="0" u="none" strike="noStrike">
                          <a:solidFill>
                            <a:srgbClr val="000000"/>
                          </a:solidFill>
                          <a:latin typeface="宋体"/>
                        </a:rPr>
                        <a:t>8μm</a:t>
                      </a:r>
                      <a:r>
                        <a:rPr lang="zh-CN" altLang="en-US" sz="500" b="0" i="0" u="none" strike="noStrike">
                          <a:solidFill>
                            <a:srgbClr val="000000"/>
                          </a:solidFill>
                          <a:latin typeface="宋体"/>
                        </a:rPr>
                        <a:t>的过滤纸过滤残余杂质，烘干滤纸后测量，以过滤纸的重量差来确定残余杂质的量</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54586">
                <a:tc vMerge="1">
                  <a:txBody>
                    <a:bodyPr/>
                    <a:lstStyle/>
                    <a:p>
                      <a:endParaRPr lang="zh-CN" altLang="en-US"/>
                    </a:p>
                  </a:txBody>
                  <a:tcPr/>
                </a:tc>
                <a:tc>
                  <a:txBody>
                    <a:bodyPr/>
                    <a:lstStyle/>
                    <a:p>
                      <a:pPr algn="ctr" fontAlgn="ctr"/>
                      <a:r>
                        <a:rPr lang="en-US" altLang="zh-CN" sz="500" b="0" i="0" u="none" strike="noStrike" dirty="0">
                          <a:solidFill>
                            <a:srgbClr val="000000"/>
                          </a:solidFill>
                          <a:latin typeface="宋体"/>
                        </a:rPr>
                        <a:t>11</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含水率</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电动压缩机装配后</a:t>
                      </a:r>
                      <a:r>
                        <a:rPr lang="en-US" altLang="zh-CN" sz="500" b="0" i="0" u="none" strike="noStrike">
                          <a:solidFill>
                            <a:srgbClr val="000000"/>
                          </a:solidFill>
                          <a:latin typeface="宋体"/>
                        </a:rPr>
                        <a:t>24h</a:t>
                      </a:r>
                      <a:r>
                        <a:rPr lang="zh-CN" altLang="en-US" sz="500" b="0" i="0" u="none" strike="noStrike">
                          <a:solidFill>
                            <a:srgbClr val="000000"/>
                          </a:solidFill>
                          <a:latin typeface="宋体"/>
                        </a:rPr>
                        <a:t>内，按</a:t>
                      </a:r>
                      <a:r>
                        <a:rPr lang="en-US" altLang="zh-CN" sz="500" b="0" i="0" u="none" strike="noStrike">
                          <a:solidFill>
                            <a:srgbClr val="000000"/>
                          </a:solidFill>
                          <a:latin typeface="宋体"/>
                        </a:rPr>
                        <a:t>6.5.2</a:t>
                      </a:r>
                      <a:r>
                        <a:rPr lang="zh-CN" altLang="en-US" sz="500" b="0" i="0" u="none" strike="noStrike">
                          <a:solidFill>
                            <a:srgbClr val="000000"/>
                          </a:solidFill>
                          <a:latin typeface="宋体"/>
                        </a:rPr>
                        <a:t>方法试验，其内部的含水不应超过</a:t>
                      </a:r>
                      <a:r>
                        <a:rPr lang="en-US" altLang="zh-CN" sz="500" b="0" i="0" u="none" strike="noStrike">
                          <a:solidFill>
                            <a:srgbClr val="000000"/>
                          </a:solidFill>
                          <a:latin typeface="宋体"/>
                        </a:rPr>
                        <a:t>1500×10</a:t>
                      </a:r>
                      <a:r>
                        <a:rPr lang="en-US" altLang="zh-CN" sz="500" b="0" i="0" u="none" strike="noStrike" baseline="30000">
                          <a:solidFill>
                            <a:srgbClr val="000000"/>
                          </a:solidFill>
                          <a:latin typeface="宋体"/>
                        </a:rPr>
                        <a:t>-6</a:t>
                      </a:r>
                      <a:r>
                        <a:rPr lang="zh-CN" altLang="en-US" sz="500" b="0" i="0" u="none" strike="noStrike">
                          <a:solidFill>
                            <a:srgbClr val="000000"/>
                          </a:solidFill>
                          <a:latin typeface="宋体"/>
                        </a:rPr>
                        <a:t>（</a:t>
                      </a:r>
                      <a:r>
                        <a:rPr lang="en-US" altLang="zh-CN" sz="500" b="0" i="0" u="none" strike="noStrike">
                          <a:solidFill>
                            <a:srgbClr val="000000"/>
                          </a:solidFill>
                          <a:latin typeface="宋体"/>
                        </a:rPr>
                        <a:t>1500ppm</a:t>
                      </a: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采用水分测量仪按</a:t>
                      </a:r>
                      <a:r>
                        <a:rPr lang="en-US" altLang="zh-CN" sz="500" b="0" i="0" u="none" strike="noStrike">
                          <a:solidFill>
                            <a:srgbClr val="000000"/>
                          </a:solidFill>
                          <a:latin typeface="宋体"/>
                        </a:rPr>
                        <a:t>QC/T660-2000</a:t>
                      </a:r>
                      <a:r>
                        <a:rPr lang="zh-CN" altLang="en-US" sz="500" b="0" i="0" u="none" strike="noStrike">
                          <a:solidFill>
                            <a:srgbClr val="000000"/>
                          </a:solidFill>
                          <a:latin typeface="宋体"/>
                        </a:rPr>
                        <a:t>中</a:t>
                      </a:r>
                      <a:r>
                        <a:rPr lang="en-US" altLang="zh-CN" sz="500" b="0" i="0" u="none" strike="noStrike">
                          <a:solidFill>
                            <a:srgbClr val="000000"/>
                          </a:solidFill>
                          <a:latin typeface="宋体"/>
                        </a:rPr>
                        <a:t>4.8</a:t>
                      </a:r>
                      <a:r>
                        <a:rPr lang="zh-CN" altLang="en-US" sz="500" b="0" i="0" u="none" strike="noStrike">
                          <a:solidFill>
                            <a:srgbClr val="000000"/>
                          </a:solidFill>
                          <a:latin typeface="宋体"/>
                        </a:rPr>
                        <a:t>规定的方法（电量滴定法）测量</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082">
                <a:tc vMerge="1">
                  <a:txBody>
                    <a:bodyPr/>
                    <a:lstStyle/>
                    <a:p>
                      <a:endParaRPr lang="zh-CN" altLang="en-US"/>
                    </a:p>
                  </a:txBody>
                  <a:tcPr/>
                </a:tc>
                <a:tc>
                  <a:txBody>
                    <a:bodyPr/>
                    <a:lstStyle/>
                    <a:p>
                      <a:pPr algn="ctr" fontAlgn="ctr"/>
                      <a:r>
                        <a:rPr lang="en-US" altLang="zh-CN" sz="500" b="0" i="0" u="none" strike="noStrike" dirty="0">
                          <a:solidFill>
                            <a:srgbClr val="000000"/>
                          </a:solidFill>
                          <a:latin typeface="宋体"/>
                        </a:rPr>
                        <a:t>12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密封性</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5.4.3</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6.5.3</a:t>
                      </a:r>
                      <a:r>
                        <a:rPr lang="zh-CN" altLang="en-US" sz="500" b="0" i="0" u="none" strike="noStrike">
                          <a:solidFill>
                            <a:srgbClr val="000000"/>
                          </a:solidFill>
                          <a:latin typeface="宋体"/>
                        </a:rPr>
                        <a:t>方法试验，电动压缩机总泄漏量不超过</a:t>
                      </a:r>
                      <a:r>
                        <a:rPr lang="en-US" altLang="zh-CN" sz="500" b="0" i="0" u="none" strike="noStrike">
                          <a:solidFill>
                            <a:srgbClr val="000000"/>
                          </a:solidFill>
                          <a:latin typeface="宋体"/>
                        </a:rPr>
                        <a:t>15g/</a:t>
                      </a:r>
                      <a:r>
                        <a:rPr lang="zh-CN" altLang="en-US" sz="500" b="0" i="0" u="none" strike="noStrike">
                          <a:solidFill>
                            <a:srgbClr val="000000"/>
                          </a:solidFill>
                          <a:latin typeface="宋体"/>
                        </a:rPr>
                        <a:t>年</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6.5.3</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倒出电动压缩机内润滑油后，通过吸排气口向电动压缩机内充入</a:t>
                      </a:r>
                      <a:r>
                        <a:rPr lang="en-US" altLang="zh-CN" sz="500" b="0" i="0" u="none" strike="noStrike">
                          <a:solidFill>
                            <a:srgbClr val="000000"/>
                          </a:solidFill>
                          <a:latin typeface="宋体"/>
                        </a:rPr>
                        <a:t>HFC-134a,</a:t>
                      </a:r>
                      <a:r>
                        <a:rPr lang="zh-CN" altLang="en-US" sz="500" b="0" i="0" u="none" strike="noStrike">
                          <a:solidFill>
                            <a:srgbClr val="000000"/>
                          </a:solidFill>
                          <a:latin typeface="宋体"/>
                        </a:rPr>
                        <a:t>并采用氮气升压达到</a:t>
                      </a:r>
                      <a:r>
                        <a:rPr lang="en-US" altLang="zh-CN" sz="500" b="0" i="0" u="none" strike="noStrike">
                          <a:solidFill>
                            <a:srgbClr val="000000"/>
                          </a:solidFill>
                          <a:latin typeface="宋体"/>
                        </a:rPr>
                        <a:t>1.5MPa</a:t>
                      </a:r>
                      <a:r>
                        <a:rPr lang="zh-CN" altLang="en-US" sz="500" b="0" i="0" u="none" strike="noStrike">
                          <a:solidFill>
                            <a:srgbClr val="000000"/>
                          </a:solidFill>
                          <a:latin typeface="宋体"/>
                        </a:rPr>
                        <a:t>后，用高压气体吹除充气处及其他部位上的残余气体</a:t>
                      </a:r>
                      <a:r>
                        <a:rPr lang="en-US" altLang="zh-CN" sz="500" b="0" i="0" u="none" strike="noStrike">
                          <a:solidFill>
                            <a:srgbClr val="000000"/>
                          </a:solidFill>
                          <a:latin typeface="宋体"/>
                        </a:rPr>
                        <a:t>2min</a:t>
                      </a:r>
                      <a:r>
                        <a:rPr lang="zh-CN" altLang="en-US" sz="500" b="0" i="0" u="none" strike="noStrike">
                          <a:solidFill>
                            <a:srgbClr val="000000"/>
                          </a:solidFill>
                          <a:latin typeface="宋体"/>
                        </a:rPr>
                        <a:t>后，采用测量准确度小于</a:t>
                      </a:r>
                      <a:r>
                        <a:rPr lang="en-US" altLang="zh-CN" sz="500" b="0" i="0" u="none" strike="noStrike">
                          <a:solidFill>
                            <a:srgbClr val="000000"/>
                          </a:solidFill>
                          <a:latin typeface="宋体"/>
                        </a:rPr>
                        <a:t>1×10</a:t>
                      </a:r>
                      <a:r>
                        <a:rPr lang="en-US" altLang="zh-CN" sz="500" b="0" i="0" u="none" strike="noStrike" baseline="30000">
                          <a:solidFill>
                            <a:srgbClr val="000000"/>
                          </a:solidFill>
                          <a:latin typeface="宋体"/>
                        </a:rPr>
                        <a:t>-6</a:t>
                      </a:r>
                      <a:r>
                        <a:rPr lang="en-US" altLang="zh-CN" sz="500" b="0" i="0" u="none" strike="noStrike">
                          <a:solidFill>
                            <a:srgbClr val="000000"/>
                          </a:solidFill>
                          <a:latin typeface="宋体"/>
                        </a:rPr>
                        <a:t>atm.cm</a:t>
                      </a:r>
                      <a:r>
                        <a:rPr lang="en-US" altLang="zh-CN" sz="500" b="0" i="0" u="none" strike="noStrike" baseline="30000">
                          <a:solidFill>
                            <a:srgbClr val="000000"/>
                          </a:solidFill>
                          <a:latin typeface="宋体"/>
                        </a:rPr>
                        <a:t>3</a:t>
                      </a:r>
                      <a:r>
                        <a:rPr lang="en-US" altLang="zh-CN" sz="500" b="0" i="0" u="none" strike="noStrike">
                          <a:solidFill>
                            <a:srgbClr val="000000"/>
                          </a:solidFill>
                          <a:latin typeface="宋体"/>
                        </a:rPr>
                        <a:t>/s</a:t>
                      </a:r>
                      <a:r>
                        <a:rPr lang="zh-CN" altLang="en-US" sz="500" b="0" i="0" u="none" strike="noStrike">
                          <a:solidFill>
                            <a:srgbClr val="000000"/>
                          </a:solidFill>
                          <a:latin typeface="宋体"/>
                        </a:rPr>
                        <a:t>内的电子式制冷剂检漏仪来测定和记录电动压缩机的泄漏量</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7943">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13</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耐压性</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5.4.4</a:t>
                      </a:r>
                      <a:br>
                        <a:rPr lang="en-US" altLang="zh-CN" sz="500" b="0" i="0" u="none" strike="noStrike" dirty="0">
                          <a:solidFill>
                            <a:srgbClr val="000000"/>
                          </a:solidFill>
                          <a:latin typeface="宋体"/>
                        </a:rPr>
                      </a:br>
                      <a:r>
                        <a:rPr lang="en-US" altLang="zh-CN" sz="500" b="0" i="0" u="none" strike="noStrike" dirty="0">
                          <a:solidFill>
                            <a:srgbClr val="000000"/>
                          </a:solidFill>
                          <a:latin typeface="宋体"/>
                        </a:rPr>
                        <a:t>5.4.4.1</a:t>
                      </a:r>
                      <a:br>
                        <a:rPr lang="en-US" altLang="zh-CN" sz="500" b="0" i="0" u="none" strike="noStrike" dirty="0">
                          <a:solidFill>
                            <a:srgbClr val="000000"/>
                          </a:solidFill>
                          <a:latin typeface="宋体"/>
                        </a:rPr>
                      </a:br>
                      <a:r>
                        <a:rPr lang="en-US" altLang="zh-CN" sz="500" b="0" i="0" u="none" strike="noStrike" dirty="0">
                          <a:solidFill>
                            <a:srgbClr val="000000"/>
                          </a:solidFill>
                          <a:latin typeface="宋体"/>
                        </a:rPr>
                        <a:t>5.4.4.2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1.</a:t>
                      </a:r>
                      <a:r>
                        <a:rPr lang="zh-CN" altLang="en-US" sz="500" b="0" i="0" u="none" strike="noStrike">
                          <a:solidFill>
                            <a:srgbClr val="000000"/>
                          </a:solidFill>
                          <a:latin typeface="宋体"/>
                        </a:rPr>
                        <a:t>按</a:t>
                      </a:r>
                      <a:r>
                        <a:rPr lang="en-US" altLang="zh-CN" sz="500" b="0" i="0" u="none" strike="noStrike">
                          <a:solidFill>
                            <a:srgbClr val="000000"/>
                          </a:solidFill>
                          <a:latin typeface="宋体"/>
                        </a:rPr>
                        <a:t>6.5.4.1</a:t>
                      </a:r>
                      <a:r>
                        <a:rPr lang="zh-CN" altLang="en-US" sz="500" b="0" i="0" u="none" strike="noStrike">
                          <a:solidFill>
                            <a:srgbClr val="000000"/>
                          </a:solidFill>
                          <a:latin typeface="宋体"/>
                        </a:rPr>
                        <a:t>方法试验后，电动压缩机的高压侧应无损坏或泄漏  </a:t>
                      </a:r>
                      <a:br>
                        <a:rPr lang="zh-CN" altLang="en-US" sz="500" b="0" i="0" u="none" strike="noStrike">
                          <a:solidFill>
                            <a:srgbClr val="000000"/>
                          </a:solidFill>
                          <a:latin typeface="宋体"/>
                        </a:rPr>
                      </a:br>
                      <a:r>
                        <a:rPr lang="en-US" altLang="zh-CN" sz="500" b="0" i="0" u="none" strike="noStrike">
                          <a:solidFill>
                            <a:srgbClr val="000000"/>
                          </a:solidFill>
                          <a:latin typeface="宋体"/>
                        </a:rPr>
                        <a:t>2.</a:t>
                      </a:r>
                      <a:r>
                        <a:rPr lang="zh-CN" altLang="en-US" sz="500" b="0" i="0" u="none" strike="noStrike">
                          <a:solidFill>
                            <a:srgbClr val="000000"/>
                          </a:solidFill>
                          <a:latin typeface="宋体"/>
                        </a:rPr>
                        <a:t>按</a:t>
                      </a:r>
                      <a:r>
                        <a:rPr lang="en-US" altLang="zh-CN" sz="500" b="0" i="0" u="none" strike="noStrike">
                          <a:solidFill>
                            <a:srgbClr val="000000"/>
                          </a:solidFill>
                          <a:latin typeface="宋体"/>
                        </a:rPr>
                        <a:t>6.5.4.2</a:t>
                      </a:r>
                      <a:r>
                        <a:rPr lang="zh-CN" altLang="en-US" sz="500" b="0" i="0" u="none" strike="noStrike">
                          <a:solidFill>
                            <a:srgbClr val="000000"/>
                          </a:solidFill>
                          <a:latin typeface="宋体"/>
                        </a:rPr>
                        <a:t>方法试验后，电动压缩机的低压侧应无损坏或泄漏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6.5.4.1</a:t>
                      </a:r>
                      <a:br>
                        <a:rPr lang="en-US" altLang="zh-CN" sz="500" b="0" i="0" u="none" strike="noStrike">
                          <a:solidFill>
                            <a:srgbClr val="000000"/>
                          </a:solidFill>
                          <a:latin typeface="宋体"/>
                        </a:rPr>
                      </a:br>
                      <a:r>
                        <a:rPr lang="en-US" altLang="zh-CN" sz="500" b="0" i="0" u="none" strike="noStrike">
                          <a:solidFill>
                            <a:srgbClr val="000000"/>
                          </a:solidFill>
                          <a:latin typeface="宋体"/>
                        </a:rPr>
                        <a:t>6.5.4.2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1.</a:t>
                      </a:r>
                      <a:r>
                        <a:rPr lang="zh-CN" altLang="en-US" sz="500" b="0" i="0" u="none" strike="noStrike">
                          <a:solidFill>
                            <a:srgbClr val="000000"/>
                          </a:solidFill>
                          <a:latin typeface="宋体"/>
                        </a:rPr>
                        <a:t>将电动压缩机的汽缸体固定在压力测量夹具上，使其高压部分处于密封状态，将液压泵压力口与汽车缸体排气口相连接，利用液压泵体内充油升压，当液压泵的压力表指示值达到</a:t>
                      </a:r>
                      <a:r>
                        <a:rPr lang="en-US" altLang="zh-CN" sz="500" b="0" i="0" u="none" strike="noStrike">
                          <a:solidFill>
                            <a:srgbClr val="000000"/>
                          </a:solidFill>
                          <a:latin typeface="宋体"/>
                        </a:rPr>
                        <a:t>8.3MPa</a:t>
                      </a:r>
                      <a:r>
                        <a:rPr lang="zh-CN" altLang="en-US" sz="500" b="0" i="0" u="none" strike="noStrike">
                          <a:solidFill>
                            <a:srgbClr val="000000"/>
                          </a:solidFill>
                          <a:latin typeface="宋体"/>
                        </a:rPr>
                        <a:t>时，检查汽缸高压部分</a:t>
                      </a:r>
                      <a:br>
                        <a:rPr lang="zh-CN" altLang="en-US" sz="500" b="0" i="0" u="none" strike="noStrike">
                          <a:solidFill>
                            <a:srgbClr val="000000"/>
                          </a:solidFill>
                          <a:latin typeface="宋体"/>
                        </a:rPr>
                      </a:br>
                      <a:r>
                        <a:rPr lang="en-US" altLang="zh-CN" sz="500" b="0" i="0" u="none" strike="noStrike">
                          <a:solidFill>
                            <a:srgbClr val="000000"/>
                          </a:solidFill>
                          <a:latin typeface="宋体"/>
                        </a:rPr>
                        <a:t>2.</a:t>
                      </a:r>
                      <a:r>
                        <a:rPr lang="zh-CN" altLang="en-US" sz="500" b="0" i="0" u="none" strike="noStrike">
                          <a:solidFill>
                            <a:srgbClr val="000000"/>
                          </a:solidFill>
                          <a:latin typeface="宋体"/>
                        </a:rPr>
                        <a:t>倒出电动压缩机内润滑油后，将其吸气口和液压泵压力口连接，利用液压泵抽电动压缩机内充油逐步升压，当液压泵的压力表指示值达到</a:t>
                      </a:r>
                      <a:r>
                        <a:rPr lang="en-US" altLang="zh-CN" sz="500" b="0" i="0" u="none" strike="noStrike">
                          <a:solidFill>
                            <a:srgbClr val="000000"/>
                          </a:solidFill>
                          <a:latin typeface="宋体"/>
                        </a:rPr>
                        <a:t>5.2MPa</a:t>
                      </a:r>
                      <a:r>
                        <a:rPr lang="zh-CN" altLang="en-US" sz="500" b="0" i="0" u="none" strike="noStrike">
                          <a:solidFill>
                            <a:srgbClr val="000000"/>
                          </a:solidFill>
                          <a:latin typeface="宋体"/>
                        </a:rPr>
                        <a:t>时，检查电动压缩机低压部分</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224">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14</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电动机定子绕组冷态直流电阻</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5.4.5</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6.5.5</a:t>
                      </a:r>
                      <a:r>
                        <a:rPr lang="zh-CN" altLang="en-US" sz="500" b="0" i="0" u="none" strike="noStrike">
                          <a:solidFill>
                            <a:srgbClr val="000000"/>
                          </a:solidFill>
                          <a:latin typeface="宋体"/>
                        </a:rPr>
                        <a:t>方法试验，电动机定子绕阻电阻冷态直流相电阻符合具体产品的规定</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6.5.5</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在电动机的转子静止不动时，按</a:t>
                      </a:r>
                      <a:r>
                        <a:rPr lang="en-US" altLang="zh-CN" sz="500" b="0" i="0" u="none" strike="noStrike">
                          <a:solidFill>
                            <a:srgbClr val="000000"/>
                          </a:solidFill>
                          <a:latin typeface="宋体"/>
                        </a:rPr>
                        <a:t>GB/T18488.2 2006</a:t>
                      </a:r>
                      <a:r>
                        <a:rPr lang="zh-CN" altLang="en-US" sz="500" b="0" i="0" u="none" strike="noStrike">
                          <a:solidFill>
                            <a:srgbClr val="000000"/>
                          </a:solidFill>
                          <a:latin typeface="宋体"/>
                        </a:rPr>
                        <a:t>中</a:t>
                      </a:r>
                      <a:r>
                        <a:rPr lang="en-US" altLang="zh-CN" sz="500" b="0" i="0" u="none" strike="noStrike">
                          <a:solidFill>
                            <a:srgbClr val="000000"/>
                          </a:solidFill>
                          <a:latin typeface="宋体"/>
                        </a:rPr>
                        <a:t>4.1.2</a:t>
                      </a:r>
                      <a:r>
                        <a:rPr lang="zh-CN" altLang="en-US" sz="500" b="0" i="0" u="none" strike="noStrike">
                          <a:solidFill>
                            <a:srgbClr val="000000"/>
                          </a:solidFill>
                          <a:latin typeface="宋体"/>
                        </a:rPr>
                        <a:t>规定的方法测量电动机定子绕组每个出线端间的电阻，并计算出电动机各相的冷态电阻值。</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224">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15</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电动机定子绕组的匝间绝缘</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5.4.6</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6.5.6</a:t>
                      </a:r>
                      <a:r>
                        <a:rPr lang="zh-CN" altLang="en-US" sz="500" b="0" i="0" u="none" strike="noStrike">
                          <a:solidFill>
                            <a:srgbClr val="000000"/>
                          </a:solidFill>
                          <a:latin typeface="宋体"/>
                        </a:rPr>
                        <a:t>方法试验，电动机定子绕组匝间绝缘应符合</a:t>
                      </a:r>
                      <a:r>
                        <a:rPr lang="en-US" altLang="zh-CN" sz="500" b="0" i="0" u="none" strike="noStrike">
                          <a:solidFill>
                            <a:srgbClr val="000000"/>
                          </a:solidFill>
                          <a:latin typeface="宋体"/>
                        </a:rPr>
                        <a:t>GB/T18488.1-2006</a:t>
                      </a:r>
                      <a:r>
                        <a:rPr lang="zh-CN" altLang="en-US" sz="500" b="0" i="0" u="none" strike="noStrike">
                          <a:solidFill>
                            <a:srgbClr val="000000"/>
                          </a:solidFill>
                          <a:latin typeface="宋体"/>
                        </a:rPr>
                        <a:t>中</a:t>
                      </a:r>
                      <a:r>
                        <a:rPr lang="en-US" altLang="zh-CN" sz="500" b="0" i="0" u="none" strike="noStrike">
                          <a:solidFill>
                            <a:srgbClr val="000000"/>
                          </a:solidFill>
                          <a:latin typeface="宋体"/>
                        </a:rPr>
                        <a:t>5.6</a:t>
                      </a:r>
                      <a:r>
                        <a:rPr lang="zh-CN" altLang="en-US" sz="500" b="0" i="0" u="none" strike="noStrike">
                          <a:solidFill>
                            <a:srgbClr val="000000"/>
                          </a:solidFill>
                          <a:latin typeface="宋体"/>
                        </a:rPr>
                        <a:t>的规定</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6.5.6</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JB/T9617-1999</a:t>
                      </a:r>
                      <a:r>
                        <a:rPr lang="zh-CN" altLang="en-US" sz="500" b="0" i="0" u="none" strike="noStrike">
                          <a:solidFill>
                            <a:srgbClr val="000000"/>
                          </a:solidFill>
                          <a:latin typeface="宋体"/>
                        </a:rPr>
                        <a:t>中</a:t>
                      </a:r>
                      <a:r>
                        <a:rPr lang="en-US" altLang="zh-CN" sz="500" b="0" i="0" u="none" strike="noStrike">
                          <a:solidFill>
                            <a:srgbClr val="000000"/>
                          </a:solidFill>
                          <a:latin typeface="宋体"/>
                        </a:rPr>
                        <a:t>6.2</a:t>
                      </a:r>
                      <a:r>
                        <a:rPr lang="zh-CN" altLang="en-US" sz="500" b="0" i="0" u="none" strike="noStrike">
                          <a:solidFill>
                            <a:srgbClr val="000000"/>
                          </a:solidFill>
                          <a:latin typeface="宋体"/>
                        </a:rPr>
                        <a:t>规定的方法测试，采用波形比较法判别匝间短路</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81735">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16</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电动机定子绕组对外壳的绝缘电阻</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dirty="0">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5.4.7</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6.5.7</a:t>
                      </a:r>
                      <a:r>
                        <a:rPr lang="zh-CN" altLang="en-US" sz="500" b="0" i="0" u="none" strike="noStrike" dirty="0">
                          <a:solidFill>
                            <a:srgbClr val="000000"/>
                          </a:solidFill>
                          <a:latin typeface="宋体"/>
                        </a:rPr>
                        <a:t>方法试验：</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1.</a:t>
                      </a:r>
                      <a:r>
                        <a:rPr lang="zh-CN" altLang="en-US" sz="500" b="0" i="0" u="none" strike="noStrike" dirty="0">
                          <a:solidFill>
                            <a:srgbClr val="000000"/>
                          </a:solidFill>
                          <a:latin typeface="宋体"/>
                        </a:rPr>
                        <a:t>清空电动压缩机内部的冷冻油后，电动机定子绕组对外壳的绝缘电阻≥</a:t>
                      </a:r>
                      <a:r>
                        <a:rPr lang="en-US" altLang="zh-CN" sz="500" b="0" i="0" u="none" strike="noStrike" dirty="0">
                          <a:solidFill>
                            <a:srgbClr val="000000"/>
                          </a:solidFill>
                          <a:latin typeface="宋体"/>
                        </a:rPr>
                        <a:t>50ΜΩ</a:t>
                      </a:r>
                      <a:br>
                        <a:rPr lang="en-US" altLang="zh-CN" sz="500" b="0" i="0" u="none" strike="noStrike" dirty="0">
                          <a:solidFill>
                            <a:srgbClr val="000000"/>
                          </a:solidFill>
                          <a:latin typeface="宋体"/>
                        </a:rPr>
                      </a:br>
                      <a:r>
                        <a:rPr lang="en-US" altLang="zh-CN" sz="500" b="0" i="0" u="none" strike="noStrike" dirty="0">
                          <a:solidFill>
                            <a:srgbClr val="000000"/>
                          </a:solidFill>
                          <a:latin typeface="宋体"/>
                        </a:rPr>
                        <a:t>2.</a:t>
                      </a:r>
                      <a:r>
                        <a:rPr lang="zh-CN" altLang="en-US" sz="500" b="0" i="0" u="none" strike="noStrike" dirty="0">
                          <a:solidFill>
                            <a:srgbClr val="000000"/>
                          </a:solidFill>
                          <a:latin typeface="宋体"/>
                        </a:rPr>
                        <a:t>向电动压缩机内充入</a:t>
                      </a:r>
                      <a:r>
                        <a:rPr lang="en-US" altLang="zh-CN" sz="500" b="0" i="0" u="none" strike="noStrike" dirty="0">
                          <a:solidFill>
                            <a:srgbClr val="000000"/>
                          </a:solidFill>
                          <a:latin typeface="宋体"/>
                        </a:rPr>
                        <a:t>50cm</a:t>
                      </a:r>
                      <a:r>
                        <a:rPr lang="en-US" altLang="zh-CN" sz="500" b="0" i="0" u="none" strike="noStrike" baseline="30000" dirty="0">
                          <a:solidFill>
                            <a:srgbClr val="000000"/>
                          </a:solidFill>
                          <a:latin typeface="宋体"/>
                        </a:rPr>
                        <a:t>3</a:t>
                      </a:r>
                      <a:r>
                        <a:rPr lang="en-US" altLang="zh-CN" sz="500" b="0" i="0" u="none" strike="noStrike" dirty="0">
                          <a:solidFill>
                            <a:srgbClr val="000000"/>
                          </a:solidFill>
                          <a:latin typeface="宋体"/>
                        </a:rPr>
                        <a:t>±1cm</a:t>
                      </a:r>
                      <a:r>
                        <a:rPr lang="en-US" altLang="zh-CN" sz="500" b="0" i="0" u="none" strike="noStrike" baseline="30000" dirty="0">
                          <a:solidFill>
                            <a:srgbClr val="000000"/>
                          </a:solidFill>
                          <a:latin typeface="宋体"/>
                        </a:rPr>
                        <a:t>3</a:t>
                      </a:r>
                      <a:r>
                        <a:rPr lang="zh-CN" altLang="en-US" sz="500" b="0" i="0" u="none" strike="noStrike" dirty="0">
                          <a:solidFill>
                            <a:srgbClr val="000000"/>
                          </a:solidFill>
                          <a:latin typeface="宋体"/>
                        </a:rPr>
                        <a:t>的冷冻机油和</a:t>
                      </a:r>
                      <a:r>
                        <a:rPr lang="en-US" altLang="zh-CN" sz="500" b="0" i="0" u="none" strike="noStrike" dirty="0">
                          <a:solidFill>
                            <a:srgbClr val="000000"/>
                          </a:solidFill>
                          <a:latin typeface="宋体"/>
                        </a:rPr>
                        <a:t>63g±1g</a:t>
                      </a:r>
                      <a:r>
                        <a:rPr lang="zh-CN" altLang="en-US" sz="500" b="0" i="0" u="none" strike="noStrike" dirty="0">
                          <a:solidFill>
                            <a:srgbClr val="000000"/>
                          </a:solidFill>
                          <a:latin typeface="宋体"/>
                        </a:rPr>
                        <a:t>的</a:t>
                      </a:r>
                      <a:r>
                        <a:rPr lang="en-US" altLang="zh-CN" sz="500" b="0" i="0" u="none" strike="noStrike" dirty="0">
                          <a:solidFill>
                            <a:srgbClr val="000000"/>
                          </a:solidFill>
                          <a:latin typeface="宋体"/>
                        </a:rPr>
                        <a:t>HFC-134a</a:t>
                      </a:r>
                      <a:r>
                        <a:rPr lang="zh-CN" altLang="en-US" sz="500" b="0" i="0" u="none" strike="noStrike" dirty="0">
                          <a:solidFill>
                            <a:srgbClr val="000000"/>
                          </a:solidFill>
                          <a:latin typeface="宋体"/>
                        </a:rPr>
                        <a:t>制冷剂后，电动机定子绕组对外壳的绝缘电阻应大于</a:t>
                      </a:r>
                      <a:r>
                        <a:rPr lang="en-US" altLang="zh-CN" sz="500" b="0" i="0" u="none" strike="noStrike" dirty="0">
                          <a:solidFill>
                            <a:srgbClr val="000000"/>
                          </a:solidFill>
                          <a:latin typeface="宋体"/>
                        </a:rPr>
                        <a:t>20ΜΩ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6.5.7</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采用兆欧表或专用绝缘电阻测量仪测量电动压缩机的电动机定子绕组每个出线端对外壳的绝缘电阻，根据被测定子绕组的额定电压选择兆欧表或专用绝缘电阻测量仪的电压值，应符合表</a:t>
                      </a:r>
                      <a:r>
                        <a:rPr lang="en-US" altLang="zh-CN" sz="500" b="0" i="0" u="none" strike="noStrike">
                          <a:solidFill>
                            <a:srgbClr val="000000"/>
                          </a:solidFill>
                          <a:latin typeface="宋体"/>
                        </a:rPr>
                        <a:t>7</a:t>
                      </a:r>
                      <a:r>
                        <a:rPr lang="zh-CN" altLang="en-US" sz="500" b="0" i="0" u="none" strike="noStrike">
                          <a:solidFill>
                            <a:srgbClr val="000000"/>
                          </a:solidFill>
                          <a:latin typeface="宋体"/>
                        </a:rPr>
                        <a:t>规定，绝缘电阻测量后，被测定子绕组应对地充分放电。</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2872">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17</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电动机定子绕组对外壳的耐电压</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5.4.8</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6.5.8</a:t>
                      </a:r>
                      <a:r>
                        <a:rPr lang="zh-CN" altLang="en-US" sz="500" b="0" i="0" u="none" strike="noStrike" dirty="0">
                          <a:solidFill>
                            <a:srgbClr val="000000"/>
                          </a:solidFill>
                          <a:latin typeface="宋体"/>
                        </a:rPr>
                        <a:t>方法试验，电动机定子绕组对外壳的绝缘应能承受表</a:t>
                      </a:r>
                      <a:r>
                        <a:rPr lang="en-US" altLang="zh-CN" sz="500" b="0" i="0" u="none" strike="noStrike" dirty="0">
                          <a:solidFill>
                            <a:srgbClr val="000000"/>
                          </a:solidFill>
                          <a:latin typeface="宋体"/>
                        </a:rPr>
                        <a:t>4</a:t>
                      </a:r>
                      <a:r>
                        <a:rPr lang="zh-CN" altLang="en-US" sz="500" b="0" i="0" u="none" strike="noStrike" dirty="0">
                          <a:solidFill>
                            <a:srgbClr val="000000"/>
                          </a:solidFill>
                          <a:latin typeface="宋体"/>
                        </a:rPr>
                        <a:t>规定的试验电压，绝缘应无击穿、闪络和飞狐，漏电流应符合表</a:t>
                      </a:r>
                      <a:r>
                        <a:rPr lang="en-US" altLang="zh-CN" sz="500" b="0" i="0" u="none" strike="noStrike" dirty="0">
                          <a:solidFill>
                            <a:srgbClr val="000000"/>
                          </a:solidFill>
                          <a:latin typeface="宋体"/>
                        </a:rPr>
                        <a:t>4</a:t>
                      </a:r>
                      <a:r>
                        <a:rPr lang="zh-CN" altLang="en-US" sz="500" b="0" i="0" u="none" strike="noStrike" dirty="0">
                          <a:solidFill>
                            <a:srgbClr val="000000"/>
                          </a:solidFill>
                          <a:latin typeface="宋体"/>
                        </a:rPr>
                        <a:t>的规定</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6.5.8</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电动压缩机电动机定子绕组对外壳的耐电压试验按</a:t>
                      </a:r>
                      <a:r>
                        <a:rPr lang="en-US" altLang="zh-CN" sz="500" b="0" i="0" u="none" strike="noStrike">
                          <a:solidFill>
                            <a:srgbClr val="000000"/>
                          </a:solidFill>
                          <a:latin typeface="宋体"/>
                        </a:rPr>
                        <a:t>GB/T18488.2-2006</a:t>
                      </a:r>
                      <a:r>
                        <a:rPr lang="zh-CN" altLang="en-US" sz="500" b="0" i="0" u="none" strike="noStrike">
                          <a:solidFill>
                            <a:srgbClr val="000000"/>
                          </a:solidFill>
                          <a:latin typeface="宋体"/>
                        </a:rPr>
                        <a:t>中</a:t>
                      </a:r>
                      <a:r>
                        <a:rPr lang="en-US" altLang="zh-CN" sz="500" b="0" i="0" u="none" strike="noStrike">
                          <a:solidFill>
                            <a:srgbClr val="000000"/>
                          </a:solidFill>
                          <a:latin typeface="宋体"/>
                        </a:rPr>
                        <a:t>4.5.3</a:t>
                      </a:r>
                      <a:r>
                        <a:rPr lang="zh-CN" altLang="en-US" sz="500" b="0" i="0" u="none" strike="noStrike">
                          <a:solidFill>
                            <a:srgbClr val="000000"/>
                          </a:solidFill>
                          <a:latin typeface="宋体"/>
                        </a:rPr>
                        <a:t>规定的方法进行，试验时应先将定子绕组三相线出现端互相短接，根据被测定子绕组的额定电压选择符合表</a:t>
                      </a:r>
                      <a:r>
                        <a:rPr lang="en-US" altLang="zh-CN" sz="500" b="0" i="0" u="none" strike="noStrike">
                          <a:solidFill>
                            <a:srgbClr val="000000"/>
                          </a:solidFill>
                          <a:latin typeface="宋体"/>
                        </a:rPr>
                        <a:t>4</a:t>
                      </a:r>
                      <a:r>
                        <a:rPr lang="zh-CN" altLang="en-US" sz="500" b="0" i="0" u="none" strike="noStrike">
                          <a:solidFill>
                            <a:srgbClr val="000000"/>
                          </a:solidFill>
                          <a:latin typeface="宋体"/>
                        </a:rPr>
                        <a:t>规定的试验电压，测量电压的有效值不应超过规定值的</a:t>
                      </a:r>
                      <a:r>
                        <a:rPr lang="en-US" altLang="zh-CN" sz="500" b="0" i="0" u="none" strike="noStrike">
                          <a:solidFill>
                            <a:srgbClr val="000000"/>
                          </a:solidFill>
                          <a:latin typeface="宋体"/>
                        </a:rPr>
                        <a:t>±5%</a:t>
                      </a:r>
                      <a:r>
                        <a:rPr lang="zh-CN" altLang="en-US" sz="500" b="0" i="0" u="none" strike="noStrike">
                          <a:solidFill>
                            <a:srgbClr val="000000"/>
                          </a:solidFill>
                          <a:latin typeface="宋体"/>
                        </a:rPr>
                        <a:t>。</a:t>
                      </a:r>
                      <a:br>
                        <a:rPr lang="zh-CN" altLang="en-US" sz="500" b="0" i="0" u="none" strike="noStrike">
                          <a:solidFill>
                            <a:srgbClr val="000000"/>
                          </a:solidFill>
                          <a:latin typeface="宋体"/>
                        </a:rPr>
                      </a:br>
                      <a:r>
                        <a:rPr lang="zh-CN" altLang="en-US" sz="500" b="0" i="0" u="none" strike="noStrike">
                          <a:solidFill>
                            <a:srgbClr val="000000"/>
                          </a:solidFill>
                          <a:latin typeface="宋体"/>
                        </a:rPr>
                        <a:t>试验不应重复进行，如用户提出要求，允许在安装之后开始运行前进行一次试验，其试验电压值应不会超过表</a:t>
                      </a:r>
                      <a:r>
                        <a:rPr lang="en-US" altLang="zh-CN" sz="500" b="0" i="0" u="none" strike="noStrike">
                          <a:solidFill>
                            <a:srgbClr val="000000"/>
                          </a:solidFill>
                          <a:latin typeface="宋体"/>
                        </a:rPr>
                        <a:t>4</a:t>
                      </a:r>
                      <a:r>
                        <a:rPr lang="zh-CN" altLang="en-US" sz="500" b="0" i="0" u="none" strike="noStrike">
                          <a:solidFill>
                            <a:srgbClr val="000000"/>
                          </a:solidFill>
                          <a:latin typeface="宋体"/>
                        </a:rPr>
                        <a:t>规定电压的</a:t>
                      </a:r>
                      <a:r>
                        <a:rPr lang="en-US" altLang="zh-CN" sz="500" b="0" i="0" u="none" strike="noStrike">
                          <a:solidFill>
                            <a:srgbClr val="000000"/>
                          </a:solidFill>
                          <a:latin typeface="宋体"/>
                        </a:rPr>
                        <a:t>80%</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30302">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18</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外壳防护等级</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5.4.9</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电动压缩机的防护等级为</a:t>
                      </a:r>
                      <a:r>
                        <a:rPr lang="en-US" altLang="zh-CN" sz="500" b="0" i="0" u="none" strike="noStrike" dirty="0">
                          <a:solidFill>
                            <a:srgbClr val="000000"/>
                          </a:solidFill>
                          <a:latin typeface="宋体"/>
                        </a:rPr>
                        <a:t>IP54</a:t>
                      </a: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6.5.9</a:t>
                      </a:r>
                      <a:r>
                        <a:rPr lang="zh-CN" altLang="en-US" sz="500" b="0" i="0" u="none" strike="noStrike" dirty="0">
                          <a:solidFill>
                            <a:srgbClr val="000000"/>
                          </a:solidFill>
                          <a:latin typeface="宋体"/>
                        </a:rPr>
                        <a:t>方法试验后复测电动机定子绕组对外壳的绝缘电阻，应符合</a:t>
                      </a:r>
                      <a:r>
                        <a:rPr lang="en-US" altLang="zh-CN" sz="500" b="0" i="0" u="none" strike="noStrike" dirty="0">
                          <a:solidFill>
                            <a:srgbClr val="000000"/>
                          </a:solidFill>
                          <a:latin typeface="宋体"/>
                        </a:rPr>
                        <a:t>5.4.7</a:t>
                      </a:r>
                      <a:r>
                        <a:rPr lang="zh-CN" altLang="en-US" sz="500" b="0" i="0" u="none" strike="noStrike" dirty="0">
                          <a:solidFill>
                            <a:srgbClr val="000000"/>
                          </a:solidFill>
                          <a:latin typeface="宋体"/>
                        </a:rPr>
                        <a:t>的规定；复测电动压缩机耐电压，应符合</a:t>
                      </a:r>
                      <a:r>
                        <a:rPr lang="en-US" altLang="zh-CN" sz="500" b="0" i="0" u="none" strike="noStrike" dirty="0">
                          <a:solidFill>
                            <a:srgbClr val="000000"/>
                          </a:solidFill>
                          <a:latin typeface="宋体"/>
                        </a:rPr>
                        <a:t>5.4.8</a:t>
                      </a:r>
                      <a:r>
                        <a:rPr lang="zh-CN" altLang="en-US" sz="500" b="0" i="0" u="none" strike="noStrike" dirty="0">
                          <a:solidFill>
                            <a:srgbClr val="000000"/>
                          </a:solidFill>
                          <a:latin typeface="宋体"/>
                        </a:rPr>
                        <a:t>规定的要求</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6.5.9</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将电动压缩机安装于与实际工作状态相似的工装中，按</a:t>
                      </a:r>
                      <a:r>
                        <a:rPr lang="en-US" altLang="zh-CN" sz="500" b="0" i="0" u="none" strike="noStrike">
                          <a:solidFill>
                            <a:srgbClr val="000000"/>
                          </a:solidFill>
                          <a:latin typeface="宋体"/>
                        </a:rPr>
                        <a:t>GB/T4208-1993</a:t>
                      </a:r>
                      <a:r>
                        <a:rPr lang="zh-CN" altLang="en-US" sz="500" b="0" i="0" u="none" strike="noStrike">
                          <a:solidFill>
                            <a:srgbClr val="000000"/>
                          </a:solidFill>
                          <a:latin typeface="宋体"/>
                        </a:rPr>
                        <a:t>中第</a:t>
                      </a:r>
                      <a:r>
                        <a:rPr lang="en-US" altLang="zh-CN" sz="500" b="0" i="0" u="none" strike="noStrike">
                          <a:solidFill>
                            <a:srgbClr val="000000"/>
                          </a:solidFill>
                          <a:latin typeface="宋体"/>
                        </a:rPr>
                        <a:t>11</a:t>
                      </a:r>
                      <a:r>
                        <a:rPr lang="zh-CN" altLang="en-US" sz="500" b="0" i="0" u="none" strike="noStrike">
                          <a:solidFill>
                            <a:srgbClr val="000000"/>
                          </a:solidFill>
                          <a:latin typeface="宋体"/>
                        </a:rPr>
                        <a:t>、</a:t>
                      </a:r>
                      <a:r>
                        <a:rPr lang="en-US" altLang="zh-CN" sz="500" b="0" i="0" u="none" strike="noStrike">
                          <a:solidFill>
                            <a:srgbClr val="000000"/>
                          </a:solidFill>
                          <a:latin typeface="宋体"/>
                        </a:rPr>
                        <a:t>12</a:t>
                      </a:r>
                      <a:r>
                        <a:rPr lang="zh-CN" altLang="en-US" sz="500" b="0" i="0" u="none" strike="noStrike">
                          <a:solidFill>
                            <a:srgbClr val="000000"/>
                          </a:solidFill>
                          <a:latin typeface="宋体"/>
                        </a:rPr>
                        <a:t>和</a:t>
                      </a:r>
                      <a:r>
                        <a:rPr lang="en-US" altLang="zh-CN" sz="500" b="0" i="0" u="none" strike="noStrike">
                          <a:solidFill>
                            <a:srgbClr val="000000"/>
                          </a:solidFill>
                          <a:latin typeface="宋体"/>
                        </a:rPr>
                        <a:t>13</a:t>
                      </a:r>
                      <a:r>
                        <a:rPr lang="zh-CN" altLang="en-US" sz="500" b="0" i="0" u="none" strike="noStrike">
                          <a:solidFill>
                            <a:srgbClr val="000000"/>
                          </a:solidFill>
                          <a:latin typeface="宋体"/>
                        </a:rPr>
                        <a:t>章规定的方法测试。</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224">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19</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电动机的空载转速和电流</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5.4.10</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6.5.10</a:t>
                      </a:r>
                      <a:r>
                        <a:rPr lang="zh-CN" altLang="en-US" sz="500" b="0" i="0" u="none" strike="noStrike" dirty="0">
                          <a:solidFill>
                            <a:srgbClr val="000000"/>
                          </a:solidFill>
                          <a:latin typeface="宋体"/>
                        </a:rPr>
                        <a:t>方法试验，电动机最高转速和电流应符合具体产品的规定</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6.5.10</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试验时，将驱动控制器和电动机部件连接后安装在电机性能测试台（测功机）上，给驱动控制器施加额定电压，将测功机转鼓输出扭矩设定为零，测试其最高空载转速和电流值</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8082">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20</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电动机的负载特性</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5.4.11</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6.5.11</a:t>
                      </a:r>
                      <a:r>
                        <a:rPr lang="zh-CN" altLang="en-US" sz="500" b="0" i="0" u="none" strike="noStrike" dirty="0">
                          <a:solidFill>
                            <a:srgbClr val="000000"/>
                          </a:solidFill>
                          <a:latin typeface="宋体"/>
                        </a:rPr>
                        <a:t>方法试验，电动机转速和扭矩的特性曲线、电流和扭矩的特性曲线、效率和扭矩的特性曲线应符合具体产品的规定</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6.5.11</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将驱动控制器和电动机部件连接后安装在电机性能测试台（测功机）上，按</a:t>
                      </a:r>
                      <a:r>
                        <a:rPr lang="en-US" altLang="zh-CN" sz="500" b="0" i="0" u="none" strike="noStrike">
                          <a:solidFill>
                            <a:srgbClr val="000000"/>
                          </a:solidFill>
                          <a:latin typeface="宋体"/>
                        </a:rPr>
                        <a:t>GB/T18488.2-2006</a:t>
                      </a:r>
                      <a:r>
                        <a:rPr lang="zh-CN" altLang="en-US" sz="500" b="0" i="0" u="none" strike="noStrike">
                          <a:solidFill>
                            <a:srgbClr val="000000"/>
                          </a:solidFill>
                          <a:latin typeface="宋体"/>
                        </a:rPr>
                        <a:t>中</a:t>
                      </a:r>
                      <a:r>
                        <a:rPr lang="en-US" altLang="zh-CN" sz="500" b="0" i="0" u="none" strike="noStrike">
                          <a:solidFill>
                            <a:srgbClr val="000000"/>
                          </a:solidFill>
                          <a:latin typeface="宋体"/>
                        </a:rPr>
                        <a:t>7.2.1</a:t>
                      </a:r>
                      <a:r>
                        <a:rPr lang="zh-CN" altLang="en-US" sz="500" b="0" i="0" u="none" strike="noStrike">
                          <a:solidFill>
                            <a:srgbClr val="000000"/>
                          </a:solidFill>
                          <a:latin typeface="宋体"/>
                        </a:rPr>
                        <a:t>规定的方法和记录要求测试，给驱动控制器施加额定电压，测试电动机转速和扭矩的特性曲线、电流和扭矩的特性曲线、效率和扭矩的特性曲线</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33168">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21</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耐振动性</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5.4.12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6.5.12</a:t>
                      </a:r>
                      <a:r>
                        <a:rPr lang="zh-CN" altLang="en-US" sz="500" b="0" i="0" u="none" strike="noStrike" dirty="0">
                          <a:solidFill>
                            <a:srgbClr val="000000"/>
                          </a:solidFill>
                          <a:latin typeface="宋体"/>
                        </a:rPr>
                        <a:t>方法试验后，电动压缩机应符合以下要求：</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1.</a:t>
                      </a:r>
                      <a:r>
                        <a:rPr lang="zh-CN" altLang="en-US" sz="500" b="0" i="0" u="none" strike="noStrike" dirty="0">
                          <a:solidFill>
                            <a:srgbClr val="000000"/>
                          </a:solidFill>
                          <a:latin typeface="宋体"/>
                        </a:rPr>
                        <a:t>压缩内部各面不应出现裂纹和损坏，螺栓不应有松动和损坏                                                </a:t>
                      </a:r>
                      <a:r>
                        <a:rPr lang="en-US" altLang="zh-CN" sz="500" b="0" i="0" u="none" strike="noStrike" dirty="0">
                          <a:solidFill>
                            <a:srgbClr val="000000"/>
                          </a:solidFill>
                          <a:latin typeface="宋体"/>
                        </a:rPr>
                        <a:t>2.</a:t>
                      </a:r>
                      <a:r>
                        <a:rPr lang="zh-CN" altLang="en-US" sz="500" b="0" i="0" u="none" strike="noStrike" dirty="0">
                          <a:solidFill>
                            <a:srgbClr val="000000"/>
                          </a:solidFill>
                          <a:latin typeface="宋体"/>
                        </a:rPr>
                        <a:t>电动压缩机总泄漏量不超过</a:t>
                      </a:r>
                      <a:r>
                        <a:rPr lang="en-US" altLang="zh-CN" sz="500" b="0" i="0" u="none" strike="noStrike" dirty="0">
                          <a:solidFill>
                            <a:srgbClr val="000000"/>
                          </a:solidFill>
                          <a:latin typeface="宋体"/>
                        </a:rPr>
                        <a:t>15g/</a:t>
                      </a:r>
                      <a:r>
                        <a:rPr lang="zh-CN" altLang="en-US" sz="500" b="0" i="0" u="none" strike="noStrike" dirty="0">
                          <a:solidFill>
                            <a:srgbClr val="000000"/>
                          </a:solidFill>
                          <a:latin typeface="宋体"/>
                        </a:rPr>
                        <a:t>年</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3.</a:t>
                      </a:r>
                      <a:r>
                        <a:rPr lang="zh-CN" altLang="en-US" sz="500" b="0" i="0" u="none" strike="noStrike" dirty="0">
                          <a:solidFill>
                            <a:srgbClr val="000000"/>
                          </a:solidFill>
                          <a:latin typeface="宋体"/>
                        </a:rPr>
                        <a:t>电动机定子绕组对外壳绝缘电阻符合</a:t>
                      </a:r>
                      <a:r>
                        <a:rPr lang="en-US" altLang="zh-CN" sz="500" b="0" i="0" u="none" strike="noStrike" dirty="0">
                          <a:solidFill>
                            <a:srgbClr val="000000"/>
                          </a:solidFill>
                          <a:latin typeface="宋体"/>
                        </a:rPr>
                        <a:t>5.4.7</a:t>
                      </a:r>
                      <a:r>
                        <a:rPr lang="zh-CN" altLang="en-US" sz="500" b="0" i="0" u="none" strike="noStrike" dirty="0">
                          <a:solidFill>
                            <a:srgbClr val="000000"/>
                          </a:solidFill>
                          <a:latin typeface="宋体"/>
                        </a:rPr>
                        <a:t>规定</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4.</a:t>
                      </a:r>
                      <a:r>
                        <a:rPr lang="zh-CN" altLang="en-US" sz="500" b="0" i="0" u="none" strike="noStrike" dirty="0">
                          <a:solidFill>
                            <a:srgbClr val="000000"/>
                          </a:solidFill>
                          <a:latin typeface="宋体"/>
                        </a:rPr>
                        <a:t>耐电压试验符合</a:t>
                      </a:r>
                      <a:r>
                        <a:rPr lang="en-US" altLang="zh-CN" sz="500" b="0" i="0" u="none" strike="noStrike" dirty="0">
                          <a:solidFill>
                            <a:srgbClr val="000000"/>
                          </a:solidFill>
                          <a:latin typeface="宋体"/>
                        </a:rPr>
                        <a:t>5.4.8</a:t>
                      </a:r>
                      <a:r>
                        <a:rPr lang="zh-CN" altLang="en-US" sz="500" b="0" i="0" u="none" strike="noStrike" dirty="0">
                          <a:solidFill>
                            <a:srgbClr val="000000"/>
                          </a:solidFill>
                          <a:latin typeface="宋体"/>
                        </a:rPr>
                        <a:t>规定</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5.</a:t>
                      </a: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6.3</a:t>
                      </a:r>
                      <a:r>
                        <a:rPr lang="zh-CN" altLang="en-US" sz="500" b="0" i="0" u="none" strike="noStrike" dirty="0">
                          <a:solidFill>
                            <a:srgbClr val="000000"/>
                          </a:solidFill>
                          <a:latin typeface="宋体"/>
                        </a:rPr>
                        <a:t>规定的</a:t>
                      </a:r>
                      <a:r>
                        <a:rPr lang="en-US" altLang="zh-CN" sz="500" b="0" i="0" u="none" strike="noStrike" dirty="0">
                          <a:solidFill>
                            <a:srgbClr val="000000"/>
                          </a:solidFill>
                          <a:latin typeface="宋体"/>
                        </a:rPr>
                        <a:t>4000r/min</a:t>
                      </a:r>
                      <a:r>
                        <a:rPr lang="zh-CN" altLang="en-US" sz="500" b="0" i="0" u="none" strike="noStrike" dirty="0">
                          <a:solidFill>
                            <a:srgbClr val="000000"/>
                          </a:solidFill>
                          <a:latin typeface="宋体"/>
                        </a:rPr>
                        <a:t>工况复测，电动压缩机总成制冷量不低于试验前测试值的</a:t>
                      </a:r>
                      <a:r>
                        <a:rPr lang="en-US" altLang="zh-CN" sz="500" b="0" i="0" u="none" strike="noStrike" dirty="0">
                          <a:solidFill>
                            <a:srgbClr val="000000"/>
                          </a:solidFill>
                          <a:latin typeface="宋体"/>
                        </a:rPr>
                        <a:t>90%</a:t>
                      </a:r>
                      <a:r>
                        <a:rPr lang="zh-CN" altLang="en-US" sz="500" b="0" i="0" u="none" strike="noStrike" dirty="0">
                          <a:solidFill>
                            <a:srgbClr val="000000"/>
                          </a:solidFill>
                          <a:latin typeface="宋体"/>
                        </a:rPr>
                        <a:t>，能效比不低于试验前测试值的</a:t>
                      </a:r>
                      <a:r>
                        <a:rPr lang="en-US" altLang="zh-CN" sz="500" b="0" i="0" u="none" strike="noStrike" dirty="0">
                          <a:solidFill>
                            <a:srgbClr val="000000"/>
                          </a:solidFill>
                          <a:latin typeface="宋体"/>
                        </a:rPr>
                        <a:t>82%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6.5.12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向电动压缩机内充入</a:t>
                      </a:r>
                      <a:r>
                        <a:rPr lang="en-US" altLang="zh-CN" sz="500" b="0" i="0" u="none" strike="noStrike">
                          <a:solidFill>
                            <a:srgbClr val="000000"/>
                          </a:solidFill>
                          <a:latin typeface="宋体"/>
                        </a:rPr>
                        <a:t>50cm</a:t>
                      </a:r>
                      <a:r>
                        <a:rPr lang="en-US" altLang="zh-CN" sz="500" b="0" i="0" u="none" strike="noStrike" baseline="30000">
                          <a:solidFill>
                            <a:srgbClr val="000000"/>
                          </a:solidFill>
                          <a:latin typeface="宋体"/>
                        </a:rPr>
                        <a:t>3</a:t>
                      </a:r>
                      <a:r>
                        <a:rPr lang="en-US" altLang="zh-CN" sz="500" b="0" i="0" u="none" strike="noStrike">
                          <a:solidFill>
                            <a:srgbClr val="000000"/>
                          </a:solidFill>
                          <a:latin typeface="宋体"/>
                        </a:rPr>
                        <a:t>±1cm</a:t>
                      </a:r>
                      <a:r>
                        <a:rPr lang="en-US" altLang="zh-CN" sz="500" b="0" i="0" u="none" strike="noStrike" baseline="30000">
                          <a:solidFill>
                            <a:srgbClr val="000000"/>
                          </a:solidFill>
                          <a:latin typeface="宋体"/>
                        </a:rPr>
                        <a:t>3</a:t>
                      </a:r>
                      <a:r>
                        <a:rPr lang="zh-CN" altLang="en-US" sz="500" b="0" i="0" u="none" strike="noStrike">
                          <a:solidFill>
                            <a:srgbClr val="000000"/>
                          </a:solidFill>
                          <a:latin typeface="宋体"/>
                        </a:rPr>
                        <a:t>的冷冻油和</a:t>
                      </a:r>
                      <a:r>
                        <a:rPr lang="en-US" altLang="zh-CN" sz="500" b="0" i="0" u="none" strike="noStrike">
                          <a:solidFill>
                            <a:srgbClr val="000000"/>
                          </a:solidFill>
                          <a:latin typeface="宋体"/>
                        </a:rPr>
                        <a:t>63g±1g</a:t>
                      </a:r>
                      <a:r>
                        <a:rPr lang="zh-CN" altLang="en-US" sz="500" b="0" i="0" u="none" strike="noStrike">
                          <a:solidFill>
                            <a:srgbClr val="000000"/>
                          </a:solidFill>
                          <a:latin typeface="宋体"/>
                        </a:rPr>
                        <a:t>的</a:t>
                      </a:r>
                      <a:r>
                        <a:rPr lang="en-US" altLang="zh-CN" sz="500" b="0" i="0" u="none" strike="noStrike">
                          <a:solidFill>
                            <a:srgbClr val="000000"/>
                          </a:solidFill>
                          <a:latin typeface="宋体"/>
                        </a:rPr>
                        <a:t>HFC-134a</a:t>
                      </a:r>
                      <a:r>
                        <a:rPr lang="zh-CN" altLang="en-US" sz="500" b="0" i="0" u="none" strike="noStrike">
                          <a:solidFill>
                            <a:srgbClr val="000000"/>
                          </a:solidFill>
                          <a:latin typeface="宋体"/>
                        </a:rPr>
                        <a:t>后，将电动压缩安装于与实际工作状态相似工装中，将工装安装在振动试验台上，工装和电动压缩机的重心应在振动的中心轴上，按表</a:t>
                      </a:r>
                      <a:r>
                        <a:rPr lang="en-US" altLang="zh-CN" sz="500" b="0" i="0" u="none" strike="noStrike">
                          <a:solidFill>
                            <a:srgbClr val="000000"/>
                          </a:solidFill>
                          <a:latin typeface="宋体"/>
                        </a:rPr>
                        <a:t>8</a:t>
                      </a:r>
                      <a:r>
                        <a:rPr lang="zh-CN" altLang="en-US" sz="500" b="0" i="0" u="none" strike="noStrike">
                          <a:solidFill>
                            <a:srgbClr val="000000"/>
                          </a:solidFill>
                          <a:latin typeface="宋体"/>
                        </a:rPr>
                        <a:t>工况进行试验</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33168">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22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热循环</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5.4.13</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6.5.13</a:t>
                      </a:r>
                      <a:r>
                        <a:rPr lang="zh-CN" altLang="en-US" sz="500" b="0" i="0" u="none" strike="noStrike" dirty="0">
                          <a:solidFill>
                            <a:srgbClr val="000000"/>
                          </a:solidFill>
                          <a:latin typeface="宋体"/>
                        </a:rPr>
                        <a:t>方法试验后，电动压缩机应符合以下要求：</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1.</a:t>
                      </a:r>
                      <a:r>
                        <a:rPr lang="zh-CN" altLang="en-US" sz="500" b="0" i="0" u="none" strike="noStrike" dirty="0">
                          <a:solidFill>
                            <a:srgbClr val="000000"/>
                          </a:solidFill>
                          <a:latin typeface="宋体"/>
                        </a:rPr>
                        <a:t>压缩内部各面不应出现裂纹和损坏，螺栓不应有松动和损坏                                                </a:t>
                      </a:r>
                      <a:r>
                        <a:rPr lang="en-US" altLang="zh-CN" sz="500" b="0" i="0" u="none" strike="noStrike" dirty="0">
                          <a:solidFill>
                            <a:srgbClr val="000000"/>
                          </a:solidFill>
                          <a:latin typeface="宋体"/>
                        </a:rPr>
                        <a:t>2.</a:t>
                      </a:r>
                      <a:r>
                        <a:rPr lang="zh-CN" altLang="en-US" sz="500" b="0" i="0" u="none" strike="noStrike" dirty="0">
                          <a:solidFill>
                            <a:srgbClr val="000000"/>
                          </a:solidFill>
                          <a:latin typeface="宋体"/>
                        </a:rPr>
                        <a:t>电动压缩机总泄漏量不超过</a:t>
                      </a:r>
                      <a:r>
                        <a:rPr lang="en-US" altLang="zh-CN" sz="500" b="0" i="0" u="none" strike="noStrike" dirty="0">
                          <a:solidFill>
                            <a:srgbClr val="000000"/>
                          </a:solidFill>
                          <a:latin typeface="宋体"/>
                        </a:rPr>
                        <a:t>15g/</a:t>
                      </a:r>
                      <a:r>
                        <a:rPr lang="zh-CN" altLang="en-US" sz="500" b="0" i="0" u="none" strike="noStrike" dirty="0">
                          <a:solidFill>
                            <a:srgbClr val="000000"/>
                          </a:solidFill>
                          <a:latin typeface="宋体"/>
                        </a:rPr>
                        <a:t>年</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3.</a:t>
                      </a:r>
                      <a:r>
                        <a:rPr lang="zh-CN" altLang="en-US" sz="500" b="0" i="0" u="none" strike="noStrike" dirty="0">
                          <a:solidFill>
                            <a:srgbClr val="000000"/>
                          </a:solidFill>
                          <a:latin typeface="宋体"/>
                        </a:rPr>
                        <a:t>电动机定子绕组对外壳绝缘电阻符合</a:t>
                      </a:r>
                      <a:r>
                        <a:rPr lang="en-US" altLang="zh-CN" sz="500" b="0" i="0" u="none" strike="noStrike" dirty="0">
                          <a:solidFill>
                            <a:srgbClr val="000000"/>
                          </a:solidFill>
                          <a:latin typeface="宋体"/>
                        </a:rPr>
                        <a:t>5.4.7</a:t>
                      </a:r>
                      <a:r>
                        <a:rPr lang="zh-CN" altLang="en-US" sz="500" b="0" i="0" u="none" strike="noStrike" dirty="0">
                          <a:solidFill>
                            <a:srgbClr val="000000"/>
                          </a:solidFill>
                          <a:latin typeface="宋体"/>
                        </a:rPr>
                        <a:t>规定                             </a:t>
                      </a:r>
                      <a:r>
                        <a:rPr lang="en-US" altLang="zh-CN" sz="500" b="0" i="0" u="none" strike="noStrike" dirty="0">
                          <a:solidFill>
                            <a:srgbClr val="000000"/>
                          </a:solidFill>
                          <a:latin typeface="宋体"/>
                        </a:rPr>
                        <a:t>4.</a:t>
                      </a:r>
                      <a:r>
                        <a:rPr lang="zh-CN" altLang="en-US" sz="500" b="0" i="0" u="none" strike="noStrike" dirty="0">
                          <a:solidFill>
                            <a:srgbClr val="000000"/>
                          </a:solidFill>
                          <a:latin typeface="宋体"/>
                        </a:rPr>
                        <a:t>耐电压试验符合</a:t>
                      </a:r>
                      <a:r>
                        <a:rPr lang="en-US" altLang="zh-CN" sz="500" b="0" i="0" u="none" strike="noStrike" dirty="0">
                          <a:solidFill>
                            <a:srgbClr val="000000"/>
                          </a:solidFill>
                          <a:latin typeface="宋体"/>
                        </a:rPr>
                        <a:t>5.4.8</a:t>
                      </a:r>
                      <a:r>
                        <a:rPr lang="zh-CN" altLang="en-US" sz="500" b="0" i="0" u="none" strike="noStrike" dirty="0">
                          <a:solidFill>
                            <a:srgbClr val="000000"/>
                          </a:solidFill>
                          <a:latin typeface="宋体"/>
                        </a:rPr>
                        <a:t>规定</a:t>
                      </a:r>
                      <a:br>
                        <a:rPr lang="zh-CN" altLang="en-US" sz="500" b="0" i="0" u="none" strike="noStrike" dirty="0">
                          <a:solidFill>
                            <a:srgbClr val="000000"/>
                          </a:solidFill>
                          <a:latin typeface="宋体"/>
                        </a:rPr>
                      </a:br>
                      <a:r>
                        <a:rPr lang="en-US" altLang="zh-CN" sz="500" b="0" i="0" u="none" strike="noStrike" dirty="0">
                          <a:solidFill>
                            <a:srgbClr val="000000"/>
                          </a:solidFill>
                          <a:latin typeface="宋体"/>
                        </a:rPr>
                        <a:t>5.</a:t>
                      </a: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6.3</a:t>
                      </a:r>
                      <a:r>
                        <a:rPr lang="zh-CN" altLang="en-US" sz="500" b="0" i="0" u="none" strike="noStrike" dirty="0">
                          <a:solidFill>
                            <a:srgbClr val="000000"/>
                          </a:solidFill>
                          <a:latin typeface="宋体"/>
                        </a:rPr>
                        <a:t>规定的</a:t>
                      </a:r>
                      <a:r>
                        <a:rPr lang="en-US" altLang="zh-CN" sz="500" b="0" i="0" u="none" strike="noStrike" dirty="0">
                          <a:solidFill>
                            <a:srgbClr val="000000"/>
                          </a:solidFill>
                          <a:latin typeface="宋体"/>
                        </a:rPr>
                        <a:t>4000r/min</a:t>
                      </a:r>
                      <a:r>
                        <a:rPr lang="zh-CN" altLang="en-US" sz="500" b="0" i="0" u="none" strike="noStrike" dirty="0">
                          <a:solidFill>
                            <a:srgbClr val="000000"/>
                          </a:solidFill>
                          <a:latin typeface="宋体"/>
                        </a:rPr>
                        <a:t>工况复测，电动压缩机总成制冷量不应低于试验前测试值的</a:t>
                      </a:r>
                      <a:r>
                        <a:rPr lang="en-US" altLang="zh-CN" sz="500" b="0" i="0" u="none" strike="noStrike" dirty="0">
                          <a:solidFill>
                            <a:srgbClr val="000000"/>
                          </a:solidFill>
                          <a:latin typeface="宋体"/>
                        </a:rPr>
                        <a:t>90%</a:t>
                      </a:r>
                      <a:r>
                        <a:rPr lang="zh-CN" altLang="en-US" sz="500" b="0" i="0" u="none" strike="noStrike" dirty="0">
                          <a:solidFill>
                            <a:srgbClr val="000000"/>
                          </a:solidFill>
                          <a:latin typeface="宋体"/>
                        </a:rPr>
                        <a:t>，能效比不低于试验前测试值的</a:t>
                      </a:r>
                      <a:r>
                        <a:rPr lang="en-US" altLang="zh-CN" sz="500" b="0" i="0" u="none" strike="noStrike" dirty="0">
                          <a:solidFill>
                            <a:srgbClr val="000000"/>
                          </a:solidFill>
                          <a:latin typeface="宋体"/>
                        </a:rPr>
                        <a:t>82%</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6.5.13</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倒出电动压缩机的润滑油后，进行抽真空，然后在电动压缩机内充注</a:t>
                      </a:r>
                      <a:r>
                        <a:rPr lang="en-US" altLang="zh-CN" sz="500" b="0" i="0" u="none" strike="noStrike" dirty="0">
                          <a:solidFill>
                            <a:srgbClr val="000000"/>
                          </a:solidFill>
                          <a:latin typeface="宋体"/>
                        </a:rPr>
                        <a:t>63g±1g</a:t>
                      </a:r>
                      <a:r>
                        <a:rPr lang="zh-CN" altLang="en-US" sz="500" b="0" i="0" u="none" strike="noStrike" dirty="0">
                          <a:solidFill>
                            <a:srgbClr val="000000"/>
                          </a:solidFill>
                          <a:latin typeface="宋体"/>
                        </a:rPr>
                        <a:t>的</a:t>
                      </a:r>
                      <a:r>
                        <a:rPr lang="en-US" altLang="zh-CN" sz="500" b="0" i="0" u="none" strike="noStrike" dirty="0">
                          <a:solidFill>
                            <a:srgbClr val="000000"/>
                          </a:solidFill>
                          <a:latin typeface="宋体"/>
                        </a:rPr>
                        <a:t>HFC-134a</a:t>
                      </a:r>
                      <a:r>
                        <a:rPr lang="zh-CN" altLang="en-US" sz="500" b="0" i="0" u="none" strike="noStrike" dirty="0">
                          <a:solidFill>
                            <a:srgbClr val="000000"/>
                          </a:solidFill>
                          <a:latin typeface="宋体"/>
                        </a:rPr>
                        <a:t>，放入高低温箱中，按</a:t>
                      </a:r>
                      <a:r>
                        <a:rPr lang="en-US" altLang="zh-CN" sz="500" b="0" i="0" u="none" strike="noStrike" dirty="0">
                          <a:solidFill>
                            <a:srgbClr val="000000"/>
                          </a:solidFill>
                          <a:latin typeface="宋体"/>
                        </a:rPr>
                        <a:t>GB/T2423.22-2002</a:t>
                      </a:r>
                      <a:r>
                        <a:rPr lang="zh-CN" altLang="en-US" sz="500" b="0" i="0" u="none" strike="noStrike" dirty="0">
                          <a:solidFill>
                            <a:srgbClr val="000000"/>
                          </a:solidFill>
                          <a:latin typeface="宋体"/>
                        </a:rPr>
                        <a:t>规定的方法进行试验，试验工况如下：</a:t>
                      </a:r>
                      <a:br>
                        <a:rPr lang="zh-CN" altLang="en-US" sz="500" b="0" i="0" u="none" strike="noStrike" dirty="0">
                          <a:solidFill>
                            <a:srgbClr val="000000"/>
                          </a:solidFill>
                          <a:latin typeface="宋体"/>
                        </a:rPr>
                      </a:br>
                      <a:r>
                        <a:rPr lang="zh-CN" altLang="en-US" sz="500" b="0" i="0" u="none" strike="noStrike" dirty="0">
                          <a:solidFill>
                            <a:srgbClr val="000000"/>
                          </a:solidFill>
                          <a:latin typeface="宋体"/>
                        </a:rPr>
                        <a:t>第一步：在</a:t>
                      </a:r>
                      <a:r>
                        <a:rPr lang="en-US" altLang="zh-CN" sz="500" b="0" i="0" u="none" strike="noStrike" dirty="0">
                          <a:solidFill>
                            <a:srgbClr val="000000"/>
                          </a:solidFill>
                          <a:latin typeface="宋体"/>
                        </a:rPr>
                        <a:t>-40℃</a:t>
                      </a:r>
                      <a:r>
                        <a:rPr lang="zh-CN" altLang="en-US" sz="500" b="0" i="0" u="none" strike="noStrike" dirty="0">
                          <a:solidFill>
                            <a:srgbClr val="000000"/>
                          </a:solidFill>
                          <a:latin typeface="宋体"/>
                        </a:rPr>
                        <a:t>低温下放置</a:t>
                      </a:r>
                      <a:r>
                        <a:rPr lang="en-US" altLang="zh-CN" sz="500" b="0" i="0" u="none" strike="noStrike" dirty="0">
                          <a:solidFill>
                            <a:srgbClr val="000000"/>
                          </a:solidFill>
                          <a:latin typeface="宋体"/>
                        </a:rPr>
                        <a:t>72h</a:t>
                      </a:r>
                      <a:r>
                        <a:rPr lang="zh-CN" altLang="en-US" sz="500" b="0" i="0" u="none" strike="noStrike" dirty="0">
                          <a:solidFill>
                            <a:srgbClr val="000000"/>
                          </a:solidFill>
                          <a:latin typeface="宋体"/>
                        </a:rPr>
                        <a:t>；</a:t>
                      </a:r>
                      <a:br>
                        <a:rPr lang="zh-CN" altLang="en-US" sz="500" b="0" i="0" u="none" strike="noStrike" dirty="0">
                          <a:solidFill>
                            <a:srgbClr val="000000"/>
                          </a:solidFill>
                          <a:latin typeface="宋体"/>
                        </a:rPr>
                      </a:br>
                      <a:r>
                        <a:rPr lang="zh-CN" altLang="en-US" sz="500" b="0" i="0" u="none" strike="noStrike" dirty="0">
                          <a:solidFill>
                            <a:srgbClr val="000000"/>
                          </a:solidFill>
                          <a:latin typeface="宋体"/>
                        </a:rPr>
                        <a:t>第二步：在</a:t>
                      </a:r>
                      <a:r>
                        <a:rPr lang="en-US" altLang="zh-CN" sz="500" b="0" i="0" u="none" strike="noStrike" dirty="0">
                          <a:solidFill>
                            <a:srgbClr val="000000"/>
                          </a:solidFill>
                          <a:latin typeface="宋体"/>
                        </a:rPr>
                        <a:t>120℃</a:t>
                      </a:r>
                      <a:r>
                        <a:rPr lang="zh-CN" altLang="en-US" sz="500" b="0" i="0" u="none" strike="noStrike" dirty="0">
                          <a:solidFill>
                            <a:srgbClr val="000000"/>
                          </a:solidFill>
                          <a:latin typeface="宋体"/>
                        </a:rPr>
                        <a:t>高温下放置</a:t>
                      </a:r>
                      <a:r>
                        <a:rPr lang="en-US" altLang="zh-CN" sz="500" b="0" i="0" u="none" strike="noStrike" dirty="0">
                          <a:solidFill>
                            <a:srgbClr val="000000"/>
                          </a:solidFill>
                          <a:latin typeface="宋体"/>
                        </a:rPr>
                        <a:t>24h</a:t>
                      </a:r>
                      <a:r>
                        <a:rPr lang="zh-CN" altLang="en-US" sz="500" b="0" i="0" u="none" strike="noStrike" dirty="0">
                          <a:solidFill>
                            <a:srgbClr val="000000"/>
                          </a:solidFill>
                          <a:latin typeface="宋体"/>
                        </a:rPr>
                        <a:t>后，再在</a:t>
                      </a:r>
                      <a:r>
                        <a:rPr lang="en-US" altLang="zh-CN" sz="500" b="0" i="0" u="none" strike="noStrike" dirty="0">
                          <a:solidFill>
                            <a:srgbClr val="000000"/>
                          </a:solidFill>
                          <a:latin typeface="宋体"/>
                        </a:rPr>
                        <a:t>-40℃</a:t>
                      </a:r>
                      <a:r>
                        <a:rPr lang="zh-CN" altLang="en-US" sz="500" b="0" i="0" u="none" strike="noStrike" dirty="0">
                          <a:solidFill>
                            <a:srgbClr val="000000"/>
                          </a:solidFill>
                          <a:latin typeface="宋体"/>
                        </a:rPr>
                        <a:t>低温下放置</a:t>
                      </a:r>
                      <a:r>
                        <a:rPr lang="en-US" altLang="zh-CN" sz="500" b="0" i="0" u="none" strike="noStrike" dirty="0">
                          <a:solidFill>
                            <a:srgbClr val="000000"/>
                          </a:solidFill>
                          <a:latin typeface="宋体"/>
                        </a:rPr>
                        <a:t>24h</a:t>
                      </a:r>
                      <a:r>
                        <a:rPr lang="zh-CN" altLang="en-US" sz="500" b="0" i="0" u="none" strike="noStrike" dirty="0">
                          <a:solidFill>
                            <a:srgbClr val="000000"/>
                          </a:solidFill>
                          <a:latin typeface="宋体"/>
                        </a:rPr>
                        <a:t>，此为一个循环，共</a:t>
                      </a:r>
                      <a:r>
                        <a:rPr lang="en-US" altLang="zh-CN" sz="500" b="0" i="0" u="none" strike="noStrike" dirty="0">
                          <a:solidFill>
                            <a:srgbClr val="000000"/>
                          </a:solidFill>
                          <a:latin typeface="宋体"/>
                        </a:rPr>
                        <a:t>12</a:t>
                      </a:r>
                      <a:r>
                        <a:rPr lang="zh-CN" altLang="en-US" sz="500" b="0" i="0" u="none" strike="noStrike" dirty="0">
                          <a:solidFill>
                            <a:srgbClr val="000000"/>
                          </a:solidFill>
                          <a:latin typeface="宋体"/>
                        </a:rPr>
                        <a:t>个循环；</a:t>
                      </a:r>
                      <a:br>
                        <a:rPr lang="zh-CN" altLang="en-US" sz="500" b="0" i="0" u="none" strike="noStrike" dirty="0">
                          <a:solidFill>
                            <a:srgbClr val="000000"/>
                          </a:solidFill>
                          <a:latin typeface="宋体"/>
                        </a:rPr>
                      </a:br>
                      <a:r>
                        <a:rPr lang="zh-CN" altLang="en-US" sz="500" b="0" i="0" u="none" strike="noStrike" dirty="0">
                          <a:solidFill>
                            <a:srgbClr val="000000"/>
                          </a:solidFill>
                          <a:latin typeface="宋体"/>
                        </a:rPr>
                        <a:t>第三步：在</a:t>
                      </a:r>
                      <a:r>
                        <a:rPr lang="en-US" altLang="zh-CN" sz="500" b="0" i="0" u="none" strike="noStrike" dirty="0">
                          <a:solidFill>
                            <a:srgbClr val="000000"/>
                          </a:solidFill>
                          <a:latin typeface="宋体"/>
                        </a:rPr>
                        <a:t>120℃</a:t>
                      </a:r>
                      <a:r>
                        <a:rPr lang="zh-CN" altLang="en-US" sz="500" b="0" i="0" u="none" strike="noStrike" dirty="0">
                          <a:solidFill>
                            <a:srgbClr val="000000"/>
                          </a:solidFill>
                          <a:latin typeface="宋体"/>
                        </a:rPr>
                        <a:t>高温下放置</a:t>
                      </a:r>
                      <a:r>
                        <a:rPr lang="en-US" altLang="zh-CN" sz="500" b="0" i="0" u="none" strike="noStrike" dirty="0">
                          <a:solidFill>
                            <a:srgbClr val="000000"/>
                          </a:solidFill>
                          <a:latin typeface="宋体"/>
                        </a:rPr>
                        <a:t>72h</a:t>
                      </a:r>
                      <a:r>
                        <a:rPr lang="zh-CN" altLang="en-US" sz="500" b="0" i="0" u="none" strike="noStrike" dirty="0">
                          <a:solidFill>
                            <a:srgbClr val="000000"/>
                          </a:solidFill>
                          <a:latin typeface="宋体"/>
                        </a:rPr>
                        <a:t>。</a:t>
                      </a:r>
                      <a:br>
                        <a:rPr lang="zh-CN" altLang="en-US" sz="500" b="0" i="0" u="none" strike="noStrike" dirty="0">
                          <a:solidFill>
                            <a:srgbClr val="000000"/>
                          </a:solidFill>
                          <a:latin typeface="宋体"/>
                        </a:rPr>
                      </a:br>
                      <a:r>
                        <a:rPr lang="zh-CN" altLang="en-US" sz="500" b="0" i="0" u="none" strike="noStrike" dirty="0">
                          <a:solidFill>
                            <a:srgbClr val="000000"/>
                          </a:solidFill>
                          <a:latin typeface="宋体"/>
                        </a:rPr>
                        <a:t>试验过程中温度转化时间应小于</a:t>
                      </a:r>
                      <a:r>
                        <a:rPr lang="en-US" altLang="zh-CN" sz="500" b="0" i="0" u="none" strike="noStrike" dirty="0">
                          <a:solidFill>
                            <a:srgbClr val="000000"/>
                          </a:solidFill>
                          <a:latin typeface="宋体"/>
                        </a:rPr>
                        <a:t>2h</a:t>
                      </a:r>
                      <a:r>
                        <a:rPr lang="zh-CN" altLang="en-US" sz="500" b="0" i="0" u="none" strike="noStrike" dirty="0">
                          <a:solidFill>
                            <a:srgbClr val="000000"/>
                          </a:solidFill>
                          <a:latin typeface="宋体"/>
                        </a:rPr>
                        <a:t>，试验循环共计</a:t>
                      </a:r>
                      <a:r>
                        <a:rPr lang="en-US" altLang="zh-CN" sz="500" b="0" i="0" u="none" strike="noStrike" dirty="0">
                          <a:solidFill>
                            <a:srgbClr val="000000"/>
                          </a:solidFill>
                          <a:latin typeface="宋体"/>
                        </a:rPr>
                        <a:t>720h</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33168">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23</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交变湿热</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5.4.14</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6.5.14</a:t>
                      </a:r>
                      <a:r>
                        <a:rPr lang="zh-CN" altLang="en-US" sz="500" b="0" i="0" u="none" strike="noStrike">
                          <a:solidFill>
                            <a:srgbClr val="000000"/>
                          </a:solidFill>
                          <a:latin typeface="宋体"/>
                        </a:rPr>
                        <a:t>方法试验后，电动压缩机符合以下要求：</a:t>
                      </a:r>
                      <a:br>
                        <a:rPr lang="zh-CN" altLang="en-US" sz="500" b="0" i="0" u="none" strike="noStrike">
                          <a:solidFill>
                            <a:srgbClr val="000000"/>
                          </a:solidFill>
                          <a:latin typeface="宋体"/>
                        </a:rPr>
                      </a:br>
                      <a:r>
                        <a:rPr lang="en-US" altLang="zh-CN" sz="500" b="0" i="0" u="none" strike="noStrike">
                          <a:solidFill>
                            <a:srgbClr val="000000"/>
                          </a:solidFill>
                          <a:latin typeface="宋体"/>
                        </a:rPr>
                        <a:t>1.</a:t>
                      </a:r>
                      <a:r>
                        <a:rPr lang="zh-CN" altLang="en-US" sz="500" b="0" i="0" u="none" strike="noStrike">
                          <a:solidFill>
                            <a:srgbClr val="000000"/>
                          </a:solidFill>
                          <a:latin typeface="宋体"/>
                        </a:rPr>
                        <a:t>在交变湿热试验的最后一周期的低温高湿阶段，保持温度为</a:t>
                      </a:r>
                      <a:r>
                        <a:rPr lang="en-US" altLang="zh-CN" sz="500" b="0" i="0" u="none" strike="noStrike">
                          <a:solidFill>
                            <a:srgbClr val="000000"/>
                          </a:solidFill>
                          <a:latin typeface="宋体"/>
                        </a:rPr>
                        <a:t>25℃±3℃</a:t>
                      </a:r>
                      <a:r>
                        <a:rPr lang="zh-CN" altLang="en-US" sz="500" b="0" i="0" u="none" strike="noStrike">
                          <a:solidFill>
                            <a:srgbClr val="000000"/>
                          </a:solidFill>
                          <a:latin typeface="宋体"/>
                        </a:rPr>
                        <a:t>、相对湿度为</a:t>
                      </a:r>
                      <a:r>
                        <a:rPr lang="en-US" altLang="zh-CN" sz="500" b="0" i="0" u="none" strike="noStrike">
                          <a:solidFill>
                            <a:srgbClr val="000000"/>
                          </a:solidFill>
                          <a:latin typeface="宋体"/>
                        </a:rPr>
                        <a:t>95%-98%</a:t>
                      </a:r>
                      <a:r>
                        <a:rPr lang="zh-CN" altLang="en-US" sz="500" b="0" i="0" u="none" strike="noStrike">
                          <a:solidFill>
                            <a:srgbClr val="000000"/>
                          </a:solidFill>
                          <a:latin typeface="宋体"/>
                        </a:rPr>
                        <a:t>的条件</a:t>
                      </a:r>
                      <a:r>
                        <a:rPr lang="en-US" altLang="zh-CN" sz="500" b="0" i="0" u="none" strike="noStrike">
                          <a:solidFill>
                            <a:srgbClr val="000000"/>
                          </a:solidFill>
                          <a:latin typeface="宋体"/>
                        </a:rPr>
                        <a:t>5h</a:t>
                      </a:r>
                      <a:r>
                        <a:rPr lang="zh-CN" altLang="en-US" sz="500" b="0" i="0" u="none" strike="noStrike">
                          <a:solidFill>
                            <a:srgbClr val="000000"/>
                          </a:solidFill>
                          <a:latin typeface="宋体"/>
                        </a:rPr>
                        <a:t>后，在该环境下按</a:t>
                      </a:r>
                      <a:r>
                        <a:rPr lang="en-US" altLang="zh-CN" sz="500" b="0" i="0" u="none" strike="noStrike">
                          <a:solidFill>
                            <a:srgbClr val="000000"/>
                          </a:solidFill>
                          <a:latin typeface="宋体"/>
                        </a:rPr>
                        <a:t>6.5.7</a:t>
                      </a:r>
                      <a:r>
                        <a:rPr lang="zh-CN" altLang="en-US" sz="500" b="0" i="0" u="none" strike="noStrike">
                          <a:solidFill>
                            <a:srgbClr val="000000"/>
                          </a:solidFill>
                          <a:latin typeface="宋体"/>
                        </a:rPr>
                        <a:t>方法试验，电动机定子绕组对外壳的热态绝缘电阻应大于</a:t>
                      </a:r>
                      <a:r>
                        <a:rPr lang="en-US" altLang="zh-CN" sz="500" b="0" i="0" u="none" strike="noStrike">
                          <a:solidFill>
                            <a:srgbClr val="000000"/>
                          </a:solidFill>
                          <a:latin typeface="宋体"/>
                        </a:rPr>
                        <a:t>1MΩ</a:t>
                      </a:r>
                      <a:br>
                        <a:rPr lang="en-US" altLang="zh-CN" sz="500" b="0" i="0" u="none" strike="noStrike">
                          <a:solidFill>
                            <a:srgbClr val="000000"/>
                          </a:solidFill>
                          <a:latin typeface="宋体"/>
                        </a:rPr>
                      </a:br>
                      <a:r>
                        <a:rPr lang="en-US" altLang="zh-CN" sz="500" b="0" i="0" u="none" strike="noStrike">
                          <a:solidFill>
                            <a:srgbClr val="000000"/>
                          </a:solidFill>
                          <a:latin typeface="宋体"/>
                        </a:rPr>
                        <a:t>2.</a:t>
                      </a:r>
                      <a:r>
                        <a:rPr lang="zh-CN" altLang="en-US" sz="500" b="0" i="0" u="none" strike="noStrike">
                          <a:solidFill>
                            <a:srgbClr val="000000"/>
                          </a:solidFill>
                          <a:latin typeface="宋体"/>
                        </a:rPr>
                        <a:t>电动机定子绕组对外壳绝缘电阻试验应符合</a:t>
                      </a:r>
                      <a:r>
                        <a:rPr lang="en-US" altLang="zh-CN" sz="500" b="0" i="0" u="none" strike="noStrike">
                          <a:solidFill>
                            <a:srgbClr val="000000"/>
                          </a:solidFill>
                          <a:latin typeface="宋体"/>
                        </a:rPr>
                        <a:t>5.4.7</a:t>
                      </a:r>
                      <a:r>
                        <a:rPr lang="zh-CN" altLang="en-US" sz="500" b="0" i="0" u="none" strike="noStrike">
                          <a:solidFill>
                            <a:srgbClr val="000000"/>
                          </a:solidFill>
                          <a:latin typeface="宋体"/>
                        </a:rPr>
                        <a:t>规定</a:t>
                      </a:r>
                      <a:br>
                        <a:rPr lang="zh-CN" altLang="en-US" sz="500" b="0" i="0" u="none" strike="noStrike">
                          <a:solidFill>
                            <a:srgbClr val="000000"/>
                          </a:solidFill>
                          <a:latin typeface="宋体"/>
                        </a:rPr>
                      </a:br>
                      <a:r>
                        <a:rPr lang="en-US" altLang="zh-CN" sz="500" b="0" i="0" u="none" strike="noStrike">
                          <a:solidFill>
                            <a:srgbClr val="000000"/>
                          </a:solidFill>
                          <a:latin typeface="宋体"/>
                        </a:rPr>
                        <a:t>3.</a:t>
                      </a:r>
                      <a:r>
                        <a:rPr lang="zh-CN" altLang="en-US" sz="500" b="0" i="0" u="none" strike="noStrike">
                          <a:solidFill>
                            <a:srgbClr val="000000"/>
                          </a:solidFill>
                          <a:latin typeface="宋体"/>
                        </a:rPr>
                        <a:t>耐电压试验符合</a:t>
                      </a:r>
                      <a:r>
                        <a:rPr lang="en-US" altLang="zh-CN" sz="500" b="0" i="0" u="none" strike="noStrike">
                          <a:solidFill>
                            <a:srgbClr val="000000"/>
                          </a:solidFill>
                          <a:latin typeface="宋体"/>
                        </a:rPr>
                        <a:t>5.4.8</a:t>
                      </a:r>
                      <a:r>
                        <a:rPr lang="zh-CN" altLang="en-US" sz="500" b="0" i="0" u="none" strike="noStrike">
                          <a:solidFill>
                            <a:srgbClr val="000000"/>
                          </a:solidFill>
                          <a:latin typeface="宋体"/>
                        </a:rPr>
                        <a:t>规定</a:t>
                      </a:r>
                      <a:br>
                        <a:rPr lang="zh-CN" altLang="en-US" sz="500" b="0" i="0" u="none" strike="noStrike">
                          <a:solidFill>
                            <a:srgbClr val="000000"/>
                          </a:solidFill>
                          <a:latin typeface="宋体"/>
                        </a:rPr>
                      </a:br>
                      <a:r>
                        <a:rPr lang="en-US" altLang="zh-CN" sz="500" b="0" i="0" u="none" strike="noStrike">
                          <a:solidFill>
                            <a:srgbClr val="000000"/>
                          </a:solidFill>
                          <a:latin typeface="宋体"/>
                        </a:rPr>
                        <a:t>4.</a:t>
                      </a:r>
                      <a:r>
                        <a:rPr lang="zh-CN" altLang="en-US" sz="500" b="0" i="0" u="none" strike="noStrike">
                          <a:solidFill>
                            <a:srgbClr val="000000"/>
                          </a:solidFill>
                          <a:latin typeface="宋体"/>
                        </a:rPr>
                        <a:t>电动压缩应能正常工作</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dirty="0">
                          <a:solidFill>
                            <a:srgbClr val="000000"/>
                          </a:solidFill>
                          <a:latin typeface="宋体"/>
                        </a:rPr>
                        <a:t>6.5.14</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放入恒温恒湿箱中，</a:t>
                      </a:r>
                      <a:r>
                        <a:rPr lang="en-US" altLang="zh-CN" sz="500" b="0" i="0" u="none" strike="noStrike" dirty="0">
                          <a:solidFill>
                            <a:srgbClr val="000000"/>
                          </a:solidFill>
                          <a:latin typeface="宋体"/>
                        </a:rPr>
                        <a:t>GB/T2423.34-2005</a:t>
                      </a:r>
                      <a:r>
                        <a:rPr lang="zh-CN" altLang="en-US" sz="500" b="0" i="0" u="none" strike="noStrike" dirty="0">
                          <a:solidFill>
                            <a:srgbClr val="000000"/>
                          </a:solidFill>
                          <a:latin typeface="宋体"/>
                        </a:rPr>
                        <a:t>规定的方法在</a:t>
                      </a:r>
                      <a:r>
                        <a:rPr lang="en-US" altLang="zh-CN" sz="500" b="0" i="0" u="none" strike="noStrike" dirty="0">
                          <a:solidFill>
                            <a:srgbClr val="000000"/>
                          </a:solidFill>
                          <a:latin typeface="宋体"/>
                        </a:rPr>
                        <a:t>-10℃</a:t>
                      </a:r>
                      <a:r>
                        <a:rPr lang="zh-CN" altLang="en-US" sz="500" b="0" i="0" u="none" strike="noStrike" dirty="0">
                          <a:solidFill>
                            <a:srgbClr val="000000"/>
                          </a:solidFill>
                          <a:latin typeface="宋体"/>
                        </a:rPr>
                        <a:t>～</a:t>
                      </a:r>
                      <a:r>
                        <a:rPr lang="en-US" altLang="zh-CN" sz="500" b="0" i="0" u="none" strike="noStrike" dirty="0">
                          <a:solidFill>
                            <a:srgbClr val="000000"/>
                          </a:solidFill>
                          <a:latin typeface="宋体"/>
                        </a:rPr>
                        <a:t>65℃</a:t>
                      </a:r>
                      <a:r>
                        <a:rPr lang="zh-CN" altLang="en-US" sz="500" b="0" i="0" u="none" strike="noStrike" dirty="0">
                          <a:solidFill>
                            <a:srgbClr val="000000"/>
                          </a:solidFill>
                          <a:latin typeface="宋体"/>
                        </a:rPr>
                        <a:t>之间进行</a:t>
                      </a:r>
                      <a:r>
                        <a:rPr lang="en-US" altLang="zh-CN" sz="500" b="0" i="0" u="none" strike="noStrike" dirty="0">
                          <a:solidFill>
                            <a:srgbClr val="000000"/>
                          </a:solidFill>
                          <a:latin typeface="宋体"/>
                        </a:rPr>
                        <a:t>10</a:t>
                      </a:r>
                      <a:r>
                        <a:rPr lang="zh-CN" altLang="en-US" sz="500" b="0" i="0" u="none" strike="noStrike" dirty="0">
                          <a:solidFill>
                            <a:srgbClr val="000000"/>
                          </a:solidFill>
                          <a:latin typeface="宋体"/>
                        </a:rPr>
                        <a:t>个循环的温度</a:t>
                      </a:r>
                      <a:r>
                        <a:rPr lang="en-US" altLang="zh-CN" sz="500" b="0" i="0" u="none" strike="noStrike" dirty="0">
                          <a:solidFill>
                            <a:srgbClr val="000000"/>
                          </a:solidFill>
                          <a:latin typeface="宋体"/>
                        </a:rPr>
                        <a:t>/</a:t>
                      </a:r>
                      <a:r>
                        <a:rPr lang="zh-CN" altLang="en-US" sz="500" b="0" i="0" u="none" strike="noStrike" dirty="0">
                          <a:solidFill>
                            <a:srgbClr val="000000"/>
                          </a:solidFill>
                          <a:latin typeface="宋体"/>
                        </a:rPr>
                        <a:t>湿度组合循环试验，每个循环为</a:t>
                      </a:r>
                      <a:r>
                        <a:rPr lang="en-US" altLang="zh-CN" sz="500" b="0" i="0" u="none" strike="noStrike" dirty="0">
                          <a:solidFill>
                            <a:srgbClr val="000000"/>
                          </a:solidFill>
                          <a:latin typeface="宋体"/>
                        </a:rPr>
                        <a:t>24h</a:t>
                      </a:r>
                      <a:r>
                        <a:rPr lang="zh-CN" altLang="en-US" sz="500" b="0" i="0" u="none" strike="noStrike" dirty="0">
                          <a:solidFill>
                            <a:srgbClr val="000000"/>
                          </a:solidFill>
                          <a:latin typeface="宋体"/>
                        </a:rPr>
                        <a:t>，在每个循环周期中的温度和湿度的变化情况如</a:t>
                      </a:r>
                      <a:r>
                        <a:rPr lang="en-US" altLang="zh-CN" sz="500" b="0" i="0" u="none" strike="noStrike" dirty="0">
                          <a:solidFill>
                            <a:srgbClr val="000000"/>
                          </a:solidFill>
                          <a:latin typeface="宋体"/>
                        </a:rPr>
                        <a:t>GB/T2423.34-2005</a:t>
                      </a:r>
                      <a:r>
                        <a:rPr lang="zh-CN" altLang="en-US" sz="500" b="0" i="0" u="none" strike="noStrike" dirty="0">
                          <a:solidFill>
                            <a:srgbClr val="000000"/>
                          </a:solidFill>
                          <a:latin typeface="宋体"/>
                        </a:rPr>
                        <a:t>中图</a:t>
                      </a:r>
                      <a:r>
                        <a:rPr lang="en-US" altLang="zh-CN" sz="500" b="0" i="0" u="none" strike="noStrike" dirty="0">
                          <a:solidFill>
                            <a:srgbClr val="000000"/>
                          </a:solidFill>
                          <a:latin typeface="宋体"/>
                        </a:rPr>
                        <a:t>2a</a:t>
                      </a:r>
                      <a:r>
                        <a:rPr lang="zh-CN" altLang="en-US" sz="500" b="0" i="0" u="none" strike="noStrike" dirty="0">
                          <a:solidFill>
                            <a:srgbClr val="000000"/>
                          </a:solidFill>
                          <a:latin typeface="宋体"/>
                        </a:rPr>
                        <a:t>）所示。</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68224">
                <a:tc vMerge="1">
                  <a:txBody>
                    <a:bodyPr/>
                    <a:lstStyle/>
                    <a:p>
                      <a:endParaRPr lang="zh-CN" altLang="en-US"/>
                    </a:p>
                  </a:txBody>
                  <a:tcPr/>
                </a:tc>
                <a:tc>
                  <a:txBody>
                    <a:bodyPr/>
                    <a:lstStyle/>
                    <a:p>
                      <a:pPr algn="ctr" fontAlgn="ctr"/>
                      <a:r>
                        <a:rPr lang="en-US" altLang="zh-CN" sz="500" b="0" i="0" u="none" strike="noStrike">
                          <a:solidFill>
                            <a:srgbClr val="000000"/>
                          </a:solidFill>
                          <a:latin typeface="宋体"/>
                        </a:rPr>
                        <a:t>24</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耐腐蚀性</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500" b="0" i="0" u="none" strike="noStrike">
                          <a:solidFill>
                            <a:srgbClr val="000000"/>
                          </a:solidFill>
                          <a:latin typeface="宋体"/>
                        </a:rPr>
                        <a:t>　</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5.4.15</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a:solidFill>
                            <a:srgbClr val="000000"/>
                          </a:solidFill>
                          <a:latin typeface="宋体"/>
                        </a:rPr>
                        <a:t>按</a:t>
                      </a:r>
                      <a:r>
                        <a:rPr lang="en-US" altLang="zh-CN" sz="500" b="0" i="0" u="none" strike="noStrike">
                          <a:solidFill>
                            <a:srgbClr val="000000"/>
                          </a:solidFill>
                          <a:latin typeface="宋体"/>
                        </a:rPr>
                        <a:t>6.5.15</a:t>
                      </a:r>
                      <a:r>
                        <a:rPr lang="zh-CN" altLang="en-US" sz="500" b="0" i="0" u="none" strike="noStrike">
                          <a:solidFill>
                            <a:srgbClr val="000000"/>
                          </a:solidFill>
                          <a:latin typeface="宋体"/>
                        </a:rPr>
                        <a:t>方法试验后，电动压缩机经表面防腐处理的零件表面有不大于</a:t>
                      </a:r>
                      <a:r>
                        <a:rPr lang="en-US" altLang="zh-CN" sz="500" b="0" i="0" u="none" strike="noStrike">
                          <a:solidFill>
                            <a:srgbClr val="000000"/>
                          </a:solidFill>
                          <a:latin typeface="宋体"/>
                        </a:rPr>
                        <a:t>10%</a:t>
                      </a:r>
                      <a:r>
                        <a:rPr lang="zh-CN" altLang="en-US" sz="500" b="0" i="0" u="none" strike="noStrike">
                          <a:solidFill>
                            <a:srgbClr val="000000"/>
                          </a:solidFill>
                          <a:latin typeface="宋体"/>
                        </a:rPr>
                        <a:t>面积的红锈、气泡、蠕变、粘着及功能丧失，电动压缩机应能工作正常</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500" b="0" i="0" u="none" strike="noStrike">
                          <a:solidFill>
                            <a:srgbClr val="000000"/>
                          </a:solidFill>
                          <a:latin typeface="宋体"/>
                        </a:rPr>
                        <a:t>6.5.15</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500" b="0" i="0" u="none" strike="noStrike" dirty="0">
                          <a:solidFill>
                            <a:srgbClr val="000000"/>
                          </a:solidFill>
                          <a:latin typeface="宋体"/>
                        </a:rPr>
                        <a:t>按</a:t>
                      </a:r>
                      <a:r>
                        <a:rPr lang="en-US" altLang="zh-CN" sz="500" b="0" i="0" u="none" strike="noStrike" dirty="0">
                          <a:solidFill>
                            <a:srgbClr val="000000"/>
                          </a:solidFill>
                          <a:latin typeface="宋体"/>
                        </a:rPr>
                        <a:t>GB/T2423.17</a:t>
                      </a:r>
                      <a:r>
                        <a:rPr lang="zh-CN" altLang="en-US" sz="500" b="0" i="0" u="none" strike="noStrike" dirty="0">
                          <a:solidFill>
                            <a:srgbClr val="000000"/>
                          </a:solidFill>
                          <a:latin typeface="宋体"/>
                        </a:rPr>
                        <a:t>规定的方法试验，试验时间为</a:t>
                      </a:r>
                      <a:r>
                        <a:rPr lang="en-US" altLang="zh-CN" sz="500" b="0" i="0" u="none" strike="noStrike" dirty="0">
                          <a:solidFill>
                            <a:srgbClr val="000000"/>
                          </a:solidFill>
                          <a:latin typeface="宋体"/>
                        </a:rPr>
                        <a:t>96h</a:t>
                      </a:r>
                    </a:p>
                  </a:txBody>
                  <a:tcPr marL="3173" marR="3173" marT="31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17</a:t>
            </a:fld>
            <a:endParaRPr lang="zh-CN" altLang="en-US" dirty="0">
              <a:latin typeface="+mn-lt"/>
              <a:ea typeface="+mn-ea"/>
              <a:cs typeface="+mn-cs"/>
            </a:endParaRPr>
          </a:p>
        </p:txBody>
      </p:sp>
      <p:graphicFrame>
        <p:nvGraphicFramePr>
          <p:cNvPr id="5" name="表格 4"/>
          <p:cNvGraphicFramePr>
            <a:graphicFrameLocks noGrp="1"/>
          </p:cNvGraphicFramePr>
          <p:nvPr/>
        </p:nvGraphicFramePr>
        <p:xfrm>
          <a:off x="1084053" y="570962"/>
          <a:ext cx="7507855" cy="4572537"/>
        </p:xfrm>
        <a:graphic>
          <a:graphicData uri="http://schemas.openxmlformats.org/drawingml/2006/table">
            <a:tbl>
              <a:tblPr/>
              <a:tblGrid>
                <a:gridCol w="314213"/>
                <a:gridCol w="332697"/>
                <a:gridCol w="332697"/>
                <a:gridCol w="177438"/>
                <a:gridCol w="177438"/>
                <a:gridCol w="177438"/>
                <a:gridCol w="177438"/>
                <a:gridCol w="487373"/>
                <a:gridCol w="2196381"/>
                <a:gridCol w="391543"/>
                <a:gridCol w="2743199"/>
              </a:tblGrid>
              <a:tr h="294272">
                <a:tc rowSpan="9">
                  <a:txBody>
                    <a:bodyPr/>
                    <a:lstStyle/>
                    <a:p>
                      <a:pPr algn="ctr" fontAlgn="ctr"/>
                      <a:r>
                        <a:rPr lang="zh-CN" altLang="en-US" sz="600" b="0" i="0" u="none" strike="noStrike" dirty="0">
                          <a:solidFill>
                            <a:srgbClr val="000000"/>
                          </a:solidFill>
                          <a:latin typeface="宋体"/>
                        </a:rPr>
                        <a:t>驱动控制器部分</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600" b="0" i="0" u="none" strike="noStrike">
                          <a:solidFill>
                            <a:srgbClr val="000000"/>
                          </a:solidFill>
                          <a:latin typeface="宋体"/>
                        </a:rPr>
                        <a:t>25</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机械强度</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5.5.1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6.6.1</a:t>
                      </a:r>
                      <a:r>
                        <a:rPr lang="zh-CN" altLang="en-US" sz="600" b="0" i="0" u="none" strike="noStrike">
                          <a:solidFill>
                            <a:srgbClr val="000000"/>
                          </a:solidFill>
                          <a:latin typeface="宋体"/>
                        </a:rPr>
                        <a:t>方法试验，驱动控制器壳体能承受</a:t>
                      </a:r>
                      <a:r>
                        <a:rPr lang="en-US" altLang="zh-CN" sz="600" b="0" i="0" u="none" strike="noStrike">
                          <a:solidFill>
                            <a:srgbClr val="000000"/>
                          </a:solidFill>
                          <a:latin typeface="宋体"/>
                        </a:rPr>
                        <a:t>10cm×10cm</a:t>
                      </a:r>
                      <a:r>
                        <a:rPr lang="zh-CN" altLang="en-US" sz="600" b="0" i="0" u="none" strike="noStrike">
                          <a:solidFill>
                            <a:srgbClr val="000000"/>
                          </a:solidFill>
                          <a:latin typeface="宋体"/>
                        </a:rPr>
                        <a:t>的面积上施加</a:t>
                      </a:r>
                      <a:r>
                        <a:rPr lang="en-US" altLang="zh-CN" sz="600" b="0" i="0" u="none" strike="noStrike">
                          <a:solidFill>
                            <a:srgbClr val="000000"/>
                          </a:solidFill>
                          <a:latin typeface="宋体"/>
                        </a:rPr>
                        <a:t>20kg</a:t>
                      </a:r>
                      <a:r>
                        <a:rPr lang="zh-CN" altLang="en-US" sz="600" b="0" i="0" u="none" strike="noStrike">
                          <a:solidFill>
                            <a:srgbClr val="000000"/>
                          </a:solidFill>
                          <a:latin typeface="宋体"/>
                        </a:rPr>
                        <a:t>重力，而不发生明显的塑性变行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6.6.1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将</a:t>
                      </a:r>
                      <a:r>
                        <a:rPr lang="en-US" altLang="zh-CN" sz="600" b="0" i="0" u="none" strike="noStrike">
                          <a:solidFill>
                            <a:srgbClr val="000000"/>
                          </a:solidFill>
                          <a:latin typeface="宋体"/>
                        </a:rPr>
                        <a:t>10cm×10cm</a:t>
                      </a:r>
                      <a:r>
                        <a:rPr lang="zh-CN" altLang="en-US" sz="600" b="0" i="0" u="none" strike="noStrike">
                          <a:solidFill>
                            <a:srgbClr val="000000"/>
                          </a:solidFill>
                          <a:latin typeface="宋体"/>
                        </a:rPr>
                        <a:t>的面积大小、重</a:t>
                      </a:r>
                      <a:r>
                        <a:rPr lang="en-US" altLang="zh-CN" sz="600" b="0" i="0" u="none" strike="noStrike">
                          <a:solidFill>
                            <a:srgbClr val="000000"/>
                          </a:solidFill>
                          <a:latin typeface="宋体"/>
                        </a:rPr>
                        <a:t>20kg</a:t>
                      </a:r>
                      <a:r>
                        <a:rPr lang="zh-CN" altLang="en-US" sz="600" b="0" i="0" u="none" strike="noStrike">
                          <a:solidFill>
                            <a:srgbClr val="000000"/>
                          </a:solidFill>
                          <a:latin typeface="宋体"/>
                        </a:rPr>
                        <a:t>的重物物放置在驱动控制器外壳上，检查驱动控制器外壳的变形情况。</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82885">
                <a:tc vMerge="1">
                  <a:txBody>
                    <a:bodyPr/>
                    <a:lstStyle/>
                    <a:p>
                      <a:endParaRPr lang="zh-CN" altLang="en-US"/>
                    </a:p>
                  </a:txBody>
                  <a:tcPr/>
                </a:tc>
                <a:tc>
                  <a:txBody>
                    <a:bodyPr/>
                    <a:lstStyle/>
                    <a:p>
                      <a:pPr algn="ctr" fontAlgn="ctr"/>
                      <a:r>
                        <a:rPr lang="en-US" altLang="zh-CN" sz="600" b="0" i="0" u="none" strike="noStrike" dirty="0">
                          <a:solidFill>
                            <a:srgbClr val="000000"/>
                          </a:solidFill>
                          <a:latin typeface="宋体"/>
                        </a:rPr>
                        <a:t>26</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驱动控制器绝缘电阻</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5.5.2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6.6.2</a:t>
                      </a:r>
                      <a:r>
                        <a:rPr lang="zh-CN" altLang="en-US" sz="600" b="0" i="0" u="none" strike="noStrike">
                          <a:solidFill>
                            <a:srgbClr val="000000"/>
                          </a:solidFill>
                          <a:latin typeface="宋体"/>
                        </a:rPr>
                        <a:t>方法试验，驱动控制器绝缘电阻大于</a:t>
                      </a:r>
                      <a:r>
                        <a:rPr lang="en-US" altLang="zh-CN" sz="600" b="0" i="0" u="none" strike="noStrike">
                          <a:solidFill>
                            <a:srgbClr val="000000"/>
                          </a:solidFill>
                          <a:latin typeface="宋体"/>
                        </a:rPr>
                        <a:t>20MΩ</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6.6.2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采用兆欧表或绝缘电阻测试仪测量驱动控制器各出现端对外壳的绝缘电阻，试验时驱动控制器内的电源开关和接触器应置于接通状态。</a:t>
                      </a:r>
                      <a:br>
                        <a:rPr lang="zh-CN" altLang="en-US" sz="600" b="0" i="0" u="none" strike="noStrike">
                          <a:solidFill>
                            <a:srgbClr val="000000"/>
                          </a:solidFill>
                          <a:latin typeface="宋体"/>
                        </a:rPr>
                      </a:br>
                      <a:r>
                        <a:rPr lang="zh-CN" altLang="en-US" sz="600" b="0" i="0" u="none" strike="noStrike">
                          <a:solidFill>
                            <a:srgbClr val="000000"/>
                          </a:solidFill>
                          <a:latin typeface="宋体"/>
                        </a:rPr>
                        <a:t>根据被测线路的额定电压选择兆欧表或专用绝缘电阻测量仪的电压值，应符合表</a:t>
                      </a:r>
                      <a:r>
                        <a:rPr lang="en-US" altLang="zh-CN" sz="600" b="0" i="0" u="none" strike="noStrike">
                          <a:solidFill>
                            <a:srgbClr val="000000"/>
                          </a:solidFill>
                          <a:latin typeface="宋体"/>
                        </a:rPr>
                        <a:t>7</a:t>
                      </a:r>
                      <a:r>
                        <a:rPr lang="zh-CN" altLang="en-US" sz="600" b="0" i="0" u="none" strike="noStrike">
                          <a:solidFill>
                            <a:srgbClr val="000000"/>
                          </a:solidFill>
                          <a:latin typeface="宋体"/>
                        </a:rPr>
                        <a:t>规定，绝缘电阻测量后，被测线路应对地充分放电。</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75294">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27</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驱动控制器耐电压</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dirty="0">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5.5.3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6.6.3</a:t>
                      </a:r>
                      <a:r>
                        <a:rPr lang="zh-CN" altLang="en-US" sz="600" b="0" i="0" u="none" strike="noStrike">
                          <a:solidFill>
                            <a:srgbClr val="000000"/>
                          </a:solidFill>
                          <a:latin typeface="宋体"/>
                        </a:rPr>
                        <a:t>方法试验，驱动控制器应无击穿、闪络或飞狐</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6.6.3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GB/T18488.2-2006</a:t>
                      </a:r>
                      <a:r>
                        <a:rPr lang="zh-CN" altLang="en-US" sz="600" b="0" i="0" u="none" strike="noStrike">
                          <a:solidFill>
                            <a:srgbClr val="000000"/>
                          </a:solidFill>
                          <a:latin typeface="宋体"/>
                        </a:rPr>
                        <a:t>中</a:t>
                      </a:r>
                      <a:r>
                        <a:rPr lang="en-US" altLang="zh-CN" sz="600" b="0" i="0" u="none" strike="noStrike">
                          <a:solidFill>
                            <a:srgbClr val="000000"/>
                          </a:solidFill>
                          <a:latin typeface="宋体"/>
                        </a:rPr>
                        <a:t>4.5.5</a:t>
                      </a:r>
                      <a:r>
                        <a:rPr lang="zh-CN" altLang="en-US" sz="600" b="0" i="0" u="none" strike="noStrike">
                          <a:solidFill>
                            <a:srgbClr val="000000"/>
                          </a:solidFill>
                          <a:latin typeface="宋体"/>
                        </a:rPr>
                        <a:t>规定的方法进行耐电压试验，试验时驱动控制器内的电源开关和接触器应置于接通状态。</a:t>
                      </a:r>
                      <a:br>
                        <a:rPr lang="zh-CN" altLang="en-US" sz="600" b="0" i="0" u="none" strike="noStrike">
                          <a:solidFill>
                            <a:srgbClr val="000000"/>
                          </a:solidFill>
                          <a:latin typeface="宋体"/>
                        </a:rPr>
                      </a:br>
                      <a:r>
                        <a:rPr lang="zh-CN" altLang="en-US" sz="600" b="0" i="0" u="none" strike="noStrike">
                          <a:solidFill>
                            <a:srgbClr val="000000"/>
                          </a:solidFill>
                          <a:latin typeface="宋体"/>
                        </a:rPr>
                        <a:t>根据被测线路的额定电压选择符合表</a:t>
                      </a:r>
                      <a:r>
                        <a:rPr lang="en-US" altLang="zh-CN" sz="600" b="0" i="0" u="none" strike="noStrike">
                          <a:solidFill>
                            <a:srgbClr val="000000"/>
                          </a:solidFill>
                          <a:latin typeface="宋体"/>
                        </a:rPr>
                        <a:t>4</a:t>
                      </a:r>
                      <a:r>
                        <a:rPr lang="zh-CN" altLang="en-US" sz="600" b="0" i="0" u="none" strike="noStrike">
                          <a:solidFill>
                            <a:srgbClr val="000000"/>
                          </a:solidFill>
                          <a:latin typeface="宋体"/>
                        </a:rPr>
                        <a:t>规定的试验电压，测量电压的有效值不应超过规定值的</a:t>
                      </a:r>
                      <a:r>
                        <a:rPr lang="en-US" altLang="zh-CN" sz="600" b="0" i="0" u="none" strike="noStrike">
                          <a:solidFill>
                            <a:srgbClr val="000000"/>
                          </a:solidFill>
                          <a:latin typeface="宋体"/>
                        </a:rPr>
                        <a:t>±5%</a:t>
                      </a:r>
                      <a:r>
                        <a:rPr lang="zh-CN" altLang="en-US" sz="600" b="0" i="0" u="none" strike="noStrike">
                          <a:solidFill>
                            <a:srgbClr val="000000"/>
                          </a:solidFill>
                          <a:latin typeface="宋体"/>
                        </a:rPr>
                        <a:t>。</a:t>
                      </a:r>
                      <a:br>
                        <a:rPr lang="zh-CN" altLang="en-US" sz="600" b="0" i="0" u="none" strike="noStrike">
                          <a:solidFill>
                            <a:srgbClr val="000000"/>
                          </a:solidFill>
                          <a:latin typeface="宋体"/>
                        </a:rPr>
                      </a:br>
                      <a:r>
                        <a:rPr lang="zh-CN" altLang="en-US" sz="600" b="0" i="0" u="none" strike="noStrike">
                          <a:solidFill>
                            <a:srgbClr val="000000"/>
                          </a:solidFill>
                          <a:latin typeface="宋体"/>
                        </a:rPr>
                        <a:t>试验不应重复进行，如用户提出要求，允许在安装之后开始运行前进行一次试验，其试验电压值应不会超过表</a:t>
                      </a:r>
                      <a:r>
                        <a:rPr lang="en-US" altLang="zh-CN" sz="600" b="0" i="0" u="none" strike="noStrike">
                          <a:solidFill>
                            <a:srgbClr val="000000"/>
                          </a:solidFill>
                          <a:latin typeface="宋体"/>
                        </a:rPr>
                        <a:t>4</a:t>
                      </a:r>
                      <a:r>
                        <a:rPr lang="zh-CN" altLang="en-US" sz="600" b="0" i="0" u="none" strike="noStrike">
                          <a:solidFill>
                            <a:srgbClr val="000000"/>
                          </a:solidFill>
                          <a:latin typeface="宋体"/>
                        </a:rPr>
                        <a:t>规定电压的</a:t>
                      </a:r>
                      <a:r>
                        <a:rPr lang="en-US" altLang="zh-CN" sz="600" b="0" i="0" u="none" strike="noStrike">
                          <a:solidFill>
                            <a:srgbClr val="000000"/>
                          </a:solidFill>
                          <a:latin typeface="宋体"/>
                        </a:rPr>
                        <a:t>80%</a:t>
                      </a: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6681">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28</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外壳防护等级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5.5.4</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驱动控制器的防护等级为</a:t>
                      </a:r>
                      <a:r>
                        <a:rPr lang="en-US" altLang="zh-CN" sz="600" b="0" i="0" u="none" strike="noStrike">
                          <a:solidFill>
                            <a:srgbClr val="000000"/>
                          </a:solidFill>
                          <a:latin typeface="宋体"/>
                        </a:rPr>
                        <a:t>IP54</a:t>
                      </a:r>
                      <a:r>
                        <a:rPr lang="zh-CN" altLang="en-US" sz="600" b="0" i="0" u="none" strike="noStrike">
                          <a:solidFill>
                            <a:srgbClr val="000000"/>
                          </a:solidFill>
                          <a:latin typeface="宋体"/>
                        </a:rPr>
                        <a:t>，按</a:t>
                      </a:r>
                      <a:r>
                        <a:rPr lang="en-US" altLang="zh-CN" sz="600" b="0" i="0" u="none" strike="noStrike">
                          <a:solidFill>
                            <a:srgbClr val="000000"/>
                          </a:solidFill>
                          <a:latin typeface="宋体"/>
                        </a:rPr>
                        <a:t>6.6.4</a:t>
                      </a:r>
                      <a:r>
                        <a:rPr lang="zh-CN" altLang="en-US" sz="600" b="0" i="0" u="none" strike="noStrike">
                          <a:solidFill>
                            <a:srgbClr val="000000"/>
                          </a:solidFill>
                          <a:latin typeface="宋体"/>
                        </a:rPr>
                        <a:t>方法试验（一体式按</a:t>
                      </a:r>
                      <a:r>
                        <a:rPr lang="en-US" altLang="zh-CN" sz="600" b="0" i="0" u="none" strike="noStrike">
                          <a:solidFill>
                            <a:srgbClr val="000000"/>
                          </a:solidFill>
                          <a:latin typeface="宋体"/>
                        </a:rPr>
                        <a:t>6.5.9</a:t>
                      </a:r>
                      <a:r>
                        <a:rPr lang="zh-CN" altLang="en-US" sz="600" b="0" i="0" u="none" strike="noStrike">
                          <a:solidFill>
                            <a:srgbClr val="000000"/>
                          </a:solidFill>
                          <a:latin typeface="宋体"/>
                        </a:rPr>
                        <a:t>规定的方法和电动压缩机部分一起试验）后，复测驱动控制器的绝缘电阻应符合</a:t>
                      </a:r>
                      <a:r>
                        <a:rPr lang="en-US" altLang="zh-CN" sz="600" b="0" i="0" u="none" strike="noStrike">
                          <a:solidFill>
                            <a:srgbClr val="000000"/>
                          </a:solidFill>
                          <a:latin typeface="宋体"/>
                        </a:rPr>
                        <a:t>5.5.2</a:t>
                      </a:r>
                      <a:r>
                        <a:rPr lang="zh-CN" altLang="en-US" sz="600" b="0" i="0" u="none" strike="noStrike">
                          <a:solidFill>
                            <a:srgbClr val="000000"/>
                          </a:solidFill>
                          <a:latin typeface="宋体"/>
                        </a:rPr>
                        <a:t>的规定，复测驱动控制器的耐电压，应符合</a:t>
                      </a:r>
                      <a:r>
                        <a:rPr lang="en-US" altLang="zh-CN" sz="600" b="0" i="0" u="none" strike="noStrike">
                          <a:solidFill>
                            <a:srgbClr val="000000"/>
                          </a:solidFill>
                          <a:latin typeface="宋体"/>
                        </a:rPr>
                        <a:t>5.5.3</a:t>
                      </a:r>
                      <a:r>
                        <a:rPr lang="zh-CN" altLang="en-US" sz="600" b="0" i="0" u="none" strike="noStrike">
                          <a:solidFill>
                            <a:srgbClr val="000000"/>
                          </a:solidFill>
                          <a:latin typeface="宋体"/>
                        </a:rPr>
                        <a:t>规定</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6.6.4</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将驱动控制器安装于与实际工作状态相似的工装中，按</a:t>
                      </a:r>
                      <a:r>
                        <a:rPr lang="en-US" altLang="zh-CN" sz="600" b="0" i="0" u="none" strike="noStrike">
                          <a:solidFill>
                            <a:srgbClr val="000000"/>
                          </a:solidFill>
                          <a:latin typeface="宋体"/>
                        </a:rPr>
                        <a:t>GB/T4208-1993</a:t>
                      </a:r>
                      <a:r>
                        <a:rPr lang="zh-CN" altLang="en-US" sz="600" b="0" i="0" u="none" strike="noStrike">
                          <a:solidFill>
                            <a:srgbClr val="000000"/>
                          </a:solidFill>
                          <a:latin typeface="宋体"/>
                        </a:rPr>
                        <a:t>中第</a:t>
                      </a:r>
                      <a:r>
                        <a:rPr lang="en-US" altLang="zh-CN" sz="600" b="0" i="0" u="none" strike="noStrike">
                          <a:solidFill>
                            <a:srgbClr val="000000"/>
                          </a:solidFill>
                          <a:latin typeface="宋体"/>
                        </a:rPr>
                        <a:t>11</a:t>
                      </a:r>
                      <a:r>
                        <a:rPr lang="zh-CN" altLang="en-US" sz="600" b="0" i="0" u="none" strike="noStrike">
                          <a:solidFill>
                            <a:srgbClr val="000000"/>
                          </a:solidFill>
                          <a:latin typeface="宋体"/>
                        </a:rPr>
                        <a:t>、</a:t>
                      </a:r>
                      <a:r>
                        <a:rPr lang="en-US" altLang="zh-CN" sz="600" b="0" i="0" u="none" strike="noStrike">
                          <a:solidFill>
                            <a:srgbClr val="000000"/>
                          </a:solidFill>
                          <a:latin typeface="宋体"/>
                        </a:rPr>
                        <a:t>12</a:t>
                      </a:r>
                      <a:r>
                        <a:rPr lang="zh-CN" altLang="en-US" sz="600" b="0" i="0" u="none" strike="noStrike">
                          <a:solidFill>
                            <a:srgbClr val="000000"/>
                          </a:solidFill>
                          <a:latin typeface="宋体"/>
                        </a:rPr>
                        <a:t>和</a:t>
                      </a:r>
                      <a:r>
                        <a:rPr lang="en-US" altLang="zh-CN" sz="600" b="0" i="0" u="none" strike="noStrike">
                          <a:solidFill>
                            <a:srgbClr val="000000"/>
                          </a:solidFill>
                          <a:latin typeface="宋体"/>
                        </a:rPr>
                        <a:t>13</a:t>
                      </a:r>
                      <a:r>
                        <a:rPr lang="zh-CN" altLang="en-US" sz="600" b="0" i="0" u="none" strike="noStrike">
                          <a:solidFill>
                            <a:srgbClr val="000000"/>
                          </a:solidFill>
                          <a:latin typeface="宋体"/>
                        </a:rPr>
                        <a:t>章规定的方法测试。</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82885">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29</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耐振动性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5.5.5</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6.6.5</a:t>
                      </a:r>
                      <a:r>
                        <a:rPr lang="zh-CN" altLang="en-US" sz="600" b="0" i="0" u="none" strike="noStrike" dirty="0">
                          <a:solidFill>
                            <a:srgbClr val="000000"/>
                          </a:solidFill>
                          <a:latin typeface="宋体"/>
                        </a:rPr>
                        <a:t>方法试验，驱动控制器应符合以下要求：</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1.</a:t>
                      </a:r>
                      <a:r>
                        <a:rPr lang="zh-CN" altLang="en-US" sz="600" b="0" i="0" u="none" strike="noStrike" dirty="0">
                          <a:solidFill>
                            <a:srgbClr val="000000"/>
                          </a:solidFill>
                          <a:latin typeface="宋体"/>
                        </a:rPr>
                        <a:t>螺栓不应有松动或损坏，内部接线不得断裂，元器件不应松动</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2.</a:t>
                      </a:r>
                      <a:r>
                        <a:rPr lang="zh-CN" altLang="en-US" sz="600" b="0" i="0" u="none" strike="noStrike" dirty="0">
                          <a:solidFill>
                            <a:srgbClr val="000000"/>
                          </a:solidFill>
                          <a:latin typeface="宋体"/>
                        </a:rPr>
                        <a:t>绝缘电阻应符合</a:t>
                      </a:r>
                      <a:r>
                        <a:rPr lang="en-US" altLang="zh-CN" sz="600" b="0" i="0" u="none" strike="noStrike" dirty="0">
                          <a:solidFill>
                            <a:srgbClr val="000000"/>
                          </a:solidFill>
                          <a:latin typeface="宋体"/>
                        </a:rPr>
                        <a:t>5.5.2</a:t>
                      </a:r>
                      <a:r>
                        <a:rPr lang="zh-CN" altLang="en-US" sz="600" b="0" i="0" u="none" strike="noStrike" dirty="0">
                          <a:solidFill>
                            <a:srgbClr val="000000"/>
                          </a:solidFill>
                          <a:latin typeface="宋体"/>
                        </a:rPr>
                        <a:t>的规定，耐电压应符合</a:t>
                      </a:r>
                      <a:r>
                        <a:rPr lang="en-US" altLang="zh-CN" sz="600" b="0" i="0" u="none" strike="noStrike" dirty="0">
                          <a:solidFill>
                            <a:srgbClr val="000000"/>
                          </a:solidFill>
                          <a:latin typeface="宋体"/>
                        </a:rPr>
                        <a:t>5.5.3</a:t>
                      </a:r>
                      <a:r>
                        <a:rPr lang="zh-CN" altLang="en-US" sz="600" b="0" i="0" u="none" strike="noStrike" dirty="0">
                          <a:solidFill>
                            <a:srgbClr val="000000"/>
                          </a:solidFill>
                          <a:latin typeface="宋体"/>
                        </a:rPr>
                        <a:t>的规定</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3.</a:t>
                      </a:r>
                      <a:r>
                        <a:rPr lang="zh-CN" altLang="en-US" sz="600" b="0" i="0" u="none" strike="noStrike" dirty="0">
                          <a:solidFill>
                            <a:srgbClr val="000000"/>
                          </a:solidFill>
                          <a:latin typeface="宋体"/>
                        </a:rPr>
                        <a:t>驱动控制器能正常工作</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6.6.5</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将驱动控制器安装于与实际工作状态相似工装中，将工装安装在振动试验台上，工装和驱动控制器的重心应在振动的中心轴上，按表工</a:t>
                      </a:r>
                      <a:r>
                        <a:rPr lang="en-US" altLang="zh-CN" sz="600" b="0" i="0" u="none" strike="noStrike">
                          <a:solidFill>
                            <a:srgbClr val="000000"/>
                          </a:solidFill>
                          <a:latin typeface="宋体"/>
                        </a:rPr>
                        <a:t>9</a:t>
                      </a:r>
                      <a:r>
                        <a:rPr lang="zh-CN" altLang="en-US" sz="600" b="0" i="0" u="none" strike="noStrike">
                          <a:solidFill>
                            <a:srgbClr val="000000"/>
                          </a:solidFill>
                          <a:latin typeface="宋体"/>
                        </a:rPr>
                        <a:t>况进行试验。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79090">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30</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热循环</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5.5.6</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6.6.6</a:t>
                      </a:r>
                      <a:r>
                        <a:rPr lang="zh-CN" altLang="en-US" sz="600" b="0" i="0" u="none" strike="noStrike" dirty="0">
                          <a:solidFill>
                            <a:srgbClr val="000000"/>
                          </a:solidFill>
                          <a:latin typeface="宋体"/>
                        </a:rPr>
                        <a:t>方法试验，驱动器应符合以下要求：</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1.</a:t>
                      </a:r>
                      <a:r>
                        <a:rPr lang="zh-CN" altLang="en-US" sz="600" b="0" i="0" u="none" strike="noStrike" dirty="0">
                          <a:solidFill>
                            <a:srgbClr val="000000"/>
                          </a:solidFill>
                          <a:latin typeface="宋体"/>
                        </a:rPr>
                        <a:t>绝缘电阻应符合</a:t>
                      </a:r>
                      <a:r>
                        <a:rPr lang="en-US" altLang="zh-CN" sz="600" b="0" i="0" u="none" strike="noStrike" dirty="0">
                          <a:solidFill>
                            <a:srgbClr val="000000"/>
                          </a:solidFill>
                          <a:latin typeface="宋体"/>
                        </a:rPr>
                        <a:t>5.5.2</a:t>
                      </a:r>
                      <a:r>
                        <a:rPr lang="zh-CN" altLang="en-US" sz="600" b="0" i="0" u="none" strike="noStrike" dirty="0">
                          <a:solidFill>
                            <a:srgbClr val="000000"/>
                          </a:solidFill>
                          <a:latin typeface="宋体"/>
                        </a:rPr>
                        <a:t>的规定</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2.</a:t>
                      </a:r>
                      <a:r>
                        <a:rPr lang="zh-CN" altLang="en-US" sz="600" b="0" i="0" u="none" strike="noStrike" dirty="0">
                          <a:solidFill>
                            <a:srgbClr val="000000"/>
                          </a:solidFill>
                          <a:latin typeface="宋体"/>
                        </a:rPr>
                        <a:t>耐电压应符合</a:t>
                      </a:r>
                      <a:r>
                        <a:rPr lang="en-US" altLang="zh-CN" sz="600" b="0" i="0" u="none" strike="noStrike" dirty="0">
                          <a:solidFill>
                            <a:srgbClr val="000000"/>
                          </a:solidFill>
                          <a:latin typeface="宋体"/>
                        </a:rPr>
                        <a:t>5.5.3</a:t>
                      </a:r>
                      <a:r>
                        <a:rPr lang="zh-CN" altLang="en-US" sz="600" b="0" i="0" u="none" strike="noStrike" dirty="0">
                          <a:solidFill>
                            <a:srgbClr val="000000"/>
                          </a:solidFill>
                          <a:latin typeface="宋体"/>
                        </a:rPr>
                        <a:t>的规定</a:t>
                      </a:r>
                      <a:br>
                        <a:rPr lang="zh-CN" altLang="en-US" sz="600" b="0" i="0" u="none" strike="noStrike" dirty="0">
                          <a:solidFill>
                            <a:srgbClr val="000000"/>
                          </a:solidFill>
                          <a:latin typeface="宋体"/>
                        </a:rPr>
                      </a:br>
                      <a:r>
                        <a:rPr lang="en-US" altLang="zh-CN" sz="600" b="0" i="0" u="none" strike="noStrike" dirty="0">
                          <a:solidFill>
                            <a:srgbClr val="000000"/>
                          </a:solidFill>
                          <a:latin typeface="宋体"/>
                        </a:rPr>
                        <a:t>3.</a:t>
                      </a:r>
                      <a:r>
                        <a:rPr lang="zh-CN" altLang="en-US" sz="600" b="0" i="0" u="none" strike="noStrike" dirty="0">
                          <a:solidFill>
                            <a:srgbClr val="000000"/>
                          </a:solidFill>
                          <a:latin typeface="宋体"/>
                        </a:rPr>
                        <a:t>驱动控制器应能正常工作</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6.6.6</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GB/T2423.22-2002</a:t>
                      </a:r>
                      <a:r>
                        <a:rPr lang="zh-CN" altLang="en-US" sz="600" b="0" i="0" u="none" strike="noStrike">
                          <a:solidFill>
                            <a:srgbClr val="000000"/>
                          </a:solidFill>
                          <a:latin typeface="宋体"/>
                        </a:rPr>
                        <a:t>规定的方法进行试验，试验工况如下：</a:t>
                      </a:r>
                      <a:br>
                        <a:rPr lang="zh-CN" altLang="en-US" sz="600" b="0" i="0" u="none" strike="noStrike">
                          <a:solidFill>
                            <a:srgbClr val="000000"/>
                          </a:solidFill>
                          <a:latin typeface="宋体"/>
                        </a:rPr>
                      </a:br>
                      <a:r>
                        <a:rPr lang="zh-CN" altLang="en-US" sz="600" b="0" i="0" u="none" strike="noStrike">
                          <a:solidFill>
                            <a:srgbClr val="000000"/>
                          </a:solidFill>
                          <a:latin typeface="宋体"/>
                        </a:rPr>
                        <a:t>第一步：在</a:t>
                      </a:r>
                      <a:r>
                        <a:rPr lang="en-US" altLang="zh-CN" sz="600" b="0" i="0" u="none" strike="noStrike">
                          <a:solidFill>
                            <a:srgbClr val="000000"/>
                          </a:solidFill>
                          <a:latin typeface="宋体"/>
                        </a:rPr>
                        <a:t>-40℃</a:t>
                      </a:r>
                      <a:r>
                        <a:rPr lang="zh-CN" altLang="en-US" sz="600" b="0" i="0" u="none" strike="noStrike">
                          <a:solidFill>
                            <a:srgbClr val="000000"/>
                          </a:solidFill>
                          <a:latin typeface="宋体"/>
                        </a:rPr>
                        <a:t>低温下放置</a:t>
                      </a:r>
                      <a:r>
                        <a:rPr lang="en-US" altLang="zh-CN" sz="600" b="0" i="0" u="none" strike="noStrike">
                          <a:solidFill>
                            <a:srgbClr val="000000"/>
                          </a:solidFill>
                          <a:latin typeface="宋体"/>
                        </a:rPr>
                        <a:t>72h</a:t>
                      </a:r>
                      <a:r>
                        <a:rPr lang="zh-CN" altLang="en-US" sz="600" b="0" i="0" u="none" strike="noStrike">
                          <a:solidFill>
                            <a:srgbClr val="000000"/>
                          </a:solidFill>
                          <a:latin typeface="宋体"/>
                        </a:rPr>
                        <a:t>；</a:t>
                      </a:r>
                      <a:br>
                        <a:rPr lang="zh-CN" altLang="en-US" sz="600" b="0" i="0" u="none" strike="noStrike">
                          <a:solidFill>
                            <a:srgbClr val="000000"/>
                          </a:solidFill>
                          <a:latin typeface="宋体"/>
                        </a:rPr>
                      </a:br>
                      <a:r>
                        <a:rPr lang="zh-CN" altLang="en-US" sz="600" b="0" i="0" u="none" strike="noStrike">
                          <a:solidFill>
                            <a:srgbClr val="000000"/>
                          </a:solidFill>
                          <a:latin typeface="宋体"/>
                        </a:rPr>
                        <a:t>第二步：在</a:t>
                      </a:r>
                      <a:r>
                        <a:rPr lang="en-US" altLang="zh-CN" sz="600" b="0" i="0" u="none" strike="noStrike">
                          <a:solidFill>
                            <a:srgbClr val="000000"/>
                          </a:solidFill>
                          <a:latin typeface="宋体"/>
                        </a:rPr>
                        <a:t>120℃</a:t>
                      </a:r>
                      <a:r>
                        <a:rPr lang="zh-CN" altLang="en-US" sz="600" b="0" i="0" u="none" strike="noStrike">
                          <a:solidFill>
                            <a:srgbClr val="000000"/>
                          </a:solidFill>
                          <a:latin typeface="宋体"/>
                        </a:rPr>
                        <a:t>高温下放置</a:t>
                      </a:r>
                      <a:r>
                        <a:rPr lang="en-US" altLang="zh-CN" sz="600" b="0" i="0" u="none" strike="noStrike">
                          <a:solidFill>
                            <a:srgbClr val="000000"/>
                          </a:solidFill>
                          <a:latin typeface="宋体"/>
                        </a:rPr>
                        <a:t>24h</a:t>
                      </a:r>
                      <a:r>
                        <a:rPr lang="zh-CN" altLang="en-US" sz="600" b="0" i="0" u="none" strike="noStrike">
                          <a:solidFill>
                            <a:srgbClr val="000000"/>
                          </a:solidFill>
                          <a:latin typeface="宋体"/>
                        </a:rPr>
                        <a:t>后，再在</a:t>
                      </a:r>
                      <a:r>
                        <a:rPr lang="en-US" altLang="zh-CN" sz="600" b="0" i="0" u="none" strike="noStrike">
                          <a:solidFill>
                            <a:srgbClr val="000000"/>
                          </a:solidFill>
                          <a:latin typeface="宋体"/>
                        </a:rPr>
                        <a:t>-40℃</a:t>
                      </a:r>
                      <a:r>
                        <a:rPr lang="zh-CN" altLang="en-US" sz="600" b="0" i="0" u="none" strike="noStrike">
                          <a:solidFill>
                            <a:srgbClr val="000000"/>
                          </a:solidFill>
                          <a:latin typeface="宋体"/>
                        </a:rPr>
                        <a:t>低温下放置</a:t>
                      </a:r>
                      <a:r>
                        <a:rPr lang="en-US" altLang="zh-CN" sz="600" b="0" i="0" u="none" strike="noStrike">
                          <a:solidFill>
                            <a:srgbClr val="000000"/>
                          </a:solidFill>
                          <a:latin typeface="宋体"/>
                        </a:rPr>
                        <a:t>24h</a:t>
                      </a:r>
                      <a:r>
                        <a:rPr lang="zh-CN" altLang="en-US" sz="600" b="0" i="0" u="none" strike="noStrike">
                          <a:solidFill>
                            <a:srgbClr val="000000"/>
                          </a:solidFill>
                          <a:latin typeface="宋体"/>
                        </a:rPr>
                        <a:t>，此为一个循环，共</a:t>
                      </a:r>
                      <a:r>
                        <a:rPr lang="en-US" altLang="zh-CN" sz="600" b="0" i="0" u="none" strike="noStrike">
                          <a:solidFill>
                            <a:srgbClr val="000000"/>
                          </a:solidFill>
                          <a:latin typeface="宋体"/>
                        </a:rPr>
                        <a:t>12</a:t>
                      </a:r>
                      <a:r>
                        <a:rPr lang="zh-CN" altLang="en-US" sz="600" b="0" i="0" u="none" strike="noStrike">
                          <a:solidFill>
                            <a:srgbClr val="000000"/>
                          </a:solidFill>
                          <a:latin typeface="宋体"/>
                        </a:rPr>
                        <a:t>个循环；</a:t>
                      </a:r>
                      <a:br>
                        <a:rPr lang="zh-CN" altLang="en-US" sz="600" b="0" i="0" u="none" strike="noStrike">
                          <a:solidFill>
                            <a:srgbClr val="000000"/>
                          </a:solidFill>
                          <a:latin typeface="宋体"/>
                        </a:rPr>
                      </a:br>
                      <a:r>
                        <a:rPr lang="zh-CN" altLang="en-US" sz="600" b="0" i="0" u="none" strike="noStrike">
                          <a:solidFill>
                            <a:srgbClr val="000000"/>
                          </a:solidFill>
                          <a:latin typeface="宋体"/>
                        </a:rPr>
                        <a:t>第三步：在</a:t>
                      </a:r>
                      <a:r>
                        <a:rPr lang="en-US" altLang="zh-CN" sz="600" b="0" i="0" u="none" strike="noStrike">
                          <a:solidFill>
                            <a:srgbClr val="000000"/>
                          </a:solidFill>
                          <a:latin typeface="宋体"/>
                        </a:rPr>
                        <a:t>120℃</a:t>
                      </a:r>
                      <a:r>
                        <a:rPr lang="zh-CN" altLang="en-US" sz="600" b="0" i="0" u="none" strike="noStrike">
                          <a:solidFill>
                            <a:srgbClr val="000000"/>
                          </a:solidFill>
                          <a:latin typeface="宋体"/>
                        </a:rPr>
                        <a:t>高温下放置</a:t>
                      </a:r>
                      <a:r>
                        <a:rPr lang="en-US" altLang="zh-CN" sz="600" b="0" i="0" u="none" strike="noStrike">
                          <a:solidFill>
                            <a:srgbClr val="000000"/>
                          </a:solidFill>
                          <a:latin typeface="宋体"/>
                        </a:rPr>
                        <a:t>72h</a:t>
                      </a:r>
                      <a:r>
                        <a:rPr lang="zh-CN" altLang="en-US" sz="600" b="0" i="0" u="none" strike="noStrike">
                          <a:solidFill>
                            <a:srgbClr val="000000"/>
                          </a:solidFill>
                          <a:latin typeface="宋体"/>
                        </a:rPr>
                        <a:t>。</a:t>
                      </a:r>
                      <a:br>
                        <a:rPr lang="zh-CN" altLang="en-US" sz="600" b="0" i="0" u="none" strike="noStrike">
                          <a:solidFill>
                            <a:srgbClr val="000000"/>
                          </a:solidFill>
                          <a:latin typeface="宋体"/>
                        </a:rPr>
                      </a:br>
                      <a:r>
                        <a:rPr lang="zh-CN" altLang="en-US" sz="600" b="0" i="0" u="none" strike="noStrike">
                          <a:solidFill>
                            <a:srgbClr val="000000"/>
                          </a:solidFill>
                          <a:latin typeface="宋体"/>
                        </a:rPr>
                        <a:t>试验过程中温度转化时间应小于</a:t>
                      </a:r>
                      <a:r>
                        <a:rPr lang="en-US" altLang="zh-CN" sz="600" b="0" i="0" u="none" strike="noStrike">
                          <a:solidFill>
                            <a:srgbClr val="000000"/>
                          </a:solidFill>
                          <a:latin typeface="宋体"/>
                        </a:rPr>
                        <a:t>2h</a:t>
                      </a:r>
                      <a:r>
                        <a:rPr lang="zh-CN" altLang="en-US" sz="600" b="0" i="0" u="none" strike="noStrike">
                          <a:solidFill>
                            <a:srgbClr val="000000"/>
                          </a:solidFill>
                          <a:latin typeface="宋体"/>
                        </a:rPr>
                        <a:t>，试验循环共计</a:t>
                      </a:r>
                      <a:r>
                        <a:rPr lang="en-US" altLang="zh-CN" sz="600" b="0" i="0" u="none" strike="noStrike">
                          <a:solidFill>
                            <a:srgbClr val="000000"/>
                          </a:solidFill>
                          <a:latin typeface="宋体"/>
                        </a:rPr>
                        <a:t>720h</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90477">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31</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交变湿热</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5.5.7</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6.6.7</a:t>
                      </a:r>
                      <a:r>
                        <a:rPr lang="zh-CN" altLang="en-US" sz="600" b="0" i="0" u="none" strike="noStrike">
                          <a:solidFill>
                            <a:srgbClr val="000000"/>
                          </a:solidFill>
                          <a:latin typeface="宋体"/>
                        </a:rPr>
                        <a:t>方法试验，驱动器应符合以下要求：</a:t>
                      </a:r>
                      <a:br>
                        <a:rPr lang="zh-CN" altLang="en-US" sz="600" b="0" i="0" u="none" strike="noStrike">
                          <a:solidFill>
                            <a:srgbClr val="000000"/>
                          </a:solidFill>
                          <a:latin typeface="宋体"/>
                        </a:rPr>
                      </a:br>
                      <a:r>
                        <a:rPr lang="en-US" altLang="zh-CN" sz="600" b="0" i="0" u="none" strike="noStrike">
                          <a:solidFill>
                            <a:srgbClr val="000000"/>
                          </a:solidFill>
                          <a:latin typeface="宋体"/>
                        </a:rPr>
                        <a:t>1.</a:t>
                      </a:r>
                      <a:r>
                        <a:rPr lang="zh-CN" altLang="en-US" sz="600" b="0" i="0" u="none" strike="noStrike">
                          <a:solidFill>
                            <a:srgbClr val="000000"/>
                          </a:solidFill>
                          <a:latin typeface="宋体"/>
                        </a:rPr>
                        <a:t>绝缘电阻符合</a:t>
                      </a:r>
                      <a:r>
                        <a:rPr lang="en-US" altLang="zh-CN" sz="600" b="0" i="0" u="none" strike="noStrike">
                          <a:solidFill>
                            <a:srgbClr val="000000"/>
                          </a:solidFill>
                          <a:latin typeface="宋体"/>
                        </a:rPr>
                        <a:t>5.5.2</a:t>
                      </a:r>
                      <a:r>
                        <a:rPr lang="zh-CN" altLang="en-US" sz="600" b="0" i="0" u="none" strike="noStrike">
                          <a:solidFill>
                            <a:srgbClr val="000000"/>
                          </a:solidFill>
                          <a:latin typeface="宋体"/>
                        </a:rPr>
                        <a:t>的规定</a:t>
                      </a:r>
                      <a:br>
                        <a:rPr lang="zh-CN" altLang="en-US" sz="600" b="0" i="0" u="none" strike="noStrike">
                          <a:solidFill>
                            <a:srgbClr val="000000"/>
                          </a:solidFill>
                          <a:latin typeface="宋体"/>
                        </a:rPr>
                      </a:br>
                      <a:r>
                        <a:rPr lang="en-US" altLang="zh-CN" sz="600" b="0" i="0" u="none" strike="noStrike">
                          <a:solidFill>
                            <a:srgbClr val="000000"/>
                          </a:solidFill>
                          <a:latin typeface="宋体"/>
                        </a:rPr>
                        <a:t>2.</a:t>
                      </a:r>
                      <a:r>
                        <a:rPr lang="zh-CN" altLang="en-US" sz="600" b="0" i="0" u="none" strike="noStrike">
                          <a:solidFill>
                            <a:srgbClr val="000000"/>
                          </a:solidFill>
                          <a:latin typeface="宋体"/>
                        </a:rPr>
                        <a:t>耐电压符合</a:t>
                      </a:r>
                      <a:r>
                        <a:rPr lang="en-US" altLang="zh-CN" sz="600" b="0" i="0" u="none" strike="noStrike">
                          <a:solidFill>
                            <a:srgbClr val="000000"/>
                          </a:solidFill>
                          <a:latin typeface="宋体"/>
                        </a:rPr>
                        <a:t>5.5.3</a:t>
                      </a:r>
                      <a:r>
                        <a:rPr lang="zh-CN" altLang="en-US" sz="600" b="0" i="0" u="none" strike="noStrike">
                          <a:solidFill>
                            <a:srgbClr val="000000"/>
                          </a:solidFill>
                          <a:latin typeface="宋体"/>
                        </a:rPr>
                        <a:t>的规定</a:t>
                      </a:r>
                      <a:br>
                        <a:rPr lang="zh-CN" altLang="en-US" sz="600" b="0" i="0" u="none" strike="noStrike">
                          <a:solidFill>
                            <a:srgbClr val="000000"/>
                          </a:solidFill>
                          <a:latin typeface="宋体"/>
                        </a:rPr>
                      </a:br>
                      <a:r>
                        <a:rPr lang="en-US" altLang="zh-CN" sz="600" b="0" i="0" u="none" strike="noStrike">
                          <a:solidFill>
                            <a:srgbClr val="000000"/>
                          </a:solidFill>
                          <a:latin typeface="宋体"/>
                        </a:rPr>
                        <a:t>3.</a:t>
                      </a:r>
                      <a:r>
                        <a:rPr lang="zh-CN" altLang="en-US" sz="600" b="0" i="0" u="none" strike="noStrike">
                          <a:solidFill>
                            <a:srgbClr val="000000"/>
                          </a:solidFill>
                          <a:latin typeface="宋体"/>
                        </a:rPr>
                        <a:t>驱动控制器应能正常工作</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6.6.7</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放入恒温恒湿箱中，</a:t>
                      </a:r>
                      <a:r>
                        <a:rPr lang="en-US" altLang="zh-CN" sz="600" b="0" i="0" u="none" strike="noStrike">
                          <a:solidFill>
                            <a:srgbClr val="000000"/>
                          </a:solidFill>
                          <a:latin typeface="宋体"/>
                        </a:rPr>
                        <a:t>GB/T2423.34-2005</a:t>
                      </a:r>
                      <a:r>
                        <a:rPr lang="zh-CN" altLang="en-US" sz="600" b="0" i="0" u="none" strike="noStrike">
                          <a:solidFill>
                            <a:srgbClr val="000000"/>
                          </a:solidFill>
                          <a:latin typeface="宋体"/>
                        </a:rPr>
                        <a:t>规定的方法在</a:t>
                      </a:r>
                      <a:r>
                        <a:rPr lang="en-US" altLang="zh-CN" sz="600" b="0" i="0" u="none" strike="noStrike">
                          <a:solidFill>
                            <a:srgbClr val="000000"/>
                          </a:solidFill>
                          <a:latin typeface="宋体"/>
                        </a:rPr>
                        <a:t>-10℃</a:t>
                      </a:r>
                      <a:r>
                        <a:rPr lang="zh-CN" altLang="en-US" sz="600" b="0" i="0" u="none" strike="noStrike">
                          <a:solidFill>
                            <a:srgbClr val="000000"/>
                          </a:solidFill>
                          <a:latin typeface="宋体"/>
                        </a:rPr>
                        <a:t>～</a:t>
                      </a:r>
                      <a:r>
                        <a:rPr lang="en-US" altLang="zh-CN" sz="600" b="0" i="0" u="none" strike="noStrike">
                          <a:solidFill>
                            <a:srgbClr val="000000"/>
                          </a:solidFill>
                          <a:latin typeface="宋体"/>
                        </a:rPr>
                        <a:t>65℃</a:t>
                      </a:r>
                      <a:r>
                        <a:rPr lang="zh-CN" altLang="en-US" sz="600" b="0" i="0" u="none" strike="noStrike">
                          <a:solidFill>
                            <a:srgbClr val="000000"/>
                          </a:solidFill>
                          <a:latin typeface="宋体"/>
                        </a:rPr>
                        <a:t>之间进行</a:t>
                      </a:r>
                      <a:r>
                        <a:rPr lang="en-US" altLang="zh-CN" sz="600" b="0" i="0" u="none" strike="noStrike">
                          <a:solidFill>
                            <a:srgbClr val="000000"/>
                          </a:solidFill>
                          <a:latin typeface="宋体"/>
                        </a:rPr>
                        <a:t>10</a:t>
                      </a:r>
                      <a:r>
                        <a:rPr lang="zh-CN" altLang="en-US" sz="600" b="0" i="0" u="none" strike="noStrike">
                          <a:solidFill>
                            <a:srgbClr val="000000"/>
                          </a:solidFill>
                          <a:latin typeface="宋体"/>
                        </a:rPr>
                        <a:t>个循环的温度</a:t>
                      </a:r>
                      <a:r>
                        <a:rPr lang="en-US" altLang="zh-CN" sz="600" b="0" i="0" u="none" strike="noStrike">
                          <a:solidFill>
                            <a:srgbClr val="000000"/>
                          </a:solidFill>
                          <a:latin typeface="宋体"/>
                        </a:rPr>
                        <a:t>/</a:t>
                      </a:r>
                      <a:r>
                        <a:rPr lang="zh-CN" altLang="en-US" sz="600" b="0" i="0" u="none" strike="noStrike">
                          <a:solidFill>
                            <a:srgbClr val="000000"/>
                          </a:solidFill>
                          <a:latin typeface="宋体"/>
                        </a:rPr>
                        <a:t>湿度组合循环试验，每个循环为</a:t>
                      </a:r>
                      <a:r>
                        <a:rPr lang="en-US" altLang="zh-CN" sz="600" b="0" i="0" u="none" strike="noStrike">
                          <a:solidFill>
                            <a:srgbClr val="000000"/>
                          </a:solidFill>
                          <a:latin typeface="宋体"/>
                        </a:rPr>
                        <a:t>24h</a:t>
                      </a:r>
                      <a:r>
                        <a:rPr lang="zh-CN" altLang="en-US" sz="600" b="0" i="0" u="none" strike="noStrike">
                          <a:solidFill>
                            <a:srgbClr val="000000"/>
                          </a:solidFill>
                          <a:latin typeface="宋体"/>
                        </a:rPr>
                        <a:t>，在每个循环周期中的温度和湿度的变化情况如</a:t>
                      </a:r>
                      <a:r>
                        <a:rPr lang="en-US" altLang="zh-CN" sz="600" b="0" i="0" u="none" strike="noStrike">
                          <a:solidFill>
                            <a:srgbClr val="000000"/>
                          </a:solidFill>
                          <a:latin typeface="宋体"/>
                        </a:rPr>
                        <a:t>GB/T2423.34-2005</a:t>
                      </a:r>
                      <a:r>
                        <a:rPr lang="zh-CN" altLang="en-US" sz="600" b="0" i="0" u="none" strike="noStrike">
                          <a:solidFill>
                            <a:srgbClr val="000000"/>
                          </a:solidFill>
                          <a:latin typeface="宋体"/>
                        </a:rPr>
                        <a:t>中图</a:t>
                      </a:r>
                      <a:r>
                        <a:rPr lang="en-US" altLang="zh-CN" sz="600" b="0" i="0" u="none" strike="noStrike">
                          <a:solidFill>
                            <a:srgbClr val="000000"/>
                          </a:solidFill>
                          <a:latin typeface="宋体"/>
                        </a:rPr>
                        <a:t>2a</a:t>
                      </a:r>
                      <a:r>
                        <a:rPr lang="zh-CN" altLang="en-US" sz="600" b="0" i="0" u="none" strike="noStrike">
                          <a:solidFill>
                            <a:srgbClr val="000000"/>
                          </a:solidFill>
                          <a:latin typeface="宋体"/>
                        </a:rPr>
                        <a:t>）所示。</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6681">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32</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耐腐蚀性</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5.5.8</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6.6.8</a:t>
                      </a:r>
                      <a:r>
                        <a:rPr lang="zh-CN" altLang="en-US" sz="600" b="0" i="0" u="none" strike="noStrike">
                          <a:solidFill>
                            <a:srgbClr val="000000"/>
                          </a:solidFill>
                          <a:latin typeface="宋体"/>
                        </a:rPr>
                        <a:t>方法试验（一体式按</a:t>
                      </a:r>
                      <a:r>
                        <a:rPr lang="en-US" altLang="zh-CN" sz="600" b="0" i="0" u="none" strike="noStrike">
                          <a:solidFill>
                            <a:srgbClr val="000000"/>
                          </a:solidFill>
                          <a:latin typeface="宋体"/>
                        </a:rPr>
                        <a:t>6.5.14</a:t>
                      </a:r>
                      <a:r>
                        <a:rPr lang="zh-CN" altLang="en-US" sz="600" b="0" i="0" u="none" strike="noStrike">
                          <a:solidFill>
                            <a:srgbClr val="000000"/>
                          </a:solidFill>
                          <a:latin typeface="宋体"/>
                        </a:rPr>
                        <a:t>规定的犯法和电动压缩机部分一起试验）后，驱动控制器表面防腐处理的零件表面不应有大于</a:t>
                      </a:r>
                      <a:r>
                        <a:rPr lang="en-US" altLang="zh-CN" sz="600" b="0" i="0" u="none" strike="noStrike">
                          <a:solidFill>
                            <a:srgbClr val="000000"/>
                          </a:solidFill>
                          <a:latin typeface="宋体"/>
                        </a:rPr>
                        <a:t>10%</a:t>
                      </a:r>
                      <a:r>
                        <a:rPr lang="zh-CN" altLang="en-US" sz="600" b="0" i="0" u="none" strike="noStrike">
                          <a:solidFill>
                            <a:srgbClr val="000000"/>
                          </a:solidFill>
                          <a:latin typeface="宋体"/>
                        </a:rPr>
                        <a:t>面积的红锈、气泡、蠕变、粘着及功能丧失，驱动控制器应能正常工作</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dirty="0">
                          <a:solidFill>
                            <a:srgbClr val="000000"/>
                          </a:solidFill>
                          <a:latin typeface="宋体"/>
                        </a:rPr>
                        <a:t>6.6.8</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GB/T2423.17</a:t>
                      </a:r>
                      <a:r>
                        <a:rPr lang="zh-CN" altLang="en-US" sz="600" b="0" i="0" u="none" strike="noStrike" dirty="0">
                          <a:solidFill>
                            <a:srgbClr val="000000"/>
                          </a:solidFill>
                          <a:latin typeface="宋体"/>
                        </a:rPr>
                        <a:t>规定的方法试验，试验时间为</a:t>
                      </a:r>
                      <a:r>
                        <a:rPr lang="en-US" altLang="zh-CN" sz="600" b="0" i="0" u="none" strike="noStrike" dirty="0">
                          <a:solidFill>
                            <a:srgbClr val="000000"/>
                          </a:solidFill>
                          <a:latin typeface="宋体"/>
                        </a:rPr>
                        <a:t>96h</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94272">
                <a:tc vMerge="1">
                  <a:txBody>
                    <a:bodyPr/>
                    <a:lstStyle/>
                    <a:p>
                      <a:endParaRPr lang="zh-CN" altLang="en-US"/>
                    </a:p>
                  </a:txBody>
                  <a:tcPr/>
                </a:tc>
                <a:tc>
                  <a:txBody>
                    <a:bodyPr/>
                    <a:lstStyle/>
                    <a:p>
                      <a:pPr algn="ctr" fontAlgn="ctr"/>
                      <a:r>
                        <a:rPr lang="en-US" altLang="zh-CN" sz="600" b="0" i="0" u="none" strike="noStrike">
                          <a:solidFill>
                            <a:srgbClr val="000000"/>
                          </a:solidFill>
                          <a:latin typeface="宋体"/>
                        </a:rPr>
                        <a:t>33</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温升试验</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600" b="0" i="0" u="none" strike="noStrike">
                          <a:solidFill>
                            <a:srgbClr val="000000"/>
                          </a:solidFill>
                          <a:latin typeface="宋体"/>
                        </a:rPr>
                        <a:t>　</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5.5.9</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a:solidFill>
                            <a:srgbClr val="000000"/>
                          </a:solidFill>
                          <a:latin typeface="宋体"/>
                        </a:rPr>
                        <a:t>按</a:t>
                      </a:r>
                      <a:r>
                        <a:rPr lang="en-US" altLang="zh-CN" sz="600" b="0" i="0" u="none" strike="noStrike">
                          <a:solidFill>
                            <a:srgbClr val="000000"/>
                          </a:solidFill>
                          <a:latin typeface="宋体"/>
                        </a:rPr>
                        <a:t>6.6.9</a:t>
                      </a:r>
                      <a:r>
                        <a:rPr lang="zh-CN" altLang="en-US" sz="600" b="0" i="0" u="none" strike="noStrike">
                          <a:solidFill>
                            <a:srgbClr val="000000"/>
                          </a:solidFill>
                          <a:latin typeface="宋体"/>
                        </a:rPr>
                        <a:t>方法试验，符合</a:t>
                      </a:r>
                      <a:r>
                        <a:rPr lang="en-US" sz="600" b="0" i="0" u="none" strike="noStrike">
                          <a:solidFill>
                            <a:srgbClr val="000000"/>
                          </a:solidFill>
                          <a:latin typeface="宋体"/>
                        </a:rPr>
                        <a:t>GB/T18488.1-2006</a:t>
                      </a:r>
                      <a:r>
                        <a:rPr lang="zh-CN" altLang="en-US" sz="600" b="0" i="0" u="none" strike="noStrike">
                          <a:solidFill>
                            <a:srgbClr val="000000"/>
                          </a:solidFill>
                          <a:latin typeface="宋体"/>
                        </a:rPr>
                        <a:t>中</a:t>
                      </a:r>
                      <a:r>
                        <a:rPr lang="en-US" altLang="zh-CN" sz="600" b="0" i="0" u="none" strike="noStrike">
                          <a:solidFill>
                            <a:srgbClr val="000000"/>
                          </a:solidFill>
                          <a:latin typeface="宋体"/>
                        </a:rPr>
                        <a:t>5.4</a:t>
                      </a:r>
                      <a:r>
                        <a:rPr lang="zh-CN" altLang="en-US" sz="600" b="0" i="0" u="none" strike="noStrike">
                          <a:solidFill>
                            <a:srgbClr val="000000"/>
                          </a:solidFill>
                          <a:latin typeface="宋体"/>
                        </a:rPr>
                        <a:t>规定的限值要求</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600" b="0" i="0" u="none" strike="noStrike">
                          <a:solidFill>
                            <a:srgbClr val="000000"/>
                          </a:solidFill>
                          <a:latin typeface="宋体"/>
                        </a:rPr>
                        <a:t>6.6.9</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600" b="0" i="0" u="none" strike="noStrike" dirty="0">
                          <a:solidFill>
                            <a:srgbClr val="000000"/>
                          </a:solidFill>
                          <a:latin typeface="宋体"/>
                        </a:rPr>
                        <a:t>按</a:t>
                      </a:r>
                      <a:r>
                        <a:rPr lang="en-US" altLang="zh-CN" sz="600" b="0" i="0" u="none" strike="noStrike" dirty="0">
                          <a:solidFill>
                            <a:srgbClr val="000000"/>
                          </a:solidFill>
                          <a:latin typeface="宋体"/>
                        </a:rPr>
                        <a:t>GB/T22068-2008</a:t>
                      </a:r>
                      <a:r>
                        <a:rPr lang="zh-CN" altLang="en-US" sz="600" b="0" i="0" u="none" strike="noStrike" dirty="0">
                          <a:solidFill>
                            <a:srgbClr val="000000"/>
                          </a:solidFill>
                          <a:latin typeface="宋体"/>
                        </a:rPr>
                        <a:t>中</a:t>
                      </a:r>
                      <a:r>
                        <a:rPr lang="en-US" altLang="zh-CN" sz="600" b="0" i="0" u="none" strike="noStrike" dirty="0">
                          <a:solidFill>
                            <a:srgbClr val="000000"/>
                          </a:solidFill>
                          <a:latin typeface="宋体"/>
                        </a:rPr>
                        <a:t>6.3</a:t>
                      </a:r>
                      <a:r>
                        <a:rPr lang="zh-CN" altLang="en-US" sz="600" b="0" i="0" u="none" strike="noStrike" dirty="0">
                          <a:solidFill>
                            <a:srgbClr val="000000"/>
                          </a:solidFill>
                          <a:latin typeface="宋体"/>
                        </a:rPr>
                        <a:t>规定的方法进行性能试验过程中，同时按</a:t>
                      </a:r>
                      <a:r>
                        <a:rPr lang="en-US" altLang="zh-CN" sz="600" b="0" i="0" u="none" strike="noStrike" dirty="0">
                          <a:solidFill>
                            <a:srgbClr val="000000"/>
                          </a:solidFill>
                          <a:latin typeface="宋体"/>
                        </a:rPr>
                        <a:t>QC/T413-2002</a:t>
                      </a:r>
                      <a:r>
                        <a:rPr lang="zh-CN" altLang="en-US" sz="600" b="0" i="0" u="none" strike="noStrike" dirty="0">
                          <a:solidFill>
                            <a:srgbClr val="000000"/>
                          </a:solidFill>
                          <a:latin typeface="宋体"/>
                        </a:rPr>
                        <a:t>中</a:t>
                      </a:r>
                      <a:r>
                        <a:rPr lang="en-US" altLang="zh-CN" sz="600" b="0" i="0" u="none" strike="noStrike" dirty="0">
                          <a:solidFill>
                            <a:srgbClr val="000000"/>
                          </a:solidFill>
                          <a:latin typeface="宋体"/>
                        </a:rPr>
                        <a:t>4.3</a:t>
                      </a:r>
                      <a:r>
                        <a:rPr lang="zh-CN" altLang="en-US" sz="600" b="0" i="0" u="none" strike="noStrike" dirty="0">
                          <a:solidFill>
                            <a:srgbClr val="000000"/>
                          </a:solidFill>
                          <a:latin typeface="宋体"/>
                        </a:rPr>
                        <a:t>规定的方法测试驱动控制器各部位的温升</a:t>
                      </a:r>
                    </a:p>
                  </a:txBody>
                  <a:tcPr marL="3586" marR="3586" marT="358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18</a:t>
            </a:fld>
            <a:endParaRPr lang="zh-CN" altLang="en-US" dirty="0">
              <a:latin typeface="+mn-lt"/>
              <a:ea typeface="+mn-ea"/>
              <a:cs typeface="+mn-cs"/>
            </a:endParaRPr>
          </a:p>
        </p:txBody>
      </p:sp>
      <p:sp>
        <p:nvSpPr>
          <p:cNvPr id="4" name="内容占位符 3"/>
          <p:cNvSpPr>
            <a:spLocks noGrp="1"/>
          </p:cNvSpPr>
          <p:nvPr>
            <p:ph idx="1"/>
          </p:nvPr>
        </p:nvSpPr>
        <p:spPr>
          <a:xfrm>
            <a:off x="1387793" y="581026"/>
            <a:ext cx="7332345" cy="4405042"/>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电动压缩机的基本性能</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2400" dirty="0" smtClean="0">
                <a:latin typeface="楷体" panose="02010609060101010101" charset="-122"/>
                <a:ea typeface="楷体" panose="02010609060101010101" charset="-122"/>
              </a:rPr>
              <a:t>基本性能：制冷量（</a:t>
            </a:r>
            <a:r>
              <a:rPr lang="en-US" altLang="zh-CN" sz="2400" dirty="0" smtClean="0">
                <a:latin typeface="楷体" panose="02010609060101010101" charset="-122"/>
                <a:ea typeface="楷体" panose="02010609060101010101" charset="-122"/>
              </a:rPr>
              <a:t>W）、</a:t>
            </a:r>
            <a:r>
              <a:rPr lang="zh-CN" altLang="en-US" sz="2400" dirty="0" smtClean="0">
                <a:latin typeface="楷体" panose="02010609060101010101" charset="-122"/>
                <a:ea typeface="楷体" panose="02010609060101010101" charset="-122"/>
              </a:rPr>
              <a:t>电功耗（</a:t>
            </a:r>
            <a:r>
              <a:rPr lang="en-US" altLang="zh-CN" sz="2400" dirty="0" smtClean="0">
                <a:latin typeface="楷体" panose="02010609060101010101" charset="-122"/>
                <a:ea typeface="楷体" panose="02010609060101010101" charset="-122"/>
              </a:rPr>
              <a:t>W）、COP（W/W）</a:t>
            </a:r>
          </a:p>
          <a:p>
            <a:pPr marL="0">
              <a:lnSpc>
                <a:spcPct val="150000"/>
              </a:lnSpc>
              <a:spcBef>
                <a:spcPts val="0"/>
              </a:spcBef>
              <a:buNone/>
            </a:pPr>
            <a:r>
              <a:rPr lang="zh-CN" altLang="en-US" sz="2400" dirty="0" smtClean="0">
                <a:latin typeface="楷体" panose="02010609060101010101" charset="-122"/>
                <a:ea typeface="楷体" panose="02010609060101010101" charset="-122"/>
              </a:rPr>
              <a:t>压缩机性能对比必须相同工况下进行</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2400" dirty="0" smtClean="0">
                <a:latin typeface="楷体" panose="02010609060101010101" charset="-122"/>
                <a:ea typeface="楷体" panose="02010609060101010101" charset="-122"/>
              </a:rPr>
              <a:t>相同工况：排气压力</a:t>
            </a:r>
            <a:r>
              <a:rPr lang="en-US" altLang="zh-CN" sz="2400" dirty="0" smtClean="0">
                <a:latin typeface="楷体" panose="02010609060101010101" charset="-122"/>
                <a:ea typeface="楷体" panose="02010609060101010101" charset="-122"/>
              </a:rPr>
              <a:t>/</a:t>
            </a:r>
            <a:r>
              <a:rPr lang="zh-CN" altLang="en-US" sz="2400" dirty="0" smtClean="0">
                <a:latin typeface="楷体" panose="02010609060101010101" charset="-122"/>
                <a:ea typeface="楷体" panose="02010609060101010101" charset="-122"/>
              </a:rPr>
              <a:t>冷凝温度</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2400" dirty="0" smtClean="0">
                <a:latin typeface="楷体" panose="02010609060101010101" charset="-122"/>
                <a:ea typeface="楷体" panose="02010609060101010101" charset="-122"/>
              </a:rPr>
              <a:t>          </a:t>
            </a:r>
            <a:r>
              <a:rPr lang="zh-CN" altLang="en-US" sz="2400" dirty="0" smtClean="0">
                <a:latin typeface="楷体" panose="02010609060101010101" charset="-122"/>
                <a:ea typeface="楷体" panose="02010609060101010101" charset="-122"/>
              </a:rPr>
              <a:t>吸气压力</a:t>
            </a:r>
            <a:r>
              <a:rPr lang="en-US" altLang="zh-CN" sz="2400" dirty="0" smtClean="0">
                <a:latin typeface="楷体" panose="02010609060101010101" charset="-122"/>
                <a:ea typeface="楷体" panose="02010609060101010101" charset="-122"/>
              </a:rPr>
              <a:t>/</a:t>
            </a:r>
            <a:r>
              <a:rPr lang="zh-CN" altLang="en-US" sz="2400" dirty="0" smtClean="0">
                <a:latin typeface="楷体" panose="02010609060101010101" charset="-122"/>
                <a:ea typeface="楷体" panose="02010609060101010101" charset="-122"/>
              </a:rPr>
              <a:t>蒸发温度</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2400" dirty="0" smtClean="0">
                <a:latin typeface="楷体" panose="02010609060101010101" charset="-122"/>
                <a:ea typeface="楷体" panose="02010609060101010101" charset="-122"/>
              </a:rPr>
              <a:t>          </a:t>
            </a:r>
            <a:r>
              <a:rPr lang="zh-CN" altLang="en-US" sz="2400" dirty="0" smtClean="0">
                <a:latin typeface="楷体" panose="02010609060101010101" charset="-122"/>
                <a:ea typeface="楷体" panose="02010609060101010101" charset="-122"/>
              </a:rPr>
              <a:t>过冷度</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2400" dirty="0" smtClean="0">
                <a:latin typeface="楷体" panose="02010609060101010101" charset="-122"/>
                <a:ea typeface="楷体" panose="02010609060101010101" charset="-122"/>
              </a:rPr>
              <a:t>          </a:t>
            </a:r>
            <a:r>
              <a:rPr lang="zh-CN" altLang="en-US" sz="2400" dirty="0" smtClean="0">
                <a:latin typeface="楷体" panose="02010609060101010101" charset="-122"/>
                <a:ea typeface="楷体" panose="02010609060101010101" charset="-122"/>
              </a:rPr>
              <a:t>过热度</a:t>
            </a:r>
            <a:endParaRPr lang="en-US" altLang="zh-CN" sz="2400" dirty="0" smtClean="0">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19</a:t>
            </a:fld>
            <a:endParaRPr lang="zh-CN" altLang="en-US" dirty="0">
              <a:latin typeface="+mn-lt"/>
              <a:ea typeface="+mn-ea"/>
              <a:cs typeface="+mn-cs"/>
            </a:endParaRPr>
          </a:p>
        </p:txBody>
      </p:sp>
      <p:graphicFrame>
        <p:nvGraphicFramePr>
          <p:cNvPr id="7" name="表格 6"/>
          <p:cNvGraphicFramePr>
            <a:graphicFrameLocks noGrp="1"/>
          </p:cNvGraphicFramePr>
          <p:nvPr/>
        </p:nvGraphicFramePr>
        <p:xfrm>
          <a:off x="1026544" y="565466"/>
          <a:ext cx="7548113" cy="3965473"/>
        </p:xfrm>
        <a:graphic>
          <a:graphicData uri="http://schemas.openxmlformats.org/drawingml/2006/table">
            <a:tbl>
              <a:tblPr/>
              <a:tblGrid>
                <a:gridCol w="739827"/>
                <a:gridCol w="435808"/>
                <a:gridCol w="910354"/>
                <a:gridCol w="910354"/>
                <a:gridCol w="910354"/>
                <a:gridCol w="910354"/>
                <a:gridCol w="910354"/>
                <a:gridCol w="910354"/>
                <a:gridCol w="910354"/>
              </a:tblGrid>
              <a:tr h="596393">
                <a:tc>
                  <a:txBody>
                    <a:bodyPr/>
                    <a:lstStyle/>
                    <a:p>
                      <a:pPr algn="ctr" fontAlgn="ctr"/>
                      <a:r>
                        <a:rPr lang="zh-CN" altLang="en-US" sz="1000" b="0" i="0" u="none" strike="noStrike" dirty="0">
                          <a:solidFill>
                            <a:srgbClr val="000000"/>
                          </a:solidFill>
                          <a:latin typeface="宋体"/>
                        </a:rPr>
                        <a:t>试验条件</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R134a</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dirty="0">
                          <a:solidFill>
                            <a:srgbClr val="000000"/>
                          </a:solidFill>
                          <a:latin typeface="宋体"/>
                        </a:rPr>
                        <a:t>行标</a:t>
                      </a:r>
                      <a:br>
                        <a:rPr lang="zh-CN" altLang="en-US" sz="1000" b="0" i="0" u="none" strike="noStrike" dirty="0">
                          <a:solidFill>
                            <a:srgbClr val="000000"/>
                          </a:solidFill>
                          <a:latin typeface="宋体"/>
                        </a:rPr>
                      </a:br>
                      <a:r>
                        <a:rPr lang="zh-CN" altLang="en-US" sz="1000" b="0" i="0" u="none" strike="noStrike" dirty="0">
                          <a:solidFill>
                            <a:srgbClr val="000000"/>
                          </a:solidFill>
                          <a:latin typeface="宋体"/>
                        </a:rPr>
                        <a:t>名义制冷</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smtClean="0">
                          <a:solidFill>
                            <a:srgbClr val="000000"/>
                          </a:solidFill>
                          <a:latin typeface="宋体"/>
                        </a:rPr>
                        <a:t>GB22068-2008</a:t>
                      </a:r>
                      <a:r>
                        <a:rPr lang="en-US" sz="1000" b="0" i="0" u="none" strike="noStrike" dirty="0">
                          <a:solidFill>
                            <a:srgbClr val="000000"/>
                          </a:solidFill>
                          <a:latin typeface="宋体"/>
                        </a:rPr>
                        <a:t/>
                      </a:r>
                      <a:br>
                        <a:rPr lang="en-US" sz="1000" b="0" i="0" u="none" strike="noStrike" dirty="0">
                          <a:solidFill>
                            <a:srgbClr val="000000"/>
                          </a:solidFill>
                          <a:latin typeface="宋体"/>
                        </a:rPr>
                      </a:br>
                      <a:r>
                        <a:rPr lang="zh-CN" altLang="en-US" sz="1000" b="0" i="0" u="none" strike="noStrike" dirty="0">
                          <a:solidFill>
                            <a:srgbClr val="000000"/>
                          </a:solidFill>
                          <a:latin typeface="宋体"/>
                        </a:rPr>
                        <a:t>名义制冷</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smtClean="0">
                          <a:solidFill>
                            <a:srgbClr val="000000"/>
                          </a:solidFill>
                          <a:latin typeface="宋体"/>
                        </a:rPr>
                        <a:t>GB22068-2018</a:t>
                      </a:r>
                      <a:br>
                        <a:rPr lang="en-US" altLang="zh-CN" sz="1000" b="0" i="0" u="none" strike="noStrike" dirty="0" smtClean="0">
                          <a:solidFill>
                            <a:srgbClr val="000000"/>
                          </a:solidFill>
                          <a:latin typeface="宋体"/>
                        </a:rPr>
                      </a:br>
                      <a:r>
                        <a:rPr lang="zh-CN" altLang="en-US" sz="1000" b="0" i="0" u="none" strike="noStrike" dirty="0" smtClean="0">
                          <a:solidFill>
                            <a:srgbClr val="000000"/>
                          </a:solidFill>
                          <a:latin typeface="宋体"/>
                        </a:rPr>
                        <a:t>名义</a:t>
                      </a:r>
                      <a:r>
                        <a:rPr lang="zh-CN" altLang="en-US" sz="1000" b="0" i="0" u="none" strike="noStrike" dirty="0">
                          <a:solidFill>
                            <a:srgbClr val="000000"/>
                          </a:solidFill>
                          <a:latin typeface="宋体"/>
                        </a:rPr>
                        <a:t>制冷</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雷诺</a:t>
                      </a:r>
                      <a:r>
                        <a:rPr lang="en-US" altLang="zh-CN" sz="1000" b="0" i="0" u="none" strike="noStrike">
                          <a:solidFill>
                            <a:srgbClr val="000000"/>
                          </a:solidFill>
                          <a:latin typeface="宋体"/>
                        </a:rPr>
                        <a:t>RQF</a:t>
                      </a:r>
                      <a:br>
                        <a:rPr lang="en-US" altLang="zh-CN" sz="1000" b="0" i="0" u="none" strike="noStrike">
                          <a:solidFill>
                            <a:srgbClr val="000000"/>
                          </a:solidFill>
                          <a:latin typeface="宋体"/>
                        </a:rPr>
                      </a:br>
                      <a:r>
                        <a:rPr lang="zh-CN" altLang="en-US" sz="1000" b="0" i="0" u="none" strike="noStrike">
                          <a:solidFill>
                            <a:srgbClr val="000000"/>
                          </a:solidFill>
                          <a:latin typeface="宋体"/>
                        </a:rPr>
                        <a:t>高温名义制冷</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dirty="0" smtClean="0">
                          <a:solidFill>
                            <a:srgbClr val="000000"/>
                          </a:solidFill>
                          <a:latin typeface="宋体"/>
                        </a:rPr>
                        <a:t>广东鼎立</a:t>
                      </a:r>
                      <a:r>
                        <a:rPr lang="zh-CN" altLang="en-US" sz="1000" b="0" i="0" u="none" strike="noStrike" dirty="0">
                          <a:solidFill>
                            <a:srgbClr val="000000"/>
                          </a:solidFill>
                          <a:latin typeface="宋体"/>
                        </a:rPr>
                        <a:t/>
                      </a:r>
                      <a:br>
                        <a:rPr lang="zh-CN" altLang="en-US" sz="1000" b="0" i="0" u="none" strike="noStrike" dirty="0">
                          <a:solidFill>
                            <a:srgbClr val="000000"/>
                          </a:solidFill>
                          <a:latin typeface="宋体"/>
                        </a:rPr>
                      </a:br>
                      <a:r>
                        <a:rPr lang="zh-CN" altLang="en-US" sz="1000" b="0" i="0" u="none" strike="noStrike" dirty="0">
                          <a:solidFill>
                            <a:srgbClr val="000000"/>
                          </a:solidFill>
                          <a:latin typeface="宋体"/>
                        </a:rPr>
                        <a:t>名义制冷</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smtClean="0">
                          <a:solidFill>
                            <a:srgbClr val="000000"/>
                          </a:solidFill>
                          <a:latin typeface="宋体"/>
                        </a:rPr>
                        <a:t>GB22068-2018</a:t>
                      </a:r>
                      <a:r>
                        <a:rPr lang="en-US" sz="1000" b="0" i="0" u="none" strike="noStrike" dirty="0">
                          <a:solidFill>
                            <a:srgbClr val="000000"/>
                          </a:solidFill>
                          <a:latin typeface="宋体"/>
                        </a:rPr>
                        <a:t/>
                      </a:r>
                      <a:br>
                        <a:rPr lang="en-US" sz="1000" b="0" i="0" u="none" strike="noStrike" dirty="0">
                          <a:solidFill>
                            <a:srgbClr val="000000"/>
                          </a:solidFill>
                          <a:latin typeface="宋体"/>
                        </a:rPr>
                      </a:br>
                      <a:r>
                        <a:rPr lang="zh-CN" altLang="en-US" sz="1000" b="0" i="0" u="none" strike="noStrike" dirty="0">
                          <a:solidFill>
                            <a:srgbClr val="000000"/>
                          </a:solidFill>
                          <a:latin typeface="宋体"/>
                        </a:rPr>
                        <a:t>名义制热</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smtClean="0">
                          <a:solidFill>
                            <a:srgbClr val="000000"/>
                          </a:solidFill>
                          <a:latin typeface="宋体"/>
                        </a:rPr>
                        <a:t>GB22068-2018</a:t>
                      </a:r>
                      <a:br>
                        <a:rPr lang="en-US" altLang="zh-CN" sz="1000" b="0" i="0" u="none" strike="noStrike" dirty="0" smtClean="0">
                          <a:solidFill>
                            <a:srgbClr val="000000"/>
                          </a:solidFill>
                          <a:latin typeface="宋体"/>
                        </a:rPr>
                      </a:br>
                      <a:r>
                        <a:rPr lang="zh-CN" altLang="en-US" sz="1000" b="0" i="0" u="none" strike="noStrike" dirty="0" smtClean="0">
                          <a:solidFill>
                            <a:srgbClr val="000000"/>
                          </a:solidFill>
                          <a:latin typeface="宋体"/>
                        </a:rPr>
                        <a:t>低温</a:t>
                      </a:r>
                      <a:r>
                        <a:rPr lang="zh-CN" altLang="en-US" sz="1000" b="0" i="0" u="none" strike="noStrike" dirty="0">
                          <a:solidFill>
                            <a:srgbClr val="000000"/>
                          </a:solidFill>
                          <a:latin typeface="宋体"/>
                        </a:rPr>
                        <a:t>名义制热</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V</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额定电压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额定电压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额定电压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额定电压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额定电压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额定电压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额定电压</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压缩机转速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latin typeface="宋体"/>
                        </a:rPr>
                        <a:t>r/min</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设计转速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设计转速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设计转速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设计转速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设计转速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设计转速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设计转速</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蒸发压力</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MPa(A)</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0.3</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0.296</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0.375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0.4</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0.38</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0.282</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0.164</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蒸发温度</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0.7</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0.3</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7</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9</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7.4</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-15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冷凝压力</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MPa</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1.8</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1.49</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2.1</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1.47</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1.1</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0.89</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冷凝温度</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55.3</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62.9</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69.7</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54.5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43</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35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过热度</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K</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11.1</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过冷度</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K</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8</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8.3</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8</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8</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环境温度</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65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smtClean="0">
                          <a:solidFill>
                            <a:srgbClr val="000000"/>
                          </a:solidFill>
                          <a:latin typeface="宋体"/>
                        </a:rPr>
                        <a:t>65</a:t>
                      </a:r>
                      <a:r>
                        <a:rPr lang="zh-CN" altLang="en-US" sz="1000" b="0" i="0" u="none" strike="noStrike" dirty="0">
                          <a:solidFill>
                            <a:srgbClr val="000000"/>
                          </a:solidFill>
                          <a:latin typeface="宋体"/>
                        </a:rPr>
                        <a:t>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65</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-10</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dirty="0">
                          <a:solidFill>
                            <a:srgbClr val="000000"/>
                          </a:solidFill>
                          <a:latin typeface="宋体"/>
                        </a:rPr>
                        <a:t>能效比</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W/W</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513715" rtl="0" eaLnBrk="1" fontAlgn="ctr" latinLnBrk="0" hangingPunct="1">
                        <a:lnSpc>
                          <a:spcPct val="100000"/>
                        </a:lnSpc>
                        <a:spcBef>
                          <a:spcPts val="0"/>
                        </a:spcBef>
                        <a:spcAft>
                          <a:spcPts val="0"/>
                        </a:spcAft>
                        <a:buClrTx/>
                        <a:buSzTx/>
                        <a:buFontTx/>
                        <a:buNone/>
                        <a:tabLst/>
                        <a:defRPr/>
                      </a:pPr>
                      <a:r>
                        <a:rPr lang="zh-CN" altLang="en-US" sz="1000" b="0" i="0" u="none" strike="noStrike" dirty="0" smtClean="0">
                          <a:solidFill>
                            <a:srgbClr val="000000"/>
                          </a:solidFill>
                          <a:latin typeface="宋体"/>
                        </a:rPr>
                        <a:t>≥</a:t>
                      </a:r>
                      <a:r>
                        <a:rPr lang="en-US" altLang="zh-CN" sz="1000" b="0" i="0" u="none" strike="noStrike" dirty="0" smtClean="0">
                          <a:solidFill>
                            <a:srgbClr val="000000"/>
                          </a:solidFill>
                          <a:latin typeface="宋体"/>
                        </a:rPr>
                        <a:t>2.0</a:t>
                      </a:r>
                      <a:endParaRPr lang="zh-CN" altLang="en-US" sz="1000" b="0" i="0" u="none" strike="noStrike" dirty="0">
                        <a:solidFill>
                          <a:srgbClr val="000000"/>
                        </a:solidFill>
                        <a:latin typeface="宋体"/>
                      </a:endParaRP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dirty="0">
                          <a:solidFill>
                            <a:srgbClr val="000000"/>
                          </a:solidFill>
                          <a:latin typeface="宋体"/>
                        </a:rPr>
                        <a:t>≥</a:t>
                      </a:r>
                      <a:r>
                        <a:rPr lang="en-US" altLang="zh-CN" sz="1000" b="0" i="0" u="none" strike="noStrike" dirty="0">
                          <a:solidFill>
                            <a:srgbClr val="000000"/>
                          </a:solidFill>
                          <a:latin typeface="宋体"/>
                        </a:rPr>
                        <a:t>1.4</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a:t>
                      </a:r>
                      <a:r>
                        <a:rPr lang="en-US" altLang="zh-CN" sz="1000" b="0" i="0" u="none" strike="noStrike">
                          <a:solidFill>
                            <a:srgbClr val="000000"/>
                          </a:solidFill>
                          <a:latin typeface="宋体"/>
                        </a:rPr>
                        <a:t>2.2</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latin typeface="宋体"/>
                        </a:rPr>
                        <a:t>≥</a:t>
                      </a:r>
                      <a:r>
                        <a:rPr lang="en-US" altLang="zh-CN" sz="1000" b="0" i="0" u="none" strike="noStrike">
                          <a:solidFill>
                            <a:srgbClr val="000000"/>
                          </a:solidFill>
                          <a:latin typeface="宋体"/>
                        </a:rPr>
                        <a:t>1.83</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000" b="0" i="0" u="none" strike="noStrike" dirty="0">
                        <a:solidFill>
                          <a:srgbClr val="000000"/>
                        </a:solidFill>
                        <a:latin typeface="宋体"/>
                      </a:endParaRP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dirty="0">
                          <a:solidFill>
                            <a:srgbClr val="000000"/>
                          </a:solidFill>
                          <a:latin typeface="宋体"/>
                        </a:rPr>
                        <a:t>≥</a:t>
                      </a:r>
                      <a:r>
                        <a:rPr lang="en-US" altLang="zh-CN" sz="1000" b="0" i="0" u="none" strike="noStrike" dirty="0">
                          <a:solidFill>
                            <a:srgbClr val="000000"/>
                          </a:solidFill>
                          <a:latin typeface="宋体"/>
                        </a:rPr>
                        <a:t>2.7</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ctr" defTabSz="513715" rtl="0" eaLnBrk="1" fontAlgn="ctr" latinLnBrk="0" hangingPunct="1">
                        <a:lnSpc>
                          <a:spcPct val="100000"/>
                        </a:lnSpc>
                        <a:spcBef>
                          <a:spcPts val="0"/>
                        </a:spcBef>
                        <a:spcAft>
                          <a:spcPts val="0"/>
                        </a:spcAft>
                        <a:buClrTx/>
                        <a:buSzTx/>
                        <a:buFontTx/>
                        <a:buNone/>
                        <a:tabLst/>
                        <a:defRPr/>
                      </a:pPr>
                      <a:r>
                        <a:rPr lang="zh-CN" altLang="en-US" sz="1000" b="0" i="0" u="none" strike="noStrike" dirty="0" smtClean="0">
                          <a:solidFill>
                            <a:srgbClr val="000000"/>
                          </a:solidFill>
                          <a:latin typeface="宋体"/>
                        </a:rPr>
                        <a:t>≥</a:t>
                      </a:r>
                      <a:r>
                        <a:rPr lang="en-US" altLang="zh-CN" sz="1000" b="0" i="0" u="none" strike="noStrike" dirty="0" smtClean="0">
                          <a:solidFill>
                            <a:srgbClr val="000000"/>
                          </a:solidFill>
                          <a:latin typeface="宋体"/>
                        </a:rPr>
                        <a:t>2.5</a:t>
                      </a:r>
                      <a:r>
                        <a:rPr lang="zh-CN" altLang="en-US" sz="1000" b="0" i="0" u="none" strike="noStrike" dirty="0">
                          <a:solidFill>
                            <a:srgbClr val="000000"/>
                          </a:solidFill>
                          <a:latin typeface="宋体"/>
                        </a:rPr>
                        <a:t>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06280">
                <a:tc>
                  <a:txBody>
                    <a:bodyPr/>
                    <a:lstStyle/>
                    <a:p>
                      <a:pPr algn="ctr" fontAlgn="ctr"/>
                      <a:r>
                        <a:rPr lang="zh-CN" altLang="en-US" sz="1000" b="0" i="0" u="none" strike="noStrike">
                          <a:solidFill>
                            <a:srgbClr val="000000"/>
                          </a:solidFill>
                          <a:latin typeface="宋体"/>
                        </a:rPr>
                        <a:t>压比</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latin typeface="宋体"/>
                        </a:rPr>
                        <a:t>P/P</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5.000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6.081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3.973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5.250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a:solidFill>
                            <a:srgbClr val="000000"/>
                          </a:solidFill>
                          <a:latin typeface="宋体"/>
                        </a:rPr>
                        <a:t>3.868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3.901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0" i="0" u="none" strike="noStrike" dirty="0">
                          <a:solidFill>
                            <a:srgbClr val="000000"/>
                          </a:solidFill>
                          <a:latin typeface="宋体"/>
                        </a:rPr>
                        <a:t>5.427 </a:t>
                      </a:r>
                    </a:p>
                  </a:txBody>
                  <a:tcPr marL="5945" marR="5945" marT="59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spcBef>
                <a:spcPts val="0"/>
              </a:spcBef>
              <a:buNone/>
            </a:pPr>
            <a:r>
              <a:rPr lang="zh-CN" altLang="en-US" sz="1600" dirty="0" smtClean="0">
                <a:latin typeface="楷体" panose="02010609060101010101" charset="-122"/>
                <a:ea typeface="楷体" panose="02010609060101010101" charset="-122"/>
              </a:rPr>
              <a:t>以</a:t>
            </a:r>
            <a:r>
              <a:rPr lang="en-US" altLang="zh-CN" sz="1600" dirty="0" smtClean="0">
                <a:latin typeface="楷体" panose="02010609060101010101" charset="-122"/>
                <a:ea typeface="楷体" panose="02010609060101010101" charset="-122"/>
              </a:rPr>
              <a:t>BET27B</a:t>
            </a:r>
            <a:r>
              <a:rPr lang="zh-CN" altLang="en-US" sz="1600" dirty="0" smtClean="0">
                <a:latin typeface="楷体" panose="02010609060101010101" charset="-122"/>
                <a:ea typeface="楷体" panose="02010609060101010101" charset="-122"/>
              </a:rPr>
              <a:t>压缩机为例，</a:t>
            </a:r>
            <a:r>
              <a:rPr lang="en-US" altLang="zh-CN" sz="1600" dirty="0" smtClean="0">
                <a:latin typeface="楷体" panose="02010609060101010101" charset="-122"/>
                <a:ea typeface="楷体" panose="02010609060101010101" charset="-122"/>
              </a:rPr>
              <a:t>6000rpm</a:t>
            </a:r>
            <a:r>
              <a:rPr lang="zh-CN" altLang="en-US" sz="1600" dirty="0" smtClean="0">
                <a:latin typeface="楷体" panose="02010609060101010101" charset="-122"/>
                <a:ea typeface="楷体" panose="02010609060101010101" charset="-122"/>
              </a:rPr>
              <a:t>测试</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20</a:t>
            </a:fld>
            <a:endParaRPr lang="zh-CN" altLang="en-US" dirty="0">
              <a:latin typeface="+mn-lt"/>
              <a:ea typeface="+mn-ea"/>
              <a:cs typeface="+mn-cs"/>
            </a:endParaRPr>
          </a:p>
        </p:txBody>
      </p:sp>
      <p:graphicFrame>
        <p:nvGraphicFramePr>
          <p:cNvPr id="5" name="表格 4"/>
          <p:cNvGraphicFramePr>
            <a:graphicFrameLocks noGrp="1"/>
          </p:cNvGraphicFramePr>
          <p:nvPr/>
        </p:nvGraphicFramePr>
        <p:xfrm>
          <a:off x="1281742" y="889120"/>
          <a:ext cx="7267570" cy="1656080"/>
        </p:xfrm>
        <a:graphic>
          <a:graphicData uri="http://schemas.openxmlformats.org/drawingml/2006/table">
            <a:tbl>
              <a:tblPr firstRow="1" bandRow="1">
                <a:tableStyleId>{5C22544A-7EE6-4342-B048-85BDC9FD1C3A}</a:tableStyleId>
              </a:tblPr>
              <a:tblGrid>
                <a:gridCol w="1320048"/>
                <a:gridCol w="849646"/>
                <a:gridCol w="849646"/>
                <a:gridCol w="849646"/>
                <a:gridCol w="849646"/>
                <a:gridCol w="849646"/>
                <a:gridCol w="849646"/>
                <a:gridCol w="849646"/>
              </a:tblGrid>
              <a:tr h="370840">
                <a:tc>
                  <a:txBody>
                    <a:bodyPr/>
                    <a:lstStyle/>
                    <a:p>
                      <a:pPr algn="ctr"/>
                      <a:r>
                        <a:rPr lang="zh-CN" altLang="en-US" sz="1200" dirty="0" smtClean="0">
                          <a:solidFill>
                            <a:srgbClr val="0070C0"/>
                          </a:solidFill>
                        </a:rPr>
                        <a:t>测试工况</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smtClean="0">
                          <a:solidFill>
                            <a:srgbClr val="0070C0"/>
                          </a:solidFill>
                        </a:rPr>
                        <a:t>排气压力</a:t>
                      </a:r>
                      <a:endParaRPr lang="en-US" altLang="zh-CN" sz="1200" dirty="0" smtClean="0">
                        <a:solidFill>
                          <a:srgbClr val="0070C0"/>
                        </a:solidFill>
                      </a:endParaRPr>
                    </a:p>
                    <a:p>
                      <a:pPr algn="ctr"/>
                      <a:r>
                        <a:rPr lang="en-US" altLang="zh-CN" sz="1200" dirty="0" smtClean="0">
                          <a:solidFill>
                            <a:srgbClr val="0070C0"/>
                          </a:solidFill>
                        </a:rPr>
                        <a:t>bar(A)</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smtClean="0">
                          <a:solidFill>
                            <a:srgbClr val="0070C0"/>
                          </a:solidFill>
                        </a:rPr>
                        <a:t>吸气压力</a:t>
                      </a:r>
                      <a:endParaRPr lang="en-US" altLang="zh-CN" sz="1200" dirty="0" smtClean="0">
                        <a:solidFill>
                          <a:srgbClr val="0070C0"/>
                        </a:solidFill>
                      </a:endParaRPr>
                    </a:p>
                    <a:p>
                      <a:pPr algn="ctr"/>
                      <a:r>
                        <a:rPr lang="en-US" altLang="zh-CN" sz="1200" dirty="0" smtClean="0">
                          <a:solidFill>
                            <a:srgbClr val="0070C0"/>
                          </a:solidFill>
                        </a:rPr>
                        <a:t>bar(A)</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smtClean="0">
                          <a:solidFill>
                            <a:srgbClr val="0070C0"/>
                          </a:solidFill>
                        </a:rPr>
                        <a:t>过冷度</a:t>
                      </a:r>
                      <a:endParaRPr lang="en-US" altLang="zh-CN" sz="1200" dirty="0" smtClean="0">
                        <a:solidFill>
                          <a:srgbClr val="0070C0"/>
                        </a:solidFill>
                      </a:endParaRPr>
                    </a:p>
                    <a:p>
                      <a:pPr algn="ctr"/>
                      <a:r>
                        <a:rPr lang="zh-CN" altLang="en-US" sz="1200" dirty="0" smtClean="0">
                          <a:solidFill>
                            <a:srgbClr val="0070C0"/>
                          </a:solidFill>
                        </a:rPr>
                        <a:t>℃</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zh-CN" altLang="en-US" sz="1200" dirty="0" smtClean="0">
                          <a:solidFill>
                            <a:srgbClr val="0070C0"/>
                          </a:solidFill>
                        </a:rPr>
                        <a:t>过热度</a:t>
                      </a:r>
                      <a:endParaRPr lang="en-US" altLang="zh-CN" sz="1200" dirty="0" smtClean="0">
                        <a:solidFill>
                          <a:srgbClr val="0070C0"/>
                        </a:solidFill>
                      </a:endParaRPr>
                    </a:p>
                    <a:p>
                      <a:pPr algn="ctr"/>
                      <a:r>
                        <a:rPr lang="zh-CN" altLang="en-US" sz="1200" dirty="0" smtClean="0">
                          <a:solidFill>
                            <a:srgbClr val="0070C0"/>
                          </a:solidFill>
                        </a:rPr>
                        <a:t>℃</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smtClean="0">
                          <a:solidFill>
                            <a:srgbClr val="0070C0"/>
                          </a:solidFill>
                        </a:rPr>
                        <a:t>制冷量</a:t>
                      </a:r>
                      <a:endParaRPr lang="en-US" altLang="zh-CN" sz="1200" dirty="0" smtClean="0">
                        <a:solidFill>
                          <a:srgbClr val="0070C0"/>
                        </a:solidFill>
                      </a:endParaRPr>
                    </a:p>
                    <a:p>
                      <a:pPr algn="ctr"/>
                      <a:r>
                        <a:rPr lang="en-US" altLang="zh-CN" sz="1200" dirty="0" smtClean="0">
                          <a:solidFill>
                            <a:srgbClr val="0070C0"/>
                          </a:solidFill>
                        </a:rPr>
                        <a:t>kW</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200" dirty="0" smtClean="0">
                          <a:solidFill>
                            <a:srgbClr val="0070C0"/>
                          </a:solidFill>
                        </a:rPr>
                        <a:t>电功耗</a:t>
                      </a:r>
                      <a:endParaRPr lang="en-US" altLang="zh-CN" sz="1200" dirty="0" smtClean="0">
                        <a:solidFill>
                          <a:srgbClr val="0070C0"/>
                        </a:solidFill>
                      </a:endParaRPr>
                    </a:p>
                    <a:p>
                      <a:pPr algn="ctr"/>
                      <a:r>
                        <a:rPr lang="en-US" altLang="zh-CN" sz="1200" dirty="0" smtClean="0">
                          <a:solidFill>
                            <a:srgbClr val="0070C0"/>
                          </a:solidFill>
                        </a:rPr>
                        <a:t>kW</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COP</a:t>
                      </a:r>
                    </a:p>
                    <a:p>
                      <a:pPr algn="ctr"/>
                      <a:r>
                        <a:rPr lang="en-US" altLang="zh-CN" sz="1200" dirty="0" smtClean="0">
                          <a:solidFill>
                            <a:srgbClr val="0070C0"/>
                          </a:solidFill>
                        </a:rPr>
                        <a:t>W/W</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84175">
                <a:tc>
                  <a:txBody>
                    <a:bodyPr/>
                    <a:lstStyle/>
                    <a:p>
                      <a:pPr algn="ctr"/>
                      <a:r>
                        <a:rPr lang="en-US" altLang="zh-CN" sz="1200" dirty="0" smtClean="0">
                          <a:solidFill>
                            <a:srgbClr val="0070C0"/>
                          </a:solidFill>
                        </a:rPr>
                        <a:t>GB/T22068-2008</a:t>
                      </a:r>
                      <a:r>
                        <a:rPr lang="zh-CN" altLang="en-US" sz="1200" dirty="0" smtClean="0">
                          <a:solidFill>
                            <a:srgbClr val="0070C0"/>
                          </a:solidFill>
                        </a:rPr>
                        <a:t>工况</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18</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2.96</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0</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10</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200" dirty="0" smtClean="0">
                          <a:solidFill>
                            <a:srgbClr val="0070C0"/>
                          </a:solidFill>
                        </a:rPr>
                        <a:t>3897</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200" dirty="0" smtClean="0">
                          <a:solidFill>
                            <a:srgbClr val="0070C0"/>
                          </a:solidFill>
                        </a:rPr>
                        <a:t>2506</a:t>
                      </a:r>
                      <a:endParaRPr lang="zh-CN" altLang="en-US" sz="1200" dirty="0" smtClean="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200" dirty="0" smtClean="0">
                          <a:solidFill>
                            <a:srgbClr val="0070C0"/>
                          </a:solidFill>
                        </a:rPr>
                        <a:t>1.56</a:t>
                      </a:r>
                      <a:endParaRPr lang="zh-CN" altLang="en-US" sz="1200" dirty="0" smtClean="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zh-CN" altLang="en-US" sz="1200" dirty="0" smtClean="0">
                          <a:solidFill>
                            <a:srgbClr val="0070C0"/>
                          </a:solidFill>
                        </a:rPr>
                        <a:t>行业默认工况</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15</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3</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5</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10</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4561</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200" dirty="0" smtClean="0">
                          <a:solidFill>
                            <a:srgbClr val="0070C0"/>
                          </a:solidFill>
                        </a:rPr>
                        <a:t>2150</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513715" rtl="0" eaLnBrk="1" fontAlgn="auto" latinLnBrk="0" hangingPunct="1">
                        <a:lnSpc>
                          <a:spcPct val="100000"/>
                        </a:lnSpc>
                        <a:spcBef>
                          <a:spcPts val="0"/>
                        </a:spcBef>
                        <a:spcAft>
                          <a:spcPts val="0"/>
                        </a:spcAft>
                        <a:buClrTx/>
                        <a:buSzTx/>
                        <a:buFontTx/>
                        <a:buNone/>
                        <a:tabLst/>
                        <a:defRPr/>
                      </a:pPr>
                      <a:r>
                        <a:rPr lang="en-US" altLang="zh-CN" sz="1200" dirty="0" smtClean="0">
                          <a:solidFill>
                            <a:srgbClr val="0070C0"/>
                          </a:solidFill>
                        </a:rPr>
                        <a:t>2.12</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zh-CN" altLang="en-US" sz="1200" dirty="0" smtClean="0">
                          <a:solidFill>
                            <a:srgbClr val="0070C0"/>
                          </a:solidFill>
                        </a:rPr>
                        <a:t>系统高温工况</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20</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5</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5</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10</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6749</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2658</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smtClean="0">
                          <a:solidFill>
                            <a:srgbClr val="0070C0"/>
                          </a:solidFill>
                        </a:rPr>
                        <a:t>2.54</a:t>
                      </a:r>
                      <a:endParaRPr lang="zh-CN" altLang="en-US" sz="1200"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正常工作范围</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以</a:t>
            </a:r>
            <a:r>
              <a:rPr lang="en-US" altLang="zh-CN" sz="1600" dirty="0" smtClean="0">
                <a:latin typeface="楷体" panose="02010609060101010101" charset="-122"/>
                <a:ea typeface="楷体" panose="02010609060101010101" charset="-122"/>
              </a:rPr>
              <a:t>BET27C</a:t>
            </a:r>
            <a:r>
              <a:rPr lang="zh-CN" altLang="en-US" sz="1600" dirty="0" smtClean="0">
                <a:latin typeface="楷体" panose="02010609060101010101" charset="-122"/>
                <a:ea typeface="楷体" panose="02010609060101010101" charset="-122"/>
              </a:rPr>
              <a:t>压缩机为例</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吸气压力低排气压力不能太高</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否则压比过大压缩机损坏</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过热度越大，压缩机可用压比</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范围越小，否则排气温度过高</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压缩机损坏</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21</a:t>
            </a:fld>
            <a:endParaRPr lang="zh-CN" altLang="en-US" dirty="0">
              <a:latin typeface="+mn-lt"/>
              <a:ea typeface="+mn-ea"/>
              <a:cs typeface="+mn-cs"/>
            </a:endParaRPr>
          </a:p>
        </p:txBody>
      </p:sp>
      <p:pic>
        <p:nvPicPr>
          <p:cNvPr id="5" name="图片 4"/>
          <p:cNvPicPr/>
          <p:nvPr/>
        </p:nvPicPr>
        <p:blipFill>
          <a:blip r:embed="rId2" cstate="print"/>
          <a:srcRect/>
          <a:stretch>
            <a:fillRect/>
          </a:stretch>
        </p:blipFill>
        <p:spPr bwMode="auto">
          <a:xfrm>
            <a:off x="4110847" y="862461"/>
            <a:ext cx="3661554" cy="37285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噪声</a:t>
            </a:r>
            <a:endParaRPr lang="en-US" altLang="zh-CN" sz="2400" dirty="0" smtClean="0">
              <a:latin typeface="楷体" panose="02010609060101010101" charset="-122"/>
              <a:ea typeface="楷体" panose="02010609060101010101" charset="-122"/>
            </a:endParaRPr>
          </a:p>
          <a:p>
            <a:pPr>
              <a:lnSpc>
                <a:spcPct val="150000"/>
              </a:lnSpc>
              <a:spcBef>
                <a:spcPts val="0"/>
              </a:spcBef>
              <a:buNone/>
            </a:pPr>
            <a:r>
              <a:rPr lang="en-US" altLang="zh-CN" sz="1600" dirty="0" smtClean="0">
                <a:latin typeface="楷体" panose="02010609060101010101" charset="-122"/>
                <a:ea typeface="楷体" panose="02010609060101010101" charset="-122"/>
              </a:rPr>
              <a:t>NVH：</a:t>
            </a:r>
            <a:r>
              <a:rPr lang="zh-CN" altLang="en-US" sz="1600" dirty="0" smtClean="0"/>
              <a:t>噪声</a:t>
            </a:r>
            <a:r>
              <a:rPr lang="en-US" altLang="zh-CN" sz="1600" dirty="0" smtClean="0"/>
              <a:t>Noise </a:t>
            </a:r>
            <a:r>
              <a:rPr lang="zh-CN" altLang="en-US" sz="1600" dirty="0" smtClean="0"/>
              <a:t>、振动</a:t>
            </a:r>
            <a:r>
              <a:rPr lang="en-US" altLang="zh-CN" sz="1600" dirty="0" smtClean="0"/>
              <a:t>Vibration、</a:t>
            </a:r>
            <a:r>
              <a:rPr lang="zh-CN" altLang="en-US" sz="1600" dirty="0" smtClean="0"/>
              <a:t>声振粗糙度</a:t>
            </a:r>
            <a:r>
              <a:rPr lang="en-US" altLang="zh-CN" sz="1600" dirty="0" smtClean="0"/>
              <a:t>Harshness</a:t>
            </a:r>
          </a:p>
          <a:p>
            <a:pPr>
              <a:lnSpc>
                <a:spcPct val="150000"/>
              </a:lnSpc>
              <a:spcBef>
                <a:spcPts val="0"/>
              </a:spcBef>
              <a:buNone/>
            </a:pPr>
            <a:r>
              <a:rPr lang="zh-CN" altLang="en-US" sz="1600" dirty="0" smtClean="0">
                <a:latin typeface="楷体" panose="02010609060101010101" charset="-122"/>
                <a:ea typeface="楷体" panose="02010609060101010101" charset="-122"/>
              </a:rPr>
              <a:t>电动压缩机噪声的来源</a:t>
            </a:r>
            <a:endParaRPr lang="en-US" altLang="zh-CN" sz="1600" dirty="0" smtClean="0">
              <a:latin typeface="楷体" panose="02010609060101010101" charset="-122"/>
              <a:ea typeface="楷体" panose="02010609060101010101" charset="-122"/>
            </a:endParaRPr>
          </a:p>
          <a:p>
            <a:pPr>
              <a:lnSpc>
                <a:spcPct val="150000"/>
              </a:lnSpc>
              <a:spcBef>
                <a:spcPts val="0"/>
              </a:spcBef>
              <a:buNone/>
            </a:pPr>
            <a:r>
              <a:rPr lang="en-US" altLang="zh-CN" sz="1600" dirty="0" smtClean="0">
                <a:latin typeface="楷体" panose="02010609060101010101" charset="-122"/>
                <a:ea typeface="楷体" panose="02010609060101010101" charset="-122"/>
              </a:rPr>
              <a:t>1.</a:t>
            </a:r>
            <a:r>
              <a:rPr lang="zh-CN" altLang="en-US" sz="1600" dirty="0" smtClean="0">
                <a:latin typeface="楷体" panose="02010609060101010101" charset="-122"/>
                <a:ea typeface="楷体" panose="02010609060101010101" charset="-122"/>
              </a:rPr>
              <a:t>机械噪声：轴承运转、动静盘啮合摩擦</a:t>
            </a:r>
            <a:endParaRPr lang="en-US" altLang="zh-CN" sz="1600" dirty="0" smtClean="0">
              <a:latin typeface="楷体" panose="02010609060101010101" charset="-122"/>
              <a:ea typeface="楷体" panose="02010609060101010101" charset="-122"/>
            </a:endParaRPr>
          </a:p>
          <a:p>
            <a:pPr>
              <a:lnSpc>
                <a:spcPct val="150000"/>
              </a:lnSpc>
              <a:spcBef>
                <a:spcPts val="0"/>
              </a:spcBef>
              <a:buNone/>
            </a:pPr>
            <a:r>
              <a:rPr lang="en-US" altLang="zh-CN" sz="1600" dirty="0" smtClean="0">
                <a:latin typeface="楷体" panose="02010609060101010101" charset="-122"/>
                <a:ea typeface="楷体" panose="02010609060101010101" charset="-122"/>
              </a:rPr>
              <a:t>2.</a:t>
            </a:r>
            <a:r>
              <a:rPr lang="zh-CN" altLang="en-US" sz="1600" dirty="0" smtClean="0">
                <a:latin typeface="楷体" panose="02010609060101010101" charset="-122"/>
                <a:ea typeface="楷体" panose="02010609060101010101" charset="-122"/>
              </a:rPr>
              <a:t>气流噪声：吸气气流、排气气流、排气孔周围气体膨胀</a:t>
            </a:r>
            <a:endParaRPr lang="en-US" altLang="zh-CN" sz="1600" dirty="0" smtClean="0">
              <a:latin typeface="楷体" panose="02010609060101010101" charset="-122"/>
              <a:ea typeface="楷体" panose="02010609060101010101" charset="-122"/>
            </a:endParaRPr>
          </a:p>
          <a:p>
            <a:pPr>
              <a:lnSpc>
                <a:spcPct val="150000"/>
              </a:lnSpc>
              <a:spcBef>
                <a:spcPts val="0"/>
              </a:spcBef>
              <a:buNone/>
            </a:pPr>
            <a:r>
              <a:rPr lang="en-US" altLang="zh-CN" sz="1600" dirty="0" smtClean="0">
                <a:latin typeface="楷体" panose="02010609060101010101" charset="-122"/>
                <a:ea typeface="楷体" panose="02010609060101010101" charset="-122"/>
              </a:rPr>
              <a:t>3.</a:t>
            </a:r>
            <a:r>
              <a:rPr lang="zh-CN" altLang="en-US" sz="1600" dirty="0" smtClean="0">
                <a:latin typeface="楷体" panose="02010609060101010101" charset="-122"/>
                <a:ea typeface="楷体" panose="02010609060101010101" charset="-122"/>
              </a:rPr>
              <a:t>电磁噪声：磁场转换切割磁力线、</a:t>
            </a:r>
            <a:r>
              <a:rPr lang="en-US" altLang="zh-CN" sz="1600" dirty="0" smtClean="0">
                <a:latin typeface="楷体" panose="02010609060101010101" charset="-122"/>
                <a:ea typeface="楷体" panose="02010609060101010101" charset="-122"/>
              </a:rPr>
              <a:t>IGBT</a:t>
            </a:r>
            <a:r>
              <a:rPr lang="zh-CN" altLang="en-US" sz="1600" dirty="0" smtClean="0">
                <a:latin typeface="楷体" panose="02010609060101010101" charset="-122"/>
                <a:ea typeface="楷体" panose="02010609060101010101" charset="-122"/>
              </a:rPr>
              <a:t>开闭</a:t>
            </a:r>
            <a:endParaRPr lang="en-US" altLang="zh-CN" sz="16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22</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噪声测试标准</a:t>
            </a:r>
            <a:endParaRPr lang="en-US" altLang="zh-CN" sz="2400" dirty="0" smtClean="0">
              <a:latin typeface="楷体" panose="02010609060101010101" charset="-122"/>
              <a:ea typeface="楷体" panose="02010609060101010101" charset="-122"/>
            </a:endParaRPr>
          </a:p>
          <a:p>
            <a:pPr>
              <a:lnSpc>
                <a:spcPct val="100000"/>
              </a:lnSpc>
              <a:spcBef>
                <a:spcPts val="0"/>
              </a:spcBef>
              <a:buNone/>
            </a:pPr>
            <a:r>
              <a:rPr lang="zh-CN" altLang="en-US" sz="2000" dirty="0" smtClean="0">
                <a:latin typeface="楷体" panose="02010609060101010101" charset="-122"/>
                <a:ea typeface="楷体" panose="02010609060101010101" charset="-122"/>
              </a:rPr>
              <a:t>压缩机工况、转速、探头距离相同的情况下才能比较分贝值</a:t>
            </a: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23</a:t>
            </a:fld>
            <a:endParaRPr lang="zh-CN" altLang="en-US" dirty="0">
              <a:latin typeface="+mn-lt"/>
              <a:ea typeface="+mn-ea"/>
              <a:cs typeface="+mn-cs"/>
            </a:endParaRPr>
          </a:p>
        </p:txBody>
      </p:sp>
      <p:pic>
        <p:nvPicPr>
          <p:cNvPr id="5" name="图片 4"/>
          <p:cNvPicPr/>
          <p:nvPr/>
        </p:nvPicPr>
        <p:blipFill>
          <a:blip r:embed="rId2" cstate="print"/>
          <a:srcRect/>
          <a:stretch>
            <a:fillRect/>
          </a:stretch>
        </p:blipFill>
        <p:spPr bwMode="auto">
          <a:xfrm>
            <a:off x="1529147" y="1426160"/>
            <a:ext cx="2602906" cy="3559908"/>
          </a:xfrm>
          <a:prstGeom prst="rect">
            <a:avLst/>
          </a:prstGeom>
          <a:noFill/>
          <a:ln w="9525">
            <a:noFill/>
            <a:miter lim="800000"/>
            <a:headEnd/>
            <a:tailEnd/>
          </a:ln>
        </p:spPr>
      </p:pic>
      <p:sp>
        <p:nvSpPr>
          <p:cNvPr id="7" name="TextBox 6"/>
          <p:cNvSpPr txBox="1"/>
          <p:nvPr/>
        </p:nvSpPr>
        <p:spPr>
          <a:xfrm>
            <a:off x="3907766" y="1682151"/>
            <a:ext cx="4942936" cy="732508"/>
          </a:xfrm>
          <a:prstGeom prst="rect">
            <a:avLst/>
          </a:prstGeom>
          <a:noFill/>
        </p:spPr>
        <p:txBody>
          <a:bodyPr wrap="square" rtlCol="0">
            <a:spAutoFit/>
          </a:bodyPr>
          <a:lstStyle/>
          <a:p>
            <a:pPr>
              <a:lnSpc>
                <a:spcPct val="130000"/>
              </a:lnSpc>
            </a:pPr>
            <a:r>
              <a:rPr lang="zh-CN" altLang="en-US" sz="1600" dirty="0" smtClean="0">
                <a:solidFill>
                  <a:srgbClr val="0070C0"/>
                </a:solidFill>
                <a:latin typeface="Arial" panose="020B0604020202020204" pitchFamily="34" charset="0"/>
                <a:ea typeface="微软雅黑" panose="020B0503020204020204" pitchFamily="34" charset="-122"/>
              </a:rPr>
              <a:t>压缩机工况有行标、国标等，排气压力越高噪音越大</a:t>
            </a:r>
            <a:endParaRPr lang="en-US" altLang="zh-CN" sz="1600" dirty="0" smtClean="0">
              <a:solidFill>
                <a:srgbClr val="0070C0"/>
              </a:solidFill>
              <a:latin typeface="Arial" panose="020B0604020202020204" pitchFamily="34" charset="0"/>
              <a:ea typeface="微软雅黑" panose="020B0503020204020204" pitchFamily="34" charset="-122"/>
            </a:endParaRPr>
          </a:p>
          <a:p>
            <a:pPr>
              <a:lnSpc>
                <a:spcPct val="130000"/>
              </a:lnSpc>
            </a:pPr>
            <a:r>
              <a:rPr lang="zh-CN" altLang="en-US" sz="1600" dirty="0" smtClean="0">
                <a:solidFill>
                  <a:srgbClr val="0070C0"/>
                </a:solidFill>
                <a:ea typeface="微软雅黑" panose="020B0503020204020204" pitchFamily="34" charset="-122"/>
              </a:rPr>
              <a:t>测量距离通常为</a:t>
            </a:r>
            <a:r>
              <a:rPr lang="en-US" altLang="zh-CN" sz="1600" dirty="0" smtClean="0">
                <a:solidFill>
                  <a:srgbClr val="0070C0"/>
                </a:solidFill>
                <a:ea typeface="微软雅黑" panose="020B0503020204020204" pitchFamily="34" charset="-122"/>
              </a:rPr>
              <a:t>15cm、30cm、1m</a:t>
            </a:r>
            <a:endParaRPr lang="zh-CN" altLang="en-US" sz="1600" dirty="0" smtClean="0">
              <a:solidFill>
                <a:srgbClr val="0070C0"/>
              </a:solidFill>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噪声的传递</a:t>
            </a:r>
            <a:endParaRPr lang="en-US" altLang="zh-CN" sz="24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    压缩机噪声除通过空气直接传入乘员舱外，还可以通过吸气管路、排气管路、车身等传入。</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    </a:t>
            </a:r>
            <a:r>
              <a:rPr lang="zh-CN" altLang="en-US" sz="2000" dirty="0" smtClean="0">
                <a:latin typeface="楷体" panose="02010609060101010101" charset="-122"/>
                <a:ea typeface="楷体" panose="02010609060101010101" charset="-122"/>
              </a:rPr>
              <a:t>有时噪声仪测量的分贝数不高，但是人体感觉噪声大，可能的原因是在某个频率上噪声特别大，而人体对此频率很敏感。</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例如控制器的载波频率如果低于</a:t>
            </a:r>
            <a:r>
              <a:rPr lang="en-US" altLang="zh-CN" sz="2000" dirty="0" smtClean="0">
                <a:latin typeface="楷体" panose="02010609060101010101" charset="-122"/>
                <a:ea typeface="楷体" panose="02010609060101010101" charset="-122"/>
              </a:rPr>
              <a:t>12k，</a:t>
            </a:r>
            <a:r>
              <a:rPr lang="zh-CN" altLang="en-US" sz="2000" dirty="0" smtClean="0">
                <a:latin typeface="楷体" panose="02010609060101010101" charset="-122"/>
                <a:ea typeface="楷体" panose="02010609060101010101" charset="-122"/>
              </a:rPr>
              <a:t>人耳会感觉到明显的刺耳的声音，但是用噪声仪测量噪声值不高。</a:t>
            </a:r>
            <a:endParaRPr lang="en-US" altLang="zh-CN" sz="2000" dirty="0" smtClean="0">
              <a:latin typeface="楷体" panose="02010609060101010101" charset="-122"/>
              <a:ea typeface="楷体" panose="02010609060101010101" charset="-122"/>
            </a:endParaRPr>
          </a:p>
          <a:p>
            <a:pPr indent="0">
              <a:lnSpc>
                <a:spcPct val="100000"/>
              </a:lnSpc>
              <a:spcBef>
                <a:spcPts val="0"/>
              </a:spcBef>
              <a:buNone/>
            </a:pPr>
            <a:r>
              <a:rPr lang="en-US" altLang="zh-CN" sz="2000" dirty="0" smtClean="0">
                <a:latin typeface="楷体" panose="02010609060101010101" charset="-122"/>
                <a:ea typeface="楷体" panose="02010609060101010101" charset="-122"/>
              </a:rPr>
              <a:t>    </a:t>
            </a:r>
          </a:p>
          <a:p>
            <a:pPr indent="0">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24</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56247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振动</a:t>
            </a:r>
            <a:endParaRPr lang="en-US" altLang="zh-CN" sz="24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物理描述上的振动三要素：幅值、频率、相位</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振动测量仪的测量要素：振幅、速度、加速度</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振动的比较：低频</a:t>
            </a:r>
            <a:r>
              <a:rPr lang="zh-CN" altLang="zh-CN" sz="2000" dirty="0" smtClean="0">
                <a:latin typeface="楷体" panose="02010609060101010101" charset="-122"/>
                <a:ea typeface="楷体" panose="02010609060101010101" charset="-122"/>
              </a:rPr>
              <a:t>（</a:t>
            </a:r>
            <a:r>
              <a:rPr lang="en-US" altLang="zh-CN" sz="2000" dirty="0" smtClean="0">
                <a:latin typeface="楷体" panose="02010609060101010101" charset="-122"/>
                <a:ea typeface="楷体" panose="02010609060101010101" charset="-122"/>
              </a:rPr>
              <a:t>&lt;10Hz</a:t>
            </a:r>
            <a:r>
              <a:rPr lang="zh-CN"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振动比较振幅</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            </a:t>
            </a:r>
            <a:r>
              <a:rPr lang="zh-CN" altLang="en-US" sz="2000" dirty="0" smtClean="0">
                <a:latin typeface="楷体" panose="02010609060101010101" charset="-122"/>
                <a:ea typeface="楷体" panose="02010609060101010101" charset="-122"/>
              </a:rPr>
              <a:t>中频</a:t>
            </a:r>
            <a:r>
              <a:rPr lang="zh-CN" altLang="zh-CN" sz="2000" dirty="0" smtClean="0">
                <a:latin typeface="楷体" panose="02010609060101010101" charset="-122"/>
                <a:ea typeface="楷体" panose="02010609060101010101" charset="-122"/>
              </a:rPr>
              <a:t>（</a:t>
            </a:r>
            <a:r>
              <a:rPr lang="en-US" altLang="zh-CN" sz="2000" dirty="0" smtClean="0">
                <a:latin typeface="楷体" panose="02010609060101010101" charset="-122"/>
                <a:ea typeface="楷体" panose="02010609060101010101" charset="-122"/>
              </a:rPr>
              <a:t>10</a:t>
            </a:r>
            <a:r>
              <a:rPr lang="zh-CN" altLang="en-US" sz="2000" dirty="0" smtClean="0">
                <a:latin typeface="楷体" panose="02010609060101010101" charset="-122"/>
                <a:ea typeface="楷体" panose="02010609060101010101" charset="-122"/>
              </a:rPr>
              <a:t>～</a:t>
            </a:r>
            <a:r>
              <a:rPr lang="en-US" altLang="zh-CN" sz="2000" dirty="0" smtClean="0">
                <a:latin typeface="楷体" panose="02010609060101010101" charset="-122"/>
                <a:ea typeface="楷体" panose="02010609060101010101" charset="-122"/>
              </a:rPr>
              <a:t>1000Hz</a:t>
            </a:r>
            <a:r>
              <a:rPr lang="zh-CN"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振动比较速度</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            </a:t>
            </a:r>
            <a:r>
              <a:rPr lang="zh-CN" altLang="en-US" sz="2000" dirty="0" smtClean="0">
                <a:latin typeface="楷体" panose="02010609060101010101" charset="-122"/>
                <a:ea typeface="楷体" panose="02010609060101010101" charset="-122"/>
              </a:rPr>
              <a:t>高频</a:t>
            </a:r>
            <a:r>
              <a:rPr lang="zh-CN" altLang="zh-CN" sz="2000" dirty="0" smtClean="0">
                <a:latin typeface="楷体" panose="02010609060101010101" charset="-122"/>
                <a:ea typeface="楷体" panose="02010609060101010101" charset="-122"/>
              </a:rPr>
              <a:t>（</a:t>
            </a:r>
            <a:r>
              <a:rPr lang="en-US" altLang="zh-CN" sz="2000" dirty="0" smtClean="0">
                <a:latin typeface="楷体" panose="02010609060101010101" charset="-122"/>
                <a:ea typeface="楷体" panose="02010609060101010101" charset="-122"/>
              </a:rPr>
              <a:t>&gt;1000Hz</a:t>
            </a:r>
            <a:r>
              <a:rPr lang="zh-CN"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振动比较加速度</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压缩振动属于中频振动</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压缩机振动比较要基于相同的测试工装和测点布置位置</a:t>
            </a:r>
            <a:endParaRPr lang="en-US" altLang="zh-CN" sz="2000" dirty="0" smtClean="0">
              <a:latin typeface="楷体" panose="02010609060101010101" charset="-122"/>
              <a:ea typeface="楷体" panose="02010609060101010101" charset="-122"/>
            </a:endParaRPr>
          </a:p>
          <a:p>
            <a:pPr indent="0">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25</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fontScale="85000" lnSpcReduction="10000"/>
          </a:bodyPr>
          <a:lstStyle/>
          <a:p>
            <a:pPr marL="0" indent="0" algn="l">
              <a:lnSpc>
                <a:spcPct val="150000"/>
              </a:lnSpc>
              <a:spcBef>
                <a:spcPts val="0"/>
              </a:spcBef>
              <a:buNone/>
            </a:pPr>
            <a:r>
              <a:rPr lang="en-US" altLang="zh-CN" sz="1600" dirty="0" smtClean="0">
                <a:latin typeface="楷体" panose="02010609060101010101" charset="-122"/>
                <a:ea typeface="楷体" panose="02010609060101010101" charset="-122"/>
              </a:rPr>
              <a:t>GB/T22068-2008</a:t>
            </a:r>
            <a:r>
              <a:rPr lang="zh-CN" altLang="en-US" sz="1600" dirty="0" smtClean="0">
                <a:latin typeface="楷体" panose="02010609060101010101" charset="-122"/>
                <a:ea typeface="楷体" panose="02010609060101010101" charset="-122"/>
              </a:rPr>
              <a:t>没有对压缩机振动要求做规定</a:t>
            </a:r>
            <a:endParaRPr lang="en-US" altLang="zh-CN" sz="1600" dirty="0" smtClean="0">
              <a:latin typeface="楷体" panose="02010609060101010101" charset="-122"/>
              <a:ea typeface="楷体" panose="02010609060101010101" charset="-122"/>
            </a:endParaRPr>
          </a:p>
          <a:p>
            <a:pPr marL="0" indent="0" algn="l">
              <a:lnSpc>
                <a:spcPct val="150000"/>
              </a:lnSpc>
              <a:spcBef>
                <a:spcPts val="0"/>
              </a:spcBef>
              <a:buNone/>
            </a:pPr>
            <a:r>
              <a:rPr lang="en-US" altLang="zh-CN" sz="1600" dirty="0" smtClean="0">
                <a:latin typeface="楷体" panose="02010609060101010101" charset="-122"/>
                <a:ea typeface="楷体" panose="02010609060101010101" charset="-122"/>
              </a:rPr>
              <a:t>JB/12845-2016</a:t>
            </a:r>
            <a:r>
              <a:rPr lang="zh-CN" altLang="en-US" sz="1600" dirty="0" smtClean="0">
                <a:latin typeface="楷体" panose="02010609060101010101" charset="-122"/>
                <a:ea typeface="楷体" panose="02010609060101010101" charset="-122"/>
              </a:rPr>
              <a:t>对振动要求的规定如下：</a:t>
            </a:r>
            <a:endParaRPr lang="en-US" altLang="zh-CN" sz="1600" dirty="0" smtClean="0">
              <a:latin typeface="楷体" panose="02010609060101010101" charset="-122"/>
              <a:ea typeface="楷体" panose="02010609060101010101" charset="-122"/>
            </a:endParaRPr>
          </a:p>
          <a:p>
            <a:pPr marL="0" indent="0" algn="l">
              <a:lnSpc>
                <a:spcPct val="150000"/>
              </a:lnSpc>
              <a:spcBef>
                <a:spcPts val="0"/>
              </a:spcBef>
              <a:buNone/>
            </a:pPr>
            <a:r>
              <a:rPr lang="zh-CN" altLang="en-US" sz="1600" dirty="0" smtClean="0">
                <a:latin typeface="楷体" panose="02010609060101010101" charset="-122"/>
                <a:ea typeface="楷体" panose="02010609060101010101" charset="-122"/>
              </a:rPr>
              <a:t>在转速允许范围内，亚临界用电动压缩机水平前后（</a:t>
            </a:r>
            <a:r>
              <a:rPr lang="en-US" altLang="zh-CN" sz="1600" dirty="0" smtClean="0">
                <a:latin typeface="楷体" panose="02010609060101010101" charset="-122"/>
                <a:ea typeface="楷体" panose="02010609060101010101" charset="-122"/>
              </a:rPr>
              <a:t>X</a:t>
            </a:r>
            <a:r>
              <a:rPr lang="zh-CN" altLang="en-US" sz="1600" dirty="0" smtClean="0">
                <a:latin typeface="楷体" panose="02010609060101010101" charset="-122"/>
                <a:ea typeface="楷体" panose="02010609060101010101" charset="-122"/>
              </a:rPr>
              <a:t>轴）、水平左右（</a:t>
            </a:r>
            <a:r>
              <a:rPr lang="en-US" altLang="zh-CN" sz="1600" dirty="0" smtClean="0">
                <a:latin typeface="楷体" panose="02010609060101010101" charset="-122"/>
                <a:ea typeface="楷体" panose="02010609060101010101" charset="-122"/>
              </a:rPr>
              <a:t>Y</a:t>
            </a:r>
            <a:r>
              <a:rPr lang="zh-CN" altLang="en-US" sz="1600" dirty="0" smtClean="0">
                <a:latin typeface="楷体" panose="02010609060101010101" charset="-122"/>
                <a:ea typeface="楷体" panose="02010609060101010101" charset="-122"/>
              </a:rPr>
              <a:t>轴）、垂直（</a:t>
            </a:r>
            <a:r>
              <a:rPr lang="en-US" altLang="zh-CN" sz="1600" dirty="0" smtClean="0">
                <a:latin typeface="楷体" panose="02010609060101010101" charset="-122"/>
                <a:ea typeface="楷体" panose="02010609060101010101" charset="-122"/>
              </a:rPr>
              <a:t>Z</a:t>
            </a:r>
            <a:r>
              <a:rPr lang="zh-CN" altLang="en-US" sz="1600" dirty="0" smtClean="0">
                <a:latin typeface="楷体" panose="02010609060101010101" charset="-122"/>
                <a:ea typeface="楷体" panose="02010609060101010101" charset="-122"/>
              </a:rPr>
              <a:t>轴）三个方向的实测激振力不超过公式</a:t>
            </a:r>
            <a:r>
              <a:rPr lang="en-US" altLang="zh-CN" sz="1600" dirty="0" err="1" smtClean="0">
                <a:latin typeface="楷体" panose="02010609060101010101" charset="-122"/>
                <a:ea typeface="楷体" panose="02010609060101010101" charset="-122"/>
              </a:rPr>
              <a:t>Fmax</a:t>
            </a:r>
            <a:r>
              <a:rPr lang="en-US" altLang="zh-CN" sz="1600" dirty="0" smtClean="0">
                <a:latin typeface="楷体" panose="02010609060101010101" charset="-122"/>
                <a:ea typeface="楷体" panose="02010609060101010101" charset="-122"/>
              </a:rPr>
              <a:t> = </a:t>
            </a:r>
            <a:r>
              <a:rPr lang="en-US" altLang="zh-CN" sz="1600" dirty="0" err="1" smtClean="0">
                <a:latin typeface="楷体" panose="02010609060101010101" charset="-122"/>
                <a:ea typeface="楷体" panose="02010609060101010101" charset="-122"/>
              </a:rPr>
              <a:t>kn</a:t>
            </a:r>
            <a:r>
              <a:rPr lang="zh-CN" altLang="en-US" sz="1600" dirty="0" smtClean="0">
                <a:latin typeface="楷体" panose="02010609060101010101" charset="-122"/>
                <a:ea typeface="楷体" panose="02010609060101010101" charset="-122"/>
              </a:rPr>
              <a:t>式中的计算值</a:t>
            </a:r>
            <a:endParaRPr lang="en-US" altLang="zh-CN" sz="1600" dirty="0" smtClean="0">
              <a:latin typeface="楷体" panose="02010609060101010101" charset="-122"/>
              <a:ea typeface="楷体" panose="02010609060101010101" charset="-122"/>
            </a:endParaRPr>
          </a:p>
          <a:p>
            <a:pPr marL="0" indent="0" algn="l">
              <a:lnSpc>
                <a:spcPct val="150000"/>
              </a:lnSpc>
              <a:spcBef>
                <a:spcPts val="0"/>
              </a:spcBef>
              <a:buNone/>
            </a:pPr>
            <a:r>
              <a:rPr lang="en-US" altLang="zh-CN" sz="1600" dirty="0" err="1" smtClean="0">
                <a:latin typeface="楷体" panose="02010609060101010101" charset="-122"/>
                <a:ea typeface="楷体" panose="02010609060101010101" charset="-122"/>
              </a:rPr>
              <a:t>Fmax</a:t>
            </a:r>
            <a:r>
              <a:rPr lang="en-US" altLang="zh-CN" sz="1600" dirty="0" smtClean="0">
                <a:latin typeface="楷体" panose="02010609060101010101" charset="-122"/>
                <a:ea typeface="楷体" panose="02010609060101010101" charset="-122"/>
              </a:rPr>
              <a:t> = </a:t>
            </a:r>
            <a:r>
              <a:rPr lang="en-US" altLang="zh-CN" sz="1600" dirty="0" err="1" smtClean="0">
                <a:latin typeface="楷体" panose="02010609060101010101" charset="-122"/>
                <a:ea typeface="楷体" panose="02010609060101010101" charset="-122"/>
              </a:rPr>
              <a:t>kn</a:t>
            </a:r>
            <a:r>
              <a:rPr lang="zh-CN" altLang="en-US" sz="1600" dirty="0" smtClean="0">
                <a:latin typeface="楷体" panose="02010609060101010101" charset="-122"/>
                <a:ea typeface="楷体" panose="02010609060101010101" charset="-122"/>
              </a:rPr>
              <a:t>式中（</a:t>
            </a:r>
            <a:r>
              <a:rPr lang="en-US" altLang="zh-CN" sz="1600" dirty="0" smtClean="0">
                <a:latin typeface="楷体" panose="02010609060101010101" charset="-122"/>
                <a:ea typeface="楷体" panose="02010609060101010101" charset="-122"/>
              </a:rPr>
              <a:t>1</a:t>
            </a:r>
            <a:r>
              <a:rPr lang="zh-CN" altLang="en-US" sz="1600" dirty="0" smtClean="0">
                <a:latin typeface="楷体" panose="02010609060101010101" charset="-122"/>
                <a:ea typeface="楷体" panose="02010609060101010101" charset="-122"/>
              </a:rPr>
              <a:t>）</a:t>
            </a:r>
            <a:endParaRPr lang="en-US" altLang="zh-CN" sz="1600" dirty="0" smtClean="0">
              <a:latin typeface="楷体" panose="02010609060101010101" charset="-122"/>
              <a:ea typeface="楷体" panose="02010609060101010101" charset="-122"/>
            </a:endParaRPr>
          </a:p>
          <a:p>
            <a:pPr marL="0" indent="0" algn="l">
              <a:lnSpc>
                <a:spcPct val="150000"/>
              </a:lnSpc>
              <a:spcBef>
                <a:spcPts val="0"/>
              </a:spcBef>
              <a:buNone/>
            </a:pPr>
            <a:r>
              <a:rPr lang="en-US" altLang="zh-CN" sz="1600" dirty="0" err="1" smtClean="0">
                <a:latin typeface="楷体" panose="02010609060101010101" charset="-122"/>
                <a:ea typeface="楷体" panose="02010609060101010101" charset="-122"/>
              </a:rPr>
              <a:t>Fmax</a:t>
            </a:r>
            <a:r>
              <a:rPr lang="en-US" altLang="zh-CN" sz="1600" dirty="0" smtClean="0">
                <a:latin typeface="楷体" panose="02010609060101010101" charset="-122"/>
                <a:ea typeface="楷体" panose="02010609060101010101" charset="-122"/>
              </a:rPr>
              <a:t>-------</a:t>
            </a:r>
            <a:r>
              <a:rPr lang="zh-CN" altLang="en-US" sz="1600" dirty="0" smtClean="0">
                <a:latin typeface="楷体" panose="02010609060101010101" charset="-122"/>
                <a:ea typeface="楷体" panose="02010609060101010101" charset="-122"/>
              </a:rPr>
              <a:t>最大允许激振力，单位为牛（</a:t>
            </a:r>
            <a:r>
              <a:rPr lang="en-US" altLang="zh-CN" sz="1600" dirty="0" smtClean="0">
                <a:latin typeface="楷体" panose="02010609060101010101" charset="-122"/>
                <a:ea typeface="楷体" panose="02010609060101010101" charset="-122"/>
              </a:rPr>
              <a:t>N</a:t>
            </a:r>
            <a:r>
              <a:rPr lang="zh-CN" altLang="en-US" sz="1600" dirty="0" smtClean="0">
                <a:latin typeface="楷体" panose="02010609060101010101" charset="-122"/>
                <a:ea typeface="楷体" panose="02010609060101010101" charset="-122"/>
              </a:rPr>
              <a:t>）</a:t>
            </a:r>
            <a:endParaRPr lang="en-US" altLang="zh-CN" sz="1600" dirty="0" smtClean="0">
              <a:latin typeface="楷体" panose="02010609060101010101" charset="-122"/>
              <a:ea typeface="楷体" panose="02010609060101010101" charset="-122"/>
            </a:endParaRPr>
          </a:p>
          <a:p>
            <a:pPr marL="0" indent="0" algn="l">
              <a:lnSpc>
                <a:spcPct val="150000"/>
              </a:lnSpc>
              <a:spcBef>
                <a:spcPts val="0"/>
              </a:spcBef>
              <a:buNone/>
            </a:pPr>
            <a:r>
              <a:rPr lang="en-US" altLang="zh-CN" sz="1600" dirty="0" smtClean="0">
                <a:latin typeface="楷体" panose="02010609060101010101" charset="-122"/>
                <a:ea typeface="楷体" panose="02010609060101010101" charset="-122"/>
              </a:rPr>
              <a:t>K----------</a:t>
            </a:r>
            <a:r>
              <a:rPr lang="zh-CN" altLang="en-US" sz="1600" dirty="0" smtClean="0">
                <a:latin typeface="楷体" panose="02010609060101010101" charset="-122"/>
                <a:ea typeface="楷体" panose="02010609060101010101" charset="-122"/>
              </a:rPr>
              <a:t>激振系数，取</a:t>
            </a:r>
            <a:r>
              <a:rPr lang="en-US" altLang="zh-CN" sz="1600" dirty="0" smtClean="0">
                <a:latin typeface="楷体" panose="02010609060101010101" charset="-122"/>
                <a:ea typeface="楷体" panose="02010609060101010101" charset="-122"/>
              </a:rPr>
              <a:t>0.02N·min/r</a:t>
            </a:r>
          </a:p>
          <a:p>
            <a:pPr marL="0" indent="0" algn="l">
              <a:lnSpc>
                <a:spcPct val="150000"/>
              </a:lnSpc>
              <a:spcBef>
                <a:spcPts val="0"/>
              </a:spcBef>
              <a:buNone/>
            </a:pPr>
            <a:r>
              <a:rPr lang="en-US" altLang="zh-CN" sz="1600" dirty="0" smtClean="0">
                <a:latin typeface="楷体" panose="02010609060101010101" charset="-122"/>
                <a:ea typeface="楷体" panose="02010609060101010101" charset="-122"/>
              </a:rPr>
              <a:t>n----------</a:t>
            </a:r>
            <a:r>
              <a:rPr lang="zh-CN" altLang="en-US" sz="1600" dirty="0" smtClean="0">
                <a:latin typeface="楷体" panose="02010609060101010101" charset="-122"/>
                <a:ea typeface="楷体" panose="02010609060101010101" charset="-122"/>
              </a:rPr>
              <a:t>压缩机转速值，单位为转每分（</a:t>
            </a:r>
            <a:r>
              <a:rPr lang="en-US" altLang="zh-CN" sz="1600" dirty="0" smtClean="0">
                <a:latin typeface="楷体" panose="02010609060101010101" charset="-122"/>
                <a:ea typeface="楷体" panose="02010609060101010101" charset="-122"/>
              </a:rPr>
              <a:t>r/min</a:t>
            </a:r>
            <a:r>
              <a:rPr lang="zh-CN" altLang="en-US" sz="1600" dirty="0" smtClean="0">
                <a:latin typeface="楷体" panose="02010609060101010101" charset="-122"/>
                <a:ea typeface="楷体" panose="02010609060101010101" charset="-122"/>
              </a:rPr>
              <a:t>）</a:t>
            </a:r>
            <a:endParaRPr lang="en-US" altLang="zh-CN" sz="1600" dirty="0" smtClean="0">
              <a:latin typeface="楷体" panose="02010609060101010101" charset="-122"/>
              <a:ea typeface="楷体" panose="02010609060101010101" charset="-122"/>
            </a:endParaRPr>
          </a:p>
          <a:p>
            <a:pPr marL="0" indent="0" algn="l">
              <a:lnSpc>
                <a:spcPct val="150000"/>
              </a:lnSpc>
              <a:spcBef>
                <a:spcPts val="0"/>
              </a:spcBef>
              <a:buNone/>
            </a:pPr>
            <a:r>
              <a:rPr lang="zh-CN" altLang="en-US" sz="1600" dirty="0" smtClean="0">
                <a:latin typeface="楷体" panose="02010609060101010101" charset="-122"/>
                <a:ea typeface="楷体" panose="02010609060101010101" charset="-122"/>
              </a:rPr>
              <a:t>测试方法：</a:t>
            </a:r>
            <a:endParaRPr lang="en-US" altLang="zh-CN" sz="1600" dirty="0" smtClean="0">
              <a:latin typeface="楷体" panose="02010609060101010101" charset="-122"/>
              <a:ea typeface="楷体" panose="02010609060101010101" charset="-122"/>
            </a:endParaRPr>
          </a:p>
          <a:p>
            <a:pPr marL="0" indent="0" algn="l">
              <a:lnSpc>
                <a:spcPct val="150000"/>
              </a:lnSpc>
              <a:spcBef>
                <a:spcPts val="0"/>
              </a:spcBef>
              <a:buNone/>
            </a:pPr>
            <a:r>
              <a:rPr lang="zh-CN" altLang="en-US" sz="1600" dirty="0" smtClean="0">
                <a:latin typeface="楷体" panose="02010609060101010101" charset="-122"/>
                <a:ea typeface="楷体" panose="02010609060101010101" charset="-122"/>
              </a:rPr>
              <a:t>将电动压缩机通过钢过渡支架固定在带有三轴向力传感器的激振力测试台上，过渡支架的重量不超过</a:t>
            </a:r>
            <a:r>
              <a:rPr lang="en-US" altLang="zh-CN" sz="1600" dirty="0" smtClean="0">
                <a:latin typeface="楷体" panose="02010609060101010101" charset="-122"/>
                <a:ea typeface="楷体" panose="02010609060101010101" charset="-122"/>
              </a:rPr>
              <a:t>2kg</a:t>
            </a:r>
            <a:r>
              <a:rPr lang="zh-CN" altLang="en-US" sz="1600" dirty="0" smtClean="0">
                <a:latin typeface="楷体" panose="02010609060101010101" charset="-122"/>
                <a:ea typeface="楷体" panose="02010609060101010101" charset="-122"/>
              </a:rPr>
              <a:t>。电动压缩机安装方向与实车相同，三轴向支座平面应垂直于压缩机安装方向。垂直方向为</a:t>
            </a:r>
            <a:r>
              <a:rPr lang="en-US" altLang="zh-CN" sz="1600" dirty="0" smtClean="0">
                <a:latin typeface="楷体" panose="02010609060101010101" charset="-122"/>
                <a:ea typeface="楷体" panose="02010609060101010101" charset="-122"/>
              </a:rPr>
              <a:t>Z</a:t>
            </a:r>
            <a:r>
              <a:rPr lang="zh-CN" altLang="en-US" sz="1600" dirty="0" smtClean="0">
                <a:latin typeface="楷体" panose="02010609060101010101" charset="-122"/>
                <a:ea typeface="楷体" panose="02010609060101010101" charset="-122"/>
              </a:rPr>
              <a:t>轴，压缩机轴线方向为</a:t>
            </a:r>
            <a:r>
              <a:rPr lang="en-US" altLang="zh-CN" sz="1600" dirty="0" smtClean="0">
                <a:latin typeface="楷体" panose="02010609060101010101" charset="-122"/>
                <a:ea typeface="楷体" panose="02010609060101010101" charset="-122"/>
              </a:rPr>
              <a:t>Y</a:t>
            </a:r>
            <a:r>
              <a:rPr lang="zh-CN" altLang="en-US" sz="1600" dirty="0" smtClean="0">
                <a:latin typeface="楷体" panose="02010609060101010101" charset="-122"/>
                <a:ea typeface="楷体" panose="02010609060101010101" charset="-122"/>
              </a:rPr>
              <a:t>轴，垂直于压缩机轴向的方向为</a:t>
            </a:r>
            <a:r>
              <a:rPr lang="en-US" altLang="zh-CN" sz="1600" dirty="0" smtClean="0">
                <a:latin typeface="楷体" panose="02010609060101010101" charset="-122"/>
                <a:ea typeface="楷体" panose="02010609060101010101" charset="-122"/>
              </a:rPr>
              <a:t>X</a:t>
            </a:r>
            <a:r>
              <a:rPr lang="zh-CN" altLang="en-US" sz="1600" dirty="0" smtClean="0">
                <a:latin typeface="楷体" panose="02010609060101010101" charset="-122"/>
                <a:ea typeface="楷体" panose="02010609060101010101" charset="-122"/>
              </a:rPr>
              <a:t>轴。把压缩机连接到测试用替代制冷系统上，按表</a:t>
            </a:r>
            <a:r>
              <a:rPr lang="en-US" altLang="zh-CN" sz="1600" dirty="0" smtClean="0">
                <a:latin typeface="楷体" panose="02010609060101010101" charset="-122"/>
                <a:ea typeface="楷体" panose="02010609060101010101" charset="-122"/>
              </a:rPr>
              <a:t>8</a:t>
            </a:r>
            <a:r>
              <a:rPr lang="zh-CN" altLang="en-US" sz="1600" dirty="0" smtClean="0">
                <a:latin typeface="楷体" panose="02010609060101010101" charset="-122"/>
                <a:ea typeface="楷体" panose="02010609060101010101" charset="-122"/>
              </a:rPr>
              <a:t>的工况进行运转，工况稳定后记录所测激振力值。</a:t>
            </a:r>
            <a:endParaRPr lang="en-US" altLang="zh-CN" sz="16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26</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p:nvPr/>
        </p:nvPicPr>
        <p:blipFill>
          <a:blip r:embed="rId2" cstate="print"/>
          <a:srcRect/>
          <a:stretch>
            <a:fillRect/>
          </a:stretch>
        </p:blipFill>
        <p:spPr bwMode="auto">
          <a:xfrm>
            <a:off x="1019175" y="1524001"/>
            <a:ext cx="4133850" cy="2476500"/>
          </a:xfrm>
          <a:prstGeom prst="rect">
            <a:avLst/>
          </a:prstGeom>
          <a:noFill/>
          <a:ln w="9525">
            <a:noFill/>
            <a:miter lim="800000"/>
            <a:headEnd/>
            <a:tailEnd/>
          </a:ln>
        </p:spPr>
      </p:pic>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端口定义</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en-US" altLang="zh-CN" sz="1600" dirty="0" smtClean="0">
                <a:latin typeface="楷体" panose="02010609060101010101" charset="-122"/>
                <a:ea typeface="楷体" panose="02010609060101010101" charset="-122"/>
              </a:rPr>
              <a:t>    </a:t>
            </a:r>
            <a:r>
              <a:rPr lang="zh-CN" altLang="en-US" sz="1600" dirty="0" smtClean="0">
                <a:latin typeface="楷体" panose="02010609060101010101" charset="-122"/>
                <a:ea typeface="楷体" panose="02010609060101010101" charset="-122"/>
              </a:rPr>
              <a:t>以</a:t>
            </a:r>
            <a:r>
              <a:rPr lang="en-US" altLang="zh-CN" sz="1600" dirty="0" smtClean="0">
                <a:latin typeface="楷体" panose="02010609060101010101" charset="-122"/>
                <a:ea typeface="楷体" panose="02010609060101010101" charset="-122"/>
              </a:rPr>
              <a:t>BET27C</a:t>
            </a:r>
            <a:r>
              <a:rPr lang="zh-CN" altLang="en-US" sz="1600" dirty="0" smtClean="0">
                <a:latin typeface="楷体" panose="02010609060101010101" charset="-122"/>
                <a:ea typeface="楷体" panose="02010609060101010101" charset="-122"/>
              </a:rPr>
              <a:t>压缩机为例</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a:lnSpc>
                <a:spcPct val="150000"/>
              </a:lnSpc>
              <a:spcBef>
                <a:spcPts val="0"/>
              </a:spcBef>
              <a:buNone/>
            </a:pPr>
            <a:endParaRPr lang="en-US" altLang="zh-CN" sz="2000" b="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27</a:t>
            </a:fld>
            <a:endParaRPr lang="zh-CN" altLang="en-US" dirty="0">
              <a:latin typeface="+mn-lt"/>
              <a:ea typeface="+mn-ea"/>
              <a:cs typeface="+mn-cs"/>
            </a:endParaRPr>
          </a:p>
        </p:txBody>
      </p:sp>
      <p:graphicFrame>
        <p:nvGraphicFramePr>
          <p:cNvPr id="8" name="表格 7"/>
          <p:cNvGraphicFramePr>
            <a:graphicFrameLocks noGrp="1"/>
          </p:cNvGraphicFramePr>
          <p:nvPr/>
        </p:nvGraphicFramePr>
        <p:xfrm>
          <a:off x="5124450" y="1333499"/>
          <a:ext cx="3714749" cy="3302000"/>
        </p:xfrm>
        <a:graphic>
          <a:graphicData uri="http://schemas.openxmlformats.org/drawingml/2006/table">
            <a:tbl>
              <a:tblPr/>
              <a:tblGrid>
                <a:gridCol w="263569"/>
                <a:gridCol w="506865"/>
                <a:gridCol w="1235351"/>
                <a:gridCol w="1708964"/>
              </a:tblGrid>
              <a:tr h="375627">
                <a:tc>
                  <a:txBody>
                    <a:bodyPr/>
                    <a:lstStyle/>
                    <a:p>
                      <a:pPr algn="ctr">
                        <a:lnSpc>
                          <a:spcPts val="2000"/>
                        </a:lnSpc>
                        <a:spcAft>
                          <a:spcPts val="0"/>
                        </a:spcAft>
                      </a:pPr>
                      <a:r>
                        <a:rPr lang="zh-CN" sz="1200" kern="0" dirty="0">
                          <a:latin typeface="Calibri"/>
                          <a:ea typeface="黑体"/>
                          <a:cs typeface="宋体"/>
                        </a:rPr>
                        <a:t>名称</a:t>
                      </a:r>
                      <a:endParaRPr lang="zh-CN" sz="105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0">
                          <a:latin typeface="Calibri"/>
                          <a:ea typeface="黑体"/>
                          <a:cs typeface="宋体"/>
                        </a:rPr>
                        <a:t>序号</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0">
                          <a:latin typeface="Calibri"/>
                          <a:ea typeface="黑体"/>
                          <a:cs typeface="宋体"/>
                        </a:rPr>
                        <a:t>定义</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0" dirty="0">
                          <a:latin typeface="Calibri"/>
                          <a:ea typeface="黑体"/>
                          <a:cs typeface="宋体"/>
                        </a:rPr>
                        <a:t>说明</a:t>
                      </a:r>
                      <a:endParaRPr lang="zh-CN" sz="105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7813">
                <a:tc rowSpan="2">
                  <a:txBody>
                    <a:bodyPr/>
                    <a:lstStyle/>
                    <a:p>
                      <a:pPr algn="ctr">
                        <a:lnSpc>
                          <a:spcPts val="2000"/>
                        </a:lnSpc>
                        <a:spcAft>
                          <a:spcPts val="0"/>
                        </a:spcAft>
                      </a:pPr>
                      <a:r>
                        <a:rPr lang="zh-CN" sz="1200" kern="0">
                          <a:latin typeface="Calibri"/>
                          <a:ea typeface="黑体"/>
                          <a:cs typeface="宋体"/>
                        </a:rPr>
                        <a:t>电源端</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0">
                          <a:latin typeface="黑体"/>
                          <a:ea typeface="宋体"/>
                          <a:cs typeface="宋体"/>
                        </a:rPr>
                        <a:t>A</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0">
                          <a:latin typeface="Calibri"/>
                          <a:ea typeface="黑体"/>
                          <a:cs typeface="宋体"/>
                        </a:rPr>
                        <a:t>高压正极输入</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endParaRPr lang="en-US" sz="1200" kern="0" dirty="0">
                        <a:latin typeface="黑体"/>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627">
                <a:tc vMerge="1">
                  <a:txBody>
                    <a:bodyPr/>
                    <a:lstStyle/>
                    <a:p>
                      <a:endParaRPr lang="zh-CN" altLang="en-US"/>
                    </a:p>
                  </a:txBody>
                  <a:tcPr/>
                </a:tc>
                <a:tc>
                  <a:txBody>
                    <a:bodyPr/>
                    <a:lstStyle/>
                    <a:p>
                      <a:pPr algn="ctr">
                        <a:lnSpc>
                          <a:spcPts val="2000"/>
                        </a:lnSpc>
                        <a:spcAft>
                          <a:spcPts val="0"/>
                        </a:spcAft>
                      </a:pPr>
                      <a:r>
                        <a:rPr lang="en-US" sz="1200" kern="0">
                          <a:latin typeface="黑体"/>
                          <a:ea typeface="宋体"/>
                          <a:cs typeface="宋体"/>
                        </a:rPr>
                        <a:t>B</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0">
                          <a:latin typeface="Calibri"/>
                          <a:ea typeface="黑体"/>
                          <a:cs typeface="宋体"/>
                        </a:rPr>
                        <a:t>高压负极输入</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endParaRPr lang="en-US" sz="1200" kern="0">
                        <a:latin typeface="黑体"/>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7813">
                <a:tc rowSpan="6">
                  <a:txBody>
                    <a:bodyPr/>
                    <a:lstStyle/>
                    <a:p>
                      <a:pPr algn="ctr">
                        <a:lnSpc>
                          <a:spcPts val="2000"/>
                        </a:lnSpc>
                        <a:spcAft>
                          <a:spcPts val="0"/>
                        </a:spcAft>
                      </a:pPr>
                      <a:r>
                        <a:rPr lang="zh-CN" sz="1200" kern="0">
                          <a:latin typeface="Calibri"/>
                          <a:ea typeface="黑体"/>
                          <a:cs typeface="宋体"/>
                        </a:rPr>
                        <a:t>信号端</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0">
                          <a:latin typeface="黑体"/>
                          <a:ea typeface="宋体"/>
                          <a:cs typeface="宋体"/>
                        </a:rPr>
                        <a:t>P1</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0">
                          <a:latin typeface="黑体"/>
                          <a:ea typeface="宋体"/>
                          <a:cs typeface="宋体"/>
                        </a:rPr>
                        <a:t>12V</a:t>
                      </a:r>
                      <a:r>
                        <a:rPr lang="zh-CN" sz="1200" kern="0">
                          <a:latin typeface="Calibri"/>
                          <a:ea typeface="黑体"/>
                          <a:cs typeface="宋体"/>
                        </a:rPr>
                        <a:t>正极输入</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r>
                        <a:rPr lang="en-US" sz="1200" kern="100">
                          <a:solidFill>
                            <a:srgbClr val="000000"/>
                          </a:solidFill>
                          <a:latin typeface="黑体"/>
                          <a:ea typeface="宋体"/>
                          <a:cs typeface="Times New Roman"/>
                        </a:rPr>
                        <a:t>9</a:t>
                      </a:r>
                      <a:r>
                        <a:rPr lang="en-US" sz="1200" kern="100">
                          <a:latin typeface="黑体"/>
                          <a:ea typeface="宋体"/>
                          <a:cs typeface="Times New Roman"/>
                        </a:rPr>
                        <a:t>-</a:t>
                      </a:r>
                      <a:r>
                        <a:rPr lang="en-US" sz="1200" kern="100">
                          <a:solidFill>
                            <a:srgbClr val="000000"/>
                          </a:solidFill>
                          <a:latin typeface="黑体"/>
                          <a:ea typeface="宋体"/>
                          <a:cs typeface="Times New Roman"/>
                        </a:rPr>
                        <a:t>15VDC</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627">
                <a:tc vMerge="1">
                  <a:txBody>
                    <a:bodyPr/>
                    <a:lstStyle/>
                    <a:p>
                      <a:endParaRPr lang="zh-CN" altLang="en-US"/>
                    </a:p>
                  </a:txBody>
                  <a:tcPr/>
                </a:tc>
                <a:tc>
                  <a:txBody>
                    <a:bodyPr/>
                    <a:lstStyle/>
                    <a:p>
                      <a:pPr algn="ctr">
                        <a:lnSpc>
                          <a:spcPts val="2000"/>
                        </a:lnSpc>
                        <a:spcAft>
                          <a:spcPts val="0"/>
                        </a:spcAft>
                      </a:pPr>
                      <a:r>
                        <a:rPr lang="en-US" sz="1200" kern="0">
                          <a:latin typeface="黑体"/>
                          <a:ea typeface="宋体"/>
                          <a:cs typeface="宋体"/>
                        </a:rPr>
                        <a:t>P2</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0" dirty="0">
                          <a:latin typeface="Calibri"/>
                          <a:ea typeface="黑体"/>
                          <a:cs typeface="宋体"/>
                        </a:rPr>
                        <a:t>启停信号输入</a:t>
                      </a:r>
                      <a:endParaRPr lang="zh-CN" sz="105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r>
                        <a:rPr lang="en-US" sz="1200" kern="100">
                          <a:solidFill>
                            <a:srgbClr val="000000"/>
                          </a:solidFill>
                          <a:latin typeface="黑体"/>
                          <a:ea typeface="宋体"/>
                          <a:cs typeface="Times New Roman"/>
                        </a:rPr>
                        <a:t>ON/OFF</a:t>
                      </a:r>
                      <a:r>
                        <a:rPr lang="zh-CN" sz="1200" kern="100">
                          <a:solidFill>
                            <a:srgbClr val="000000"/>
                          </a:solidFill>
                          <a:latin typeface="Calibri"/>
                          <a:ea typeface="黑体"/>
                          <a:cs typeface="Times New Roman"/>
                        </a:rPr>
                        <a:t>；低电平启动，悬空及高电平停止</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5627">
                <a:tc vMerge="1">
                  <a:txBody>
                    <a:bodyPr/>
                    <a:lstStyle/>
                    <a:p>
                      <a:endParaRPr lang="zh-CN" altLang="en-US"/>
                    </a:p>
                  </a:txBody>
                  <a:tcPr/>
                </a:tc>
                <a:tc>
                  <a:txBody>
                    <a:bodyPr/>
                    <a:lstStyle/>
                    <a:p>
                      <a:pPr algn="ctr">
                        <a:lnSpc>
                          <a:spcPts val="2000"/>
                        </a:lnSpc>
                        <a:spcAft>
                          <a:spcPts val="0"/>
                        </a:spcAft>
                      </a:pPr>
                      <a:r>
                        <a:rPr lang="en-US" sz="1200" kern="0">
                          <a:latin typeface="黑体"/>
                          <a:ea typeface="宋体"/>
                          <a:cs typeface="宋体"/>
                        </a:rPr>
                        <a:t>P3</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200" kern="0">
                          <a:latin typeface="Calibri"/>
                          <a:ea typeface="黑体"/>
                          <a:cs typeface="宋体"/>
                        </a:rPr>
                        <a:t>调速信号输入</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r>
                        <a:rPr lang="en-US" sz="1200" kern="100">
                          <a:solidFill>
                            <a:srgbClr val="000000"/>
                          </a:solidFill>
                          <a:latin typeface="黑体"/>
                          <a:ea typeface="宋体"/>
                          <a:cs typeface="Times New Roman"/>
                        </a:rPr>
                        <a:t>400Hz 12VDC PWM</a:t>
                      </a:r>
                      <a:r>
                        <a:rPr lang="zh-CN" sz="1200" kern="100">
                          <a:solidFill>
                            <a:srgbClr val="000000"/>
                          </a:solidFill>
                          <a:latin typeface="Calibri"/>
                          <a:ea typeface="黑体"/>
                          <a:cs typeface="Times New Roman"/>
                        </a:rPr>
                        <a:t>信号；占空比调速</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7813">
                <a:tc vMerge="1">
                  <a:txBody>
                    <a:bodyPr/>
                    <a:lstStyle/>
                    <a:p>
                      <a:endParaRPr lang="zh-CN" altLang="en-US"/>
                    </a:p>
                  </a:txBody>
                  <a:tcPr/>
                </a:tc>
                <a:tc>
                  <a:txBody>
                    <a:bodyPr/>
                    <a:lstStyle/>
                    <a:p>
                      <a:pPr algn="ctr">
                        <a:lnSpc>
                          <a:spcPts val="2000"/>
                        </a:lnSpc>
                        <a:spcAft>
                          <a:spcPts val="0"/>
                        </a:spcAft>
                      </a:pPr>
                      <a:r>
                        <a:rPr lang="en-US" sz="1200" kern="0">
                          <a:latin typeface="黑体"/>
                          <a:ea typeface="宋体"/>
                          <a:cs typeface="宋体"/>
                        </a:rPr>
                        <a:t>P4</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0">
                          <a:latin typeface="黑体"/>
                          <a:ea typeface="宋体"/>
                          <a:cs typeface="宋体"/>
                        </a:rPr>
                        <a:t>12V</a:t>
                      </a:r>
                      <a:r>
                        <a:rPr lang="zh-CN" sz="1200" kern="0">
                          <a:latin typeface="Calibri"/>
                          <a:ea typeface="黑体"/>
                          <a:cs typeface="宋体"/>
                        </a:rPr>
                        <a:t>负极输入</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endParaRPr lang="en-US" sz="1200" kern="0">
                        <a:latin typeface="黑体"/>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7813">
                <a:tc vMerge="1">
                  <a:txBody>
                    <a:bodyPr/>
                    <a:lstStyle/>
                    <a:p>
                      <a:endParaRPr lang="zh-CN" altLang="en-US"/>
                    </a:p>
                  </a:txBody>
                  <a:tcPr/>
                </a:tc>
                <a:tc>
                  <a:txBody>
                    <a:bodyPr/>
                    <a:lstStyle/>
                    <a:p>
                      <a:pPr algn="ctr">
                        <a:lnSpc>
                          <a:spcPts val="2000"/>
                        </a:lnSpc>
                        <a:spcAft>
                          <a:spcPts val="0"/>
                        </a:spcAft>
                      </a:pPr>
                      <a:r>
                        <a:rPr lang="en-US" sz="1200" kern="0">
                          <a:latin typeface="黑体"/>
                          <a:ea typeface="宋体"/>
                          <a:cs typeface="宋体"/>
                        </a:rPr>
                        <a:t>P5</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0">
                          <a:latin typeface="黑体"/>
                          <a:ea typeface="宋体"/>
                          <a:cs typeface="宋体"/>
                        </a:rPr>
                        <a:t>CAN-H</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r>
                        <a:rPr lang="zh-CN" sz="1200" kern="0">
                          <a:latin typeface="Calibri"/>
                          <a:ea typeface="黑体"/>
                          <a:cs typeface="宋体"/>
                        </a:rPr>
                        <a:t>预留</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7813">
                <a:tc vMerge="1">
                  <a:txBody>
                    <a:bodyPr/>
                    <a:lstStyle/>
                    <a:p>
                      <a:endParaRPr lang="zh-CN" altLang="en-US"/>
                    </a:p>
                  </a:txBody>
                  <a:tcPr/>
                </a:tc>
                <a:tc>
                  <a:txBody>
                    <a:bodyPr/>
                    <a:lstStyle/>
                    <a:p>
                      <a:pPr algn="ctr">
                        <a:lnSpc>
                          <a:spcPts val="2000"/>
                        </a:lnSpc>
                        <a:spcAft>
                          <a:spcPts val="0"/>
                        </a:spcAft>
                      </a:pPr>
                      <a:r>
                        <a:rPr lang="en-US" sz="1200" kern="0">
                          <a:latin typeface="黑体"/>
                          <a:ea typeface="宋体"/>
                          <a:cs typeface="宋体"/>
                        </a:rPr>
                        <a:t>P6</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en-US" sz="1200" kern="0">
                          <a:latin typeface="黑体"/>
                          <a:ea typeface="宋体"/>
                          <a:cs typeface="宋体"/>
                        </a:rPr>
                        <a:t>CAN-L</a:t>
                      </a:r>
                      <a:endParaRPr lang="zh-CN" sz="1050" kern="10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r>
                        <a:rPr lang="zh-CN" sz="1200" kern="0" dirty="0">
                          <a:latin typeface="Calibri"/>
                          <a:ea typeface="黑体"/>
                          <a:cs typeface="宋体"/>
                        </a:rPr>
                        <a:t>预留</a:t>
                      </a:r>
                      <a:endParaRPr lang="zh-CN" sz="1050" kern="100" dirty="0">
                        <a:latin typeface="Calibri"/>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zh-CN" altLang="en-US" sz="2400" dirty="0" smtClean="0">
                <a:latin typeface="楷体" panose="02010609060101010101" charset="-122"/>
                <a:ea typeface="楷体" panose="02010609060101010101" charset="-122"/>
              </a:rPr>
              <a:t>电机</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2000" dirty="0" smtClean="0">
                <a:latin typeface="楷体" panose="02010609060101010101" charset="-122"/>
                <a:ea typeface="楷体" panose="02010609060101010101" charset="-122"/>
              </a:rPr>
              <a:t>电机类型为</a:t>
            </a:r>
            <a:r>
              <a:rPr lang="en-US" altLang="zh-CN" sz="2000" dirty="0" smtClean="0">
                <a:latin typeface="楷体" panose="02010609060101010101" charset="-122"/>
                <a:ea typeface="楷体" panose="02010609060101010101" charset="-122"/>
              </a:rPr>
              <a:t>BLDC</a:t>
            </a:r>
            <a:r>
              <a:rPr lang="zh-CN" altLang="en-US" sz="2000" dirty="0" smtClean="0">
                <a:latin typeface="楷体" panose="02010609060101010101" charset="-122"/>
                <a:ea typeface="楷体" panose="02010609060101010101" charset="-122"/>
              </a:rPr>
              <a:t>电机（无刷直流电机），无位置传感器。</a:t>
            </a:r>
            <a:endParaRPr lang="en-US" altLang="zh-CN" sz="2000" dirty="0" smtClean="0">
              <a:latin typeface="楷体" panose="02010609060101010101" charset="-122"/>
              <a:ea typeface="楷体" panose="02010609060101010101" charset="-122"/>
            </a:endParaRPr>
          </a:p>
          <a:p>
            <a:pPr marL="0">
              <a:lnSpc>
                <a:spcPct val="150000"/>
              </a:lnSpc>
              <a:spcBef>
                <a:spcPts val="0"/>
              </a:spcBef>
              <a:buNone/>
            </a:pPr>
            <a:r>
              <a:rPr lang="zh-CN" altLang="en-US" sz="2000" dirty="0" smtClean="0">
                <a:latin typeface="楷体" panose="02010609060101010101" charset="-122"/>
                <a:ea typeface="楷体" panose="02010609060101010101" charset="-122"/>
              </a:rPr>
              <a:t>现在所用电机为外径</a:t>
            </a:r>
            <a:r>
              <a:rPr lang="en-US" altLang="zh-CN" sz="2000" dirty="0" smtClean="0">
                <a:latin typeface="楷体" panose="02010609060101010101" charset="-122"/>
                <a:ea typeface="楷体" panose="02010609060101010101" charset="-122"/>
              </a:rPr>
              <a:t>φ85，9</a:t>
            </a:r>
            <a:r>
              <a:rPr lang="zh-CN" altLang="en-US" sz="2000" dirty="0" smtClean="0">
                <a:latin typeface="楷体" panose="02010609060101010101" charset="-122"/>
                <a:ea typeface="楷体" panose="02010609060101010101" charset="-122"/>
              </a:rPr>
              <a:t>槽</a:t>
            </a:r>
            <a:r>
              <a:rPr lang="en-US" altLang="zh-CN" sz="2000" dirty="0" smtClean="0">
                <a:latin typeface="楷体" panose="02010609060101010101" charset="-122"/>
                <a:ea typeface="楷体" panose="02010609060101010101" charset="-122"/>
              </a:rPr>
              <a:t>6</a:t>
            </a:r>
            <a:r>
              <a:rPr lang="zh-CN" altLang="en-US" sz="2000" dirty="0" smtClean="0">
                <a:latin typeface="楷体" panose="02010609060101010101" charset="-122"/>
                <a:ea typeface="楷体" panose="02010609060101010101" charset="-122"/>
              </a:rPr>
              <a:t>级，磁钢为内嵌式，所用漆包线绝缘等级为</a:t>
            </a:r>
            <a:r>
              <a:rPr lang="en-US" altLang="zh-CN" sz="2000" dirty="0" smtClean="0">
                <a:latin typeface="楷体" panose="02010609060101010101" charset="-122"/>
                <a:ea typeface="楷体" panose="02010609060101010101" charset="-122"/>
              </a:rPr>
              <a:t>F</a:t>
            </a:r>
            <a:r>
              <a:rPr lang="zh-CN" altLang="en-US" sz="2000" smtClean="0">
                <a:latin typeface="楷体" panose="02010609060101010101" charset="-122"/>
                <a:ea typeface="楷体" panose="02010609060101010101" charset="-122"/>
              </a:rPr>
              <a:t>级。</a:t>
            </a:r>
            <a:endParaRPr lang="en-US" altLang="zh-CN" sz="20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28</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indent="0">
              <a:lnSpc>
                <a:spcPct val="100000"/>
              </a:lnSpc>
              <a:spcBef>
                <a:spcPts val="0"/>
              </a:spcBef>
              <a:buNone/>
            </a:pPr>
            <a:r>
              <a:rPr lang="zh-CN" altLang="en-US" sz="2000" dirty="0" smtClean="0">
                <a:latin typeface="楷体" panose="02010609060101010101" charset="-122"/>
                <a:ea typeface="楷体" panose="02010609060101010101" charset="-122"/>
              </a:rPr>
              <a:t>压缩机的控制方式</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1.ON/OFF+PWM</a:t>
            </a:r>
          </a:p>
          <a:p>
            <a:pPr marL="0" indent="0">
              <a:lnSpc>
                <a:spcPct val="150000"/>
              </a:lnSpc>
              <a:spcBef>
                <a:spcPts val="0"/>
              </a:spcBef>
              <a:buNone/>
            </a:pPr>
            <a:r>
              <a:rPr lang="en-US" altLang="zh-CN" sz="2000" dirty="0" smtClean="0">
                <a:latin typeface="楷体" panose="02010609060101010101" charset="-122"/>
                <a:ea typeface="楷体" panose="02010609060101010101" charset="-122"/>
              </a:rPr>
              <a:t>ON/OFF</a:t>
            </a:r>
            <a:r>
              <a:rPr lang="zh-CN" altLang="en-US" sz="2000" dirty="0" smtClean="0">
                <a:latin typeface="楷体" panose="02010609060101010101" charset="-122"/>
                <a:ea typeface="楷体" panose="02010609060101010101" charset="-122"/>
              </a:rPr>
              <a:t>启停是通过判断信号端的</a:t>
            </a:r>
            <a:r>
              <a:rPr lang="en-US" altLang="zh-CN" sz="2000" dirty="0" smtClean="0">
                <a:latin typeface="楷体" panose="02010609060101010101" charset="-122"/>
                <a:ea typeface="楷体" panose="02010609060101010101" charset="-122"/>
              </a:rPr>
              <a:t>P2</a:t>
            </a:r>
            <a:r>
              <a:rPr lang="zh-CN" altLang="en-US" sz="2000" dirty="0" smtClean="0">
                <a:latin typeface="楷体" panose="02010609060101010101" charset="-122"/>
                <a:ea typeface="楷体" panose="02010609060101010101" charset="-122"/>
              </a:rPr>
              <a:t>针脚电压状态确定压缩机是否工作，常用规则是低电平（接地）启动</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悬空停止，也可以改为高电平启动</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悬空停止。</a:t>
            </a:r>
            <a:endParaRPr lang="en-US" altLang="zh-CN" sz="2000" dirty="0" smtClean="0">
              <a:latin typeface="楷体" panose="02010609060101010101" charset="-122"/>
              <a:ea typeface="楷体" panose="02010609060101010101" charset="-122"/>
            </a:endParaRPr>
          </a:p>
          <a:p>
            <a:pPr marL="0">
              <a:lnSpc>
                <a:spcPct val="150000"/>
              </a:lnSpc>
              <a:spcBef>
                <a:spcPts val="0"/>
              </a:spcBef>
              <a:buNone/>
            </a:pPr>
            <a:r>
              <a:rPr lang="en-US" altLang="zh-CN" sz="2000" dirty="0" smtClean="0">
                <a:latin typeface="楷体" panose="02010609060101010101" charset="-122"/>
                <a:ea typeface="楷体" panose="02010609060101010101" charset="-122"/>
              </a:rPr>
              <a:t>PWM</a:t>
            </a:r>
            <a:r>
              <a:rPr lang="zh-CN" altLang="en-US" sz="2000" dirty="0" smtClean="0">
                <a:latin typeface="楷体" panose="02010609060101010101" charset="-122"/>
                <a:ea typeface="楷体" panose="02010609060101010101" charset="-122"/>
              </a:rPr>
              <a:t>调速是通过判断信号端的</a:t>
            </a:r>
            <a:r>
              <a:rPr lang="en-US" altLang="zh-CN" sz="2000" dirty="0" smtClean="0">
                <a:latin typeface="楷体" panose="02010609060101010101" charset="-122"/>
                <a:ea typeface="楷体" panose="02010609060101010101" charset="-122"/>
              </a:rPr>
              <a:t>P3</a:t>
            </a:r>
            <a:r>
              <a:rPr lang="zh-CN" altLang="en-US" sz="2000" dirty="0" smtClean="0">
                <a:latin typeface="楷体" panose="02010609060101010101" charset="-122"/>
                <a:ea typeface="楷体" panose="02010609060101010101" charset="-122"/>
              </a:rPr>
              <a:t>针脚的高电平占空比确定压缩机转速。常用规则高电平</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悬空最高转速，低电平最低转速，中间占空比调速。</a:t>
            </a:r>
            <a:r>
              <a:rPr lang="en-US" altLang="zh-CN" sz="2000" dirty="0" smtClean="0">
                <a:latin typeface="楷体" panose="02010609060101010101" charset="-122"/>
                <a:ea typeface="楷体" panose="02010609060101010101" charset="-122"/>
              </a:rPr>
              <a:t>PWM</a:t>
            </a:r>
            <a:r>
              <a:rPr lang="zh-CN" altLang="en-US" sz="2000" dirty="0" smtClean="0">
                <a:latin typeface="楷体" panose="02010609060101010101" charset="-122"/>
                <a:ea typeface="楷体" panose="02010609060101010101" charset="-122"/>
              </a:rPr>
              <a:t>调速信号容易受到干扰导致压缩机转速不稳。</a:t>
            </a:r>
            <a:endParaRPr lang="en-US" altLang="zh-CN" sz="2000" dirty="0" smtClean="0">
              <a:latin typeface="楷体" panose="02010609060101010101" charset="-122"/>
              <a:ea typeface="楷体" panose="02010609060101010101" charset="-122"/>
            </a:endParaRPr>
          </a:p>
          <a:p>
            <a:pPr marL="0" indent="0">
              <a:lnSpc>
                <a:spcPct val="100000"/>
              </a:lnSpc>
              <a:spcBef>
                <a:spcPts val="0"/>
              </a:spcBef>
              <a:buNone/>
            </a:pPr>
            <a:endParaRPr lang="en-US" altLang="zh-CN" sz="2000" dirty="0" smtClean="0">
              <a:latin typeface="楷体" panose="02010609060101010101" charset="-122"/>
              <a:ea typeface="楷体" panose="02010609060101010101" charset="-122"/>
            </a:endParaRPr>
          </a:p>
          <a:p>
            <a:pPr marL="0" indent="0">
              <a:lnSpc>
                <a:spcPct val="100000"/>
              </a:lnSpc>
              <a:spcBef>
                <a:spcPts val="0"/>
              </a:spcBef>
              <a:buNone/>
            </a:pPr>
            <a:endParaRPr lang="en-US" altLang="zh-CN" sz="2000" dirty="0" smtClean="0">
              <a:latin typeface="楷体" panose="02010609060101010101" charset="-122"/>
              <a:ea typeface="楷体" panose="02010609060101010101" charset="-122"/>
            </a:endParaRPr>
          </a:p>
          <a:p>
            <a:pPr marL="0" indent="0">
              <a:lnSpc>
                <a:spcPct val="100000"/>
              </a:lnSpc>
              <a:spcBef>
                <a:spcPts val="0"/>
              </a:spcBef>
              <a:buNone/>
            </a:pPr>
            <a:endParaRPr lang="zh-CN" altLang="zh-CN" sz="1600" dirty="0" smtClean="0"/>
          </a:p>
          <a:p>
            <a:pPr marL="0" indent="0">
              <a:lnSpc>
                <a:spcPct val="100000"/>
              </a:lnSpc>
              <a:buNone/>
            </a:pPr>
            <a:endParaRPr lang="zh-CN" altLang="zh-CN" dirty="0" smtClean="0"/>
          </a:p>
          <a:p>
            <a:pPr marL="0" indent="0">
              <a:lnSpc>
                <a:spcPct val="100000"/>
              </a:lnSpc>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29</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a:lnSpc>
                <a:spcPct val="150000"/>
              </a:lnSpc>
              <a:spcBef>
                <a:spcPts val="0"/>
              </a:spcBef>
              <a:buNone/>
            </a:pPr>
            <a:r>
              <a:rPr lang="en-US" altLang="zh-CN" sz="2400" dirty="0" smtClean="0">
                <a:latin typeface="楷体" panose="02010609060101010101" charset="-122"/>
                <a:ea typeface="楷体" panose="02010609060101010101" charset="-122"/>
              </a:rPr>
              <a:t>PWM</a:t>
            </a:r>
            <a:r>
              <a:rPr lang="zh-CN" altLang="en-US" sz="2400" dirty="0" smtClean="0">
                <a:latin typeface="楷体" panose="02010609060101010101" charset="-122"/>
                <a:ea typeface="楷体" panose="02010609060101010101" charset="-122"/>
              </a:rPr>
              <a:t>调速计算</a:t>
            </a:r>
            <a:endParaRPr lang="en-US" altLang="zh-CN" sz="24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转速</a:t>
            </a:r>
            <a:r>
              <a:rPr lang="zh-CN" altLang="zh-CN" sz="1600" dirty="0" smtClean="0">
                <a:latin typeface="楷体" panose="02010609060101010101" charset="-122"/>
                <a:ea typeface="楷体" panose="02010609060101010101" charset="-122"/>
              </a:rPr>
              <a:t>计算公式</a:t>
            </a:r>
            <a:r>
              <a:rPr lang="en-US" altLang="zh-CN" sz="1600" dirty="0" smtClean="0">
                <a:latin typeface="楷体" panose="02010609060101010101" charset="-122"/>
                <a:ea typeface="楷体" panose="02010609060101010101" charset="-122"/>
              </a:rPr>
              <a:t>n(rpm)=A+(B-A)*X  </a:t>
            </a:r>
            <a:r>
              <a:rPr lang="en-US" altLang="zh-CN" sz="1600" dirty="0" err="1" smtClean="0">
                <a:latin typeface="楷体" panose="02010609060101010101" charset="-122"/>
                <a:ea typeface="楷体" panose="02010609060101010101" charset="-122"/>
              </a:rPr>
              <a:t>X</a:t>
            </a:r>
            <a:r>
              <a:rPr lang="zh-CN" altLang="zh-CN" sz="1600" dirty="0" smtClean="0">
                <a:latin typeface="楷体" panose="02010609060101010101" charset="-122"/>
                <a:ea typeface="楷体" panose="02010609060101010101" charset="-122"/>
              </a:rPr>
              <a:t>为</a:t>
            </a:r>
            <a:r>
              <a:rPr lang="en-US" altLang="zh-CN" sz="1600" dirty="0" smtClean="0">
                <a:latin typeface="楷体" panose="02010609060101010101" charset="-122"/>
                <a:ea typeface="楷体" panose="02010609060101010101" charset="-122"/>
              </a:rPr>
              <a:t>PWM</a:t>
            </a:r>
            <a:r>
              <a:rPr lang="zh-CN" altLang="zh-CN" sz="1600" dirty="0" smtClean="0">
                <a:latin typeface="楷体" panose="02010609060101010101" charset="-122"/>
                <a:ea typeface="楷体" panose="02010609060101010101" charset="-122"/>
              </a:rPr>
              <a:t>百分比</a:t>
            </a:r>
            <a:r>
              <a:rPr lang="zh-CN" altLang="en-US"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A</a:t>
            </a:r>
            <a:r>
              <a:rPr lang="zh-CN" altLang="en-US" sz="1600" dirty="0" smtClean="0">
                <a:latin typeface="楷体" panose="02010609060101010101" charset="-122"/>
                <a:ea typeface="楷体" panose="02010609060101010101" charset="-122"/>
              </a:rPr>
              <a:t>为最高转速，</a:t>
            </a:r>
            <a:r>
              <a:rPr lang="en-US" altLang="zh-CN" sz="1600" dirty="0" smtClean="0">
                <a:latin typeface="楷体" panose="02010609060101010101" charset="-122"/>
                <a:ea typeface="楷体" panose="02010609060101010101" charset="-122"/>
              </a:rPr>
              <a:t>B</a:t>
            </a:r>
            <a:r>
              <a:rPr lang="zh-CN" altLang="en-US" sz="1600" dirty="0" smtClean="0">
                <a:latin typeface="楷体" panose="02010609060101010101" charset="-122"/>
                <a:ea typeface="楷体" panose="02010609060101010101" charset="-122"/>
              </a:rPr>
              <a:t>为最低转速</a:t>
            </a: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r>
              <a:rPr lang="zh-CN" altLang="en-US" sz="1600" dirty="0" smtClean="0">
                <a:latin typeface="楷体" panose="02010609060101010101" charset="-122"/>
                <a:ea typeface="楷体" panose="02010609060101010101" charset="-122"/>
              </a:rPr>
              <a:t>以</a:t>
            </a:r>
            <a:r>
              <a:rPr lang="en-US" altLang="zh-CN" sz="1600" dirty="0" smtClean="0">
                <a:latin typeface="楷体" panose="02010609060101010101" charset="-122"/>
                <a:ea typeface="楷体" panose="02010609060101010101" charset="-122"/>
              </a:rPr>
              <a:t>BET27-C901</a:t>
            </a:r>
            <a:r>
              <a:rPr lang="zh-CN" altLang="en-US" sz="1600" dirty="0" smtClean="0">
                <a:latin typeface="楷体" panose="02010609060101010101" charset="-122"/>
                <a:ea typeface="楷体" panose="02010609060101010101" charset="-122"/>
              </a:rPr>
              <a:t>压缩机为例</a:t>
            </a:r>
            <a:r>
              <a:rPr lang="en-US" altLang="zh-CN" sz="1600" dirty="0" smtClean="0">
                <a:latin typeface="楷体" panose="02010609060101010101" charset="-122"/>
                <a:ea typeface="楷体" panose="02010609060101010101" charset="-122"/>
              </a:rPr>
              <a:t>  </a:t>
            </a:r>
            <a:r>
              <a:rPr lang="zh-CN" altLang="en-US" sz="1600" dirty="0" smtClean="0">
                <a:latin typeface="楷体" panose="02010609060101010101" charset="-122"/>
                <a:ea typeface="楷体" panose="02010609060101010101" charset="-122"/>
              </a:rPr>
              <a:t>最低转速</a:t>
            </a:r>
            <a:r>
              <a:rPr lang="en-US" altLang="zh-CN" sz="1600" dirty="0" smtClean="0">
                <a:latin typeface="楷体" panose="02010609060101010101" charset="-122"/>
                <a:ea typeface="楷体" panose="02010609060101010101" charset="-122"/>
              </a:rPr>
              <a:t>1000rpm</a:t>
            </a:r>
            <a:r>
              <a:rPr lang="zh-CN" altLang="en-US" sz="1600" dirty="0" smtClean="0">
                <a:latin typeface="楷体" panose="02010609060101010101" charset="-122"/>
                <a:ea typeface="楷体" panose="02010609060101010101" charset="-122"/>
              </a:rPr>
              <a:t> 最高转速</a:t>
            </a:r>
            <a:r>
              <a:rPr lang="en-US" altLang="zh-CN" sz="1600" dirty="0" smtClean="0">
                <a:latin typeface="楷体" panose="02010609060101010101" charset="-122"/>
                <a:ea typeface="楷体" panose="02010609060101010101" charset="-122"/>
              </a:rPr>
              <a:t>6000rpm</a:t>
            </a:r>
          </a:p>
          <a:p>
            <a:pPr marL="0">
              <a:lnSpc>
                <a:spcPct val="150000"/>
              </a:lnSpc>
              <a:spcBef>
                <a:spcPts val="0"/>
              </a:spcBef>
              <a:buNone/>
            </a:pPr>
            <a:r>
              <a:rPr lang="zh-CN" altLang="en-US" sz="1600" dirty="0" smtClean="0">
                <a:latin typeface="楷体" panose="02010609060101010101" charset="-122"/>
                <a:ea typeface="楷体" panose="02010609060101010101" charset="-122"/>
              </a:rPr>
              <a:t>占空比</a:t>
            </a:r>
            <a:r>
              <a:rPr lang="en-US" altLang="zh-CN" sz="1600" dirty="0" smtClean="0">
                <a:latin typeface="楷体" panose="02010609060101010101" charset="-122"/>
                <a:ea typeface="楷体" panose="02010609060101010101" charset="-122"/>
              </a:rPr>
              <a:t>60%</a:t>
            </a:r>
            <a:r>
              <a:rPr lang="zh-CN" altLang="en-US" sz="1600" dirty="0" smtClean="0">
                <a:latin typeface="楷体" panose="02010609060101010101" charset="-122"/>
                <a:ea typeface="楷体" panose="02010609060101010101" charset="-122"/>
              </a:rPr>
              <a:t>，实际转速为</a:t>
            </a:r>
            <a:r>
              <a:rPr lang="en-US" altLang="zh-CN" sz="1600" dirty="0" smtClean="0">
                <a:latin typeface="楷体" panose="02010609060101010101" charset="-122"/>
                <a:ea typeface="楷体" panose="02010609060101010101" charset="-122"/>
              </a:rPr>
              <a:t>4000rpm</a:t>
            </a: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r>
              <a:rPr lang="en-US" altLang="zh-CN" sz="1600" dirty="0" smtClean="0">
                <a:latin typeface="楷体" panose="02010609060101010101" charset="-122"/>
                <a:ea typeface="楷体" panose="02010609060101010101" charset="-122"/>
              </a:rPr>
              <a:t>    </a:t>
            </a:r>
          </a:p>
          <a:p>
            <a:pPr marL="0">
              <a:lnSpc>
                <a:spcPct val="150000"/>
              </a:lnSpc>
              <a:spcBef>
                <a:spcPts val="0"/>
              </a:spcBef>
              <a:buNone/>
            </a:pPr>
            <a:r>
              <a:rPr lang="en-US" altLang="zh-CN" sz="1600" dirty="0" smtClean="0">
                <a:latin typeface="楷体" panose="02010609060101010101" charset="-122"/>
                <a:ea typeface="楷体" panose="02010609060101010101" charset="-122"/>
              </a:rPr>
              <a:t>    </a:t>
            </a: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marL="0">
              <a:lnSpc>
                <a:spcPct val="150000"/>
              </a:lnSpc>
              <a:spcBef>
                <a:spcPts val="0"/>
              </a:spcBef>
              <a:buNone/>
            </a:pPr>
            <a:endParaRPr lang="en-US" altLang="zh-CN" sz="16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5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en-US" altLang="zh-CN" sz="2000" dirty="0" smtClean="0">
              <a:latin typeface="楷体" panose="02010609060101010101" charset="-122"/>
              <a:ea typeface="楷体" panose="02010609060101010101" charset="-122"/>
            </a:endParaRPr>
          </a:p>
          <a:p>
            <a:pPr>
              <a:lnSpc>
                <a:spcPct val="100000"/>
              </a:lnSpc>
              <a:spcBef>
                <a:spcPts val="0"/>
              </a:spcBef>
              <a:buNone/>
            </a:pPr>
            <a:endParaRPr lang="zh-CN" altLang="zh-CN" sz="1600" dirty="0" smtClean="0"/>
          </a:p>
          <a:p>
            <a:pPr>
              <a:buNone/>
            </a:pPr>
            <a:endParaRPr lang="zh-CN" altLang="zh-CN" dirty="0" smtClean="0"/>
          </a:p>
          <a:p>
            <a:pPr>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30</a:t>
            </a:fld>
            <a:endParaRPr lang="zh-CN" altLang="en-US" dirty="0">
              <a:latin typeface="+mn-lt"/>
              <a:ea typeface="+mn-ea"/>
              <a:cs typeface="+mn-cs"/>
            </a:endParaRPr>
          </a:p>
        </p:txBody>
      </p:sp>
      <p:pic>
        <p:nvPicPr>
          <p:cNvPr id="7" name="图片 6"/>
          <p:cNvPicPr/>
          <p:nvPr/>
        </p:nvPicPr>
        <p:blipFill>
          <a:blip r:embed="rId2" cstate="print"/>
          <a:srcRect/>
          <a:stretch>
            <a:fillRect/>
          </a:stretch>
        </p:blipFill>
        <p:spPr bwMode="auto">
          <a:xfrm>
            <a:off x="4937454" y="1928363"/>
            <a:ext cx="3701721" cy="2843662"/>
          </a:xfrm>
          <a:prstGeom prst="rect">
            <a:avLst/>
          </a:prstGeom>
          <a:noFill/>
          <a:ln w="9525">
            <a:noFill/>
            <a:miter lim="800000"/>
            <a:headEnd/>
            <a:tailEnd/>
          </a:ln>
        </p:spPr>
      </p:pic>
      <p:pic>
        <p:nvPicPr>
          <p:cNvPr id="39939" name="Picture 3"/>
          <p:cNvPicPr>
            <a:picLocks noChangeAspect="1" noChangeArrowheads="1"/>
          </p:cNvPicPr>
          <p:nvPr/>
        </p:nvPicPr>
        <p:blipFill>
          <a:blip r:embed="rId3" cstate="print"/>
          <a:srcRect/>
          <a:stretch>
            <a:fillRect/>
          </a:stretch>
        </p:blipFill>
        <p:spPr bwMode="auto">
          <a:xfrm>
            <a:off x="1142999" y="2272457"/>
            <a:ext cx="3800476" cy="22487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a:bodyPr>
          <a:lstStyle/>
          <a:p>
            <a:pPr marL="0" indent="0">
              <a:lnSpc>
                <a:spcPct val="100000"/>
              </a:lnSpc>
              <a:spcBef>
                <a:spcPts val="0"/>
              </a:spcBef>
              <a:buNone/>
            </a:pPr>
            <a:r>
              <a:rPr lang="zh-CN" altLang="en-US" sz="2000" dirty="0" smtClean="0">
                <a:latin typeface="楷体" panose="02010609060101010101" charset="-122"/>
                <a:ea typeface="楷体" panose="02010609060101010101" charset="-122"/>
              </a:rPr>
              <a:t>压缩机的控制方式</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2.CAN2.0B</a:t>
            </a:r>
            <a:r>
              <a:rPr lang="zh-CN" altLang="en-US" sz="2000" dirty="0" smtClean="0">
                <a:latin typeface="楷体" panose="02010609060101010101" charset="-122"/>
                <a:ea typeface="楷体" panose="02010609060101010101" charset="-122"/>
              </a:rPr>
              <a:t>或</a:t>
            </a:r>
            <a:r>
              <a:rPr lang="en-US" altLang="zh-CN" sz="2000" dirty="0" smtClean="0">
                <a:latin typeface="楷体" panose="02010609060101010101" charset="-122"/>
                <a:ea typeface="楷体" panose="02010609060101010101" charset="-122"/>
              </a:rPr>
              <a:t>LIN2.1</a:t>
            </a:r>
            <a:r>
              <a:rPr lang="zh-CN" altLang="en-US" sz="2000" dirty="0" smtClean="0">
                <a:latin typeface="楷体" panose="02010609060101010101" charset="-122"/>
                <a:ea typeface="楷体" panose="02010609060101010101" charset="-122"/>
              </a:rPr>
              <a:t>控制</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CAN</a:t>
            </a:r>
            <a:r>
              <a:rPr lang="zh-CN" altLang="en-US" sz="2000" dirty="0" smtClean="0">
                <a:latin typeface="楷体" panose="02010609060101010101" charset="-122"/>
                <a:ea typeface="楷体" panose="02010609060101010101" charset="-122"/>
              </a:rPr>
              <a:t>总线或</a:t>
            </a:r>
            <a:r>
              <a:rPr lang="en-US" altLang="zh-CN" sz="2000" dirty="0" smtClean="0">
                <a:latin typeface="楷体" panose="02010609060101010101" charset="-122"/>
                <a:ea typeface="楷体" panose="02010609060101010101" charset="-122"/>
              </a:rPr>
              <a:t>LIN</a:t>
            </a:r>
            <a:r>
              <a:rPr lang="zh-CN" altLang="en-US" sz="2000" dirty="0" smtClean="0">
                <a:latin typeface="楷体" panose="02010609060101010101" charset="-122"/>
                <a:ea typeface="楷体" panose="02010609060101010101" charset="-122"/>
              </a:rPr>
              <a:t>总线可以双向传输信息，即</a:t>
            </a:r>
            <a:r>
              <a:rPr lang="en-US" altLang="zh-CN" sz="2000" dirty="0" smtClean="0">
                <a:latin typeface="楷体" panose="02010609060101010101" charset="-122"/>
                <a:ea typeface="楷体" panose="02010609060101010101" charset="-122"/>
              </a:rPr>
              <a:t>VCU</a:t>
            </a:r>
            <a:r>
              <a:rPr lang="zh-CN" altLang="en-US" sz="2000" dirty="0" smtClean="0">
                <a:latin typeface="楷体" panose="02010609060101010101" charset="-122"/>
                <a:ea typeface="楷体" panose="02010609060101010101" charset="-122"/>
              </a:rPr>
              <a:t>可以向控制器发送指令，控制器也可以向</a:t>
            </a:r>
            <a:r>
              <a:rPr lang="en-US" altLang="zh-CN" sz="2000" dirty="0" smtClean="0">
                <a:latin typeface="楷体" panose="02010609060101010101" charset="-122"/>
                <a:ea typeface="楷体" panose="02010609060101010101" charset="-122"/>
              </a:rPr>
              <a:t>VCU</a:t>
            </a:r>
            <a:r>
              <a:rPr lang="zh-CN" altLang="en-US" sz="2000" dirty="0" smtClean="0">
                <a:latin typeface="楷体" panose="02010609060101010101" charset="-122"/>
                <a:ea typeface="楷体" panose="02010609060101010101" charset="-122"/>
              </a:rPr>
              <a:t>上报工作状态。</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VCU</a:t>
            </a:r>
            <a:r>
              <a:rPr lang="zh-CN" altLang="en-US" sz="2000" dirty="0" smtClean="0">
                <a:latin typeface="楷体" panose="02010609060101010101" charset="-122"/>
                <a:ea typeface="楷体" panose="02010609060101010101" charset="-122"/>
              </a:rPr>
              <a:t>通常发送给控制器的指令为启动</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停止、工作转速、最大允许电流等。</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zh-CN" altLang="en-US" sz="2000" dirty="0" smtClean="0">
                <a:latin typeface="楷体" panose="02010609060101010101" charset="-122"/>
                <a:ea typeface="楷体" panose="02010609060101010101" charset="-122"/>
              </a:rPr>
              <a:t>控制器通常上报的信息有工作状态（启动</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停止）、实际转速、当前电压、当前电流、当前故障（欠压</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过压</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过流</a:t>
            </a:r>
            <a:r>
              <a:rPr lang="en-US" altLang="zh-CN" sz="2000" dirty="0" smtClean="0">
                <a:latin typeface="楷体" panose="02010609060101010101" charset="-122"/>
                <a:ea typeface="楷体" panose="02010609060101010101" charset="-122"/>
              </a:rPr>
              <a:t>/</a:t>
            </a:r>
            <a:r>
              <a:rPr lang="zh-CN" altLang="en-US" sz="2000" dirty="0" smtClean="0">
                <a:latin typeface="楷体" panose="02010609060101010101" charset="-122"/>
                <a:ea typeface="楷体" panose="02010609060101010101" charset="-122"/>
              </a:rPr>
              <a:t>超温等）。</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r>
              <a:rPr lang="en-US" altLang="zh-CN" sz="2000" dirty="0" smtClean="0">
                <a:latin typeface="楷体" panose="02010609060101010101" charset="-122"/>
                <a:ea typeface="楷体" panose="02010609060101010101" charset="-122"/>
              </a:rPr>
              <a:t>CAN</a:t>
            </a:r>
            <a:r>
              <a:rPr lang="zh-CN" altLang="en-US" sz="2000" dirty="0" smtClean="0">
                <a:latin typeface="楷体" panose="02010609060101010101" charset="-122"/>
                <a:ea typeface="楷体" panose="02010609060101010101" charset="-122"/>
              </a:rPr>
              <a:t>控制还可以做诊断功能和在线软件更新。</a:t>
            </a:r>
            <a:endParaRPr lang="en-US" altLang="zh-CN" sz="2000" dirty="0" smtClean="0">
              <a:latin typeface="楷体" panose="02010609060101010101" charset="-122"/>
              <a:ea typeface="楷体" panose="02010609060101010101" charset="-122"/>
            </a:endParaRPr>
          </a:p>
          <a:p>
            <a:pPr marL="0" indent="0">
              <a:lnSpc>
                <a:spcPct val="150000"/>
              </a:lnSpc>
              <a:spcBef>
                <a:spcPts val="0"/>
              </a:spcBef>
              <a:buNone/>
            </a:pPr>
            <a:endParaRPr lang="en-US" altLang="zh-CN" sz="2000" dirty="0" smtClean="0">
              <a:latin typeface="楷体" panose="02010609060101010101" charset="-122"/>
              <a:ea typeface="楷体" panose="02010609060101010101" charset="-122"/>
            </a:endParaRPr>
          </a:p>
          <a:p>
            <a:pPr marL="0" indent="0">
              <a:lnSpc>
                <a:spcPct val="100000"/>
              </a:lnSpc>
              <a:spcBef>
                <a:spcPts val="0"/>
              </a:spcBef>
              <a:buNone/>
            </a:pPr>
            <a:endParaRPr lang="en-US" altLang="zh-CN" sz="2000" dirty="0" smtClean="0">
              <a:latin typeface="楷体" panose="02010609060101010101" charset="-122"/>
              <a:ea typeface="楷体" panose="02010609060101010101" charset="-122"/>
            </a:endParaRPr>
          </a:p>
          <a:p>
            <a:pPr marL="0" indent="0">
              <a:lnSpc>
                <a:spcPct val="100000"/>
              </a:lnSpc>
              <a:spcBef>
                <a:spcPts val="0"/>
              </a:spcBef>
              <a:buNone/>
            </a:pPr>
            <a:endParaRPr lang="en-US" altLang="zh-CN" sz="2000" dirty="0" smtClean="0">
              <a:latin typeface="楷体" panose="02010609060101010101" charset="-122"/>
              <a:ea typeface="楷体" panose="02010609060101010101" charset="-122"/>
            </a:endParaRPr>
          </a:p>
          <a:p>
            <a:pPr marL="0" indent="0">
              <a:lnSpc>
                <a:spcPct val="100000"/>
              </a:lnSpc>
              <a:spcBef>
                <a:spcPts val="0"/>
              </a:spcBef>
              <a:buNone/>
            </a:pPr>
            <a:endParaRPr lang="zh-CN" altLang="zh-CN" sz="1600" dirty="0" smtClean="0"/>
          </a:p>
          <a:p>
            <a:pPr marL="0" indent="0">
              <a:lnSpc>
                <a:spcPct val="100000"/>
              </a:lnSpc>
              <a:buNone/>
            </a:pPr>
            <a:endParaRPr lang="zh-CN" altLang="zh-CN" dirty="0" smtClean="0"/>
          </a:p>
          <a:p>
            <a:pPr marL="0" indent="0">
              <a:lnSpc>
                <a:spcPct val="100000"/>
              </a:lnSpc>
              <a:buNone/>
            </a:pPr>
            <a:endParaRPr lang="zh-CN" altLang="en-US" dirty="0"/>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31</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87793" y="581026"/>
            <a:ext cx="7332345" cy="4048124"/>
          </a:xfrm>
        </p:spPr>
        <p:txBody>
          <a:bodyPr>
            <a:normAutofit lnSpcReduction="10000"/>
          </a:bodyPr>
          <a:lstStyle/>
          <a:p>
            <a:pPr marL="0">
              <a:spcBef>
                <a:spcPts val="0"/>
              </a:spcBef>
              <a:buNone/>
            </a:pPr>
            <a:r>
              <a:rPr lang="zh-CN" altLang="en-US" sz="2400" dirty="0" smtClean="0">
                <a:latin typeface="楷体" panose="02010609060101010101" charset="-122"/>
                <a:ea typeface="楷体" panose="02010609060101010101" charset="-122"/>
              </a:rPr>
              <a:t>湖南贝特压缩机的型号编号规则</a:t>
            </a:r>
            <a:endParaRPr lang="en-US" altLang="zh-CN" sz="2400" dirty="0" smtClean="0">
              <a:latin typeface="楷体" panose="02010609060101010101" charset="-122"/>
              <a:ea typeface="楷体" panose="02010609060101010101" charset="-122"/>
            </a:endParaRPr>
          </a:p>
          <a:p>
            <a:pPr marL="0">
              <a:spcBef>
                <a:spcPts val="0"/>
              </a:spcBef>
              <a:buNone/>
            </a:pPr>
            <a:r>
              <a:rPr lang="zh-CN" altLang="zh-CN" sz="1600" dirty="0" smtClean="0">
                <a:latin typeface="楷体" panose="02010609060101010101" charset="-122"/>
                <a:ea typeface="楷体" panose="02010609060101010101" charset="-122"/>
              </a:rPr>
              <a:t>压缩机型号：</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 </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a:t>
            </a:r>
            <a:r>
              <a:rPr lang="zh-CN" altLang="zh-CN" sz="1600" u="sng" dirty="0" smtClean="0">
                <a:latin typeface="楷体" panose="02010609060101010101" charset="-122"/>
                <a:ea typeface="楷体" panose="02010609060101010101" charset="-122"/>
              </a:rPr>
              <a:t>□□</a:t>
            </a:r>
            <a:endParaRPr lang="zh-CN" altLang="zh-CN" sz="1600" dirty="0" smtClean="0">
              <a:latin typeface="楷体" panose="02010609060101010101" charset="-122"/>
              <a:ea typeface="楷体" panose="02010609060101010101" charset="-122"/>
            </a:endParaRPr>
          </a:p>
          <a:p>
            <a:pPr marL="0">
              <a:spcBef>
                <a:spcPts val="0"/>
              </a:spcBef>
              <a:buNone/>
            </a:pPr>
            <a:r>
              <a:rPr lang="en-US" altLang="zh-CN" sz="1600" dirty="0" smtClean="0">
                <a:latin typeface="楷体" panose="02010609060101010101" charset="-122"/>
                <a:ea typeface="楷体" panose="02010609060101010101" charset="-122"/>
              </a:rPr>
              <a:t>            1 2 3  4 5     6  7  8 9</a:t>
            </a:r>
          </a:p>
          <a:p>
            <a:pPr marL="0" lvl="0">
              <a:spcBef>
                <a:spcPts val="0"/>
              </a:spcBef>
            </a:pPr>
            <a:r>
              <a:rPr lang="zh-CN" altLang="zh-CN" sz="1600" dirty="0" smtClean="0">
                <a:latin typeface="楷体" panose="02010609060101010101" charset="-122"/>
                <a:ea typeface="楷体" panose="02010609060101010101" charset="-122"/>
              </a:rPr>
              <a:t>型号共</a:t>
            </a:r>
            <a:r>
              <a:rPr lang="en-US" altLang="zh-CN" sz="1600" dirty="0" smtClean="0">
                <a:latin typeface="楷体" panose="02010609060101010101" charset="-122"/>
                <a:ea typeface="楷体" panose="02010609060101010101" charset="-122"/>
              </a:rPr>
              <a:t>9</a:t>
            </a:r>
            <a:r>
              <a:rPr lang="zh-CN" altLang="zh-CN" sz="1600" dirty="0" smtClean="0">
                <a:latin typeface="楷体" panose="02010609060101010101" charset="-122"/>
                <a:ea typeface="楷体" panose="02010609060101010101" charset="-122"/>
              </a:rPr>
              <a:t>位，由字母和数字组成</a:t>
            </a:r>
          </a:p>
          <a:p>
            <a:pPr marL="0" lvl="0">
              <a:spcBef>
                <a:spcPts val="0"/>
              </a:spcBef>
            </a:pPr>
            <a:r>
              <a:rPr lang="zh-CN" altLang="zh-CN" sz="1600" dirty="0" smtClean="0">
                <a:latin typeface="楷体" panose="02010609060101010101" charset="-122"/>
                <a:ea typeface="楷体" panose="02010609060101010101" charset="-122"/>
              </a:rPr>
              <a:t>第</a:t>
            </a:r>
            <a:r>
              <a:rPr lang="en-US" altLang="zh-CN" sz="1600" dirty="0" smtClean="0">
                <a:latin typeface="楷体" panose="02010609060101010101" charset="-122"/>
                <a:ea typeface="楷体" panose="02010609060101010101" charset="-122"/>
              </a:rPr>
              <a:t>1</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2</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3</a:t>
            </a:r>
            <a:r>
              <a:rPr lang="zh-CN" altLang="zh-CN" sz="1600" dirty="0" smtClean="0">
                <a:latin typeface="楷体" panose="02010609060101010101" charset="-122"/>
                <a:ea typeface="楷体" panose="02010609060101010101" charset="-122"/>
              </a:rPr>
              <a:t>位，固定为</a:t>
            </a:r>
            <a:r>
              <a:rPr lang="en-US" altLang="zh-CN" sz="1600" dirty="0" smtClean="0">
                <a:latin typeface="楷体" panose="02010609060101010101" charset="-122"/>
                <a:ea typeface="楷体" panose="02010609060101010101" charset="-122"/>
              </a:rPr>
              <a:t>BET</a:t>
            </a:r>
            <a:r>
              <a:rPr lang="zh-CN" altLang="zh-CN" sz="1600" dirty="0" smtClean="0">
                <a:latin typeface="楷体" panose="02010609060101010101" charset="-122"/>
                <a:ea typeface="楷体" panose="02010609060101010101" charset="-122"/>
              </a:rPr>
              <a:t>，表示湖南贝特公司电动一体式压缩机</a:t>
            </a:r>
          </a:p>
          <a:p>
            <a:pPr marL="0" lvl="0">
              <a:spcBef>
                <a:spcPts val="0"/>
              </a:spcBef>
            </a:pPr>
            <a:r>
              <a:rPr lang="zh-CN" altLang="zh-CN" sz="1600" dirty="0" smtClean="0">
                <a:latin typeface="楷体" panose="02010609060101010101" charset="-122"/>
                <a:ea typeface="楷体" panose="02010609060101010101" charset="-122"/>
              </a:rPr>
              <a:t>第</a:t>
            </a:r>
            <a:r>
              <a:rPr lang="en-US" altLang="zh-CN" sz="1600" dirty="0" smtClean="0">
                <a:latin typeface="楷体" panose="02010609060101010101" charset="-122"/>
                <a:ea typeface="楷体" panose="02010609060101010101" charset="-122"/>
              </a:rPr>
              <a:t>4</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5</a:t>
            </a:r>
            <a:r>
              <a:rPr lang="zh-CN" altLang="zh-CN" sz="1600" dirty="0" smtClean="0">
                <a:latin typeface="楷体" panose="02010609060101010101" charset="-122"/>
                <a:ea typeface="楷体" panose="02010609060101010101" charset="-122"/>
              </a:rPr>
              <a:t>位，表示压缩机实际排量</a:t>
            </a:r>
          </a:p>
          <a:p>
            <a:pPr marL="0" lvl="0">
              <a:spcBef>
                <a:spcPts val="0"/>
              </a:spcBef>
            </a:pPr>
            <a:r>
              <a:rPr lang="zh-CN" altLang="zh-CN" sz="1600" dirty="0" smtClean="0">
                <a:latin typeface="楷体" panose="02010609060101010101" charset="-122"/>
                <a:ea typeface="楷体" panose="02010609060101010101" charset="-122"/>
              </a:rPr>
              <a:t>第</a:t>
            </a:r>
            <a:r>
              <a:rPr lang="en-US" altLang="zh-CN" sz="1600" dirty="0" smtClean="0">
                <a:latin typeface="楷体" panose="02010609060101010101" charset="-122"/>
                <a:ea typeface="楷体" panose="02010609060101010101" charset="-122"/>
              </a:rPr>
              <a:t>6</a:t>
            </a:r>
            <a:r>
              <a:rPr lang="zh-CN" altLang="zh-CN" sz="1600" dirty="0" smtClean="0">
                <a:latin typeface="楷体" panose="02010609060101010101" charset="-122"/>
                <a:ea typeface="楷体" panose="02010609060101010101" charset="-122"/>
              </a:rPr>
              <a:t>位，表示压缩机的外形（模具）差异，按</a:t>
            </a:r>
            <a:r>
              <a:rPr lang="en-US" altLang="zh-CN" sz="1600" dirty="0" smtClean="0">
                <a:latin typeface="楷体" panose="02010609060101010101" charset="-122"/>
                <a:ea typeface="楷体" panose="02010609060101010101" charset="-122"/>
              </a:rPr>
              <a:t>A</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B</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C</a:t>
            </a:r>
            <a:r>
              <a:rPr lang="zh-CN" altLang="zh-CN" sz="1600" dirty="0" smtClean="0">
                <a:latin typeface="楷体" panose="02010609060101010101" charset="-122"/>
                <a:ea typeface="楷体" panose="02010609060101010101" charset="-122"/>
              </a:rPr>
              <a:t>……流水顺序编排</a:t>
            </a:r>
            <a:endParaRPr lang="en-US" altLang="zh-CN" sz="1600" dirty="0" smtClean="0">
              <a:latin typeface="楷体" panose="02010609060101010101" charset="-122"/>
              <a:ea typeface="楷体" panose="02010609060101010101" charset="-122"/>
            </a:endParaRPr>
          </a:p>
          <a:p>
            <a:pPr marL="0">
              <a:spcBef>
                <a:spcPts val="0"/>
              </a:spcBef>
            </a:pPr>
            <a:r>
              <a:rPr lang="zh-CN" altLang="zh-CN" sz="1600" dirty="0" smtClean="0">
                <a:latin typeface="楷体" panose="02010609060101010101" charset="-122"/>
                <a:ea typeface="楷体" panose="02010609060101010101" charset="-122"/>
              </a:rPr>
              <a:t>第</a:t>
            </a:r>
            <a:r>
              <a:rPr lang="en-US" altLang="zh-CN" sz="1600" dirty="0" smtClean="0">
                <a:latin typeface="楷体" panose="02010609060101010101" charset="-122"/>
                <a:ea typeface="楷体" panose="02010609060101010101" charset="-122"/>
              </a:rPr>
              <a:t>7</a:t>
            </a:r>
            <a:r>
              <a:rPr lang="zh-CN" altLang="zh-CN" sz="1600" dirty="0" smtClean="0">
                <a:latin typeface="楷体" panose="02010609060101010101" charset="-122"/>
                <a:ea typeface="楷体" panose="02010609060101010101" charset="-122"/>
              </a:rPr>
              <a:t>位，表示电等级压，具体数字含义详见下表</a:t>
            </a:r>
            <a:endParaRPr lang="en-US" altLang="zh-CN" sz="1600" dirty="0" smtClean="0">
              <a:latin typeface="楷体" panose="02010609060101010101" charset="-122"/>
              <a:ea typeface="楷体" panose="02010609060101010101" charset="-122"/>
            </a:endParaRPr>
          </a:p>
          <a:p>
            <a:pPr marL="0">
              <a:spcBef>
                <a:spcPts val="0"/>
              </a:spcBef>
            </a:pPr>
            <a:endParaRPr lang="en-US" altLang="zh-CN" sz="1600" dirty="0" smtClean="0">
              <a:latin typeface="楷体" panose="02010609060101010101" charset="-122"/>
              <a:ea typeface="楷体" panose="02010609060101010101" charset="-122"/>
            </a:endParaRPr>
          </a:p>
          <a:p>
            <a:pPr marL="0">
              <a:spcBef>
                <a:spcPts val="0"/>
              </a:spcBef>
            </a:pPr>
            <a:endParaRPr lang="en-US" altLang="zh-CN" sz="1600" dirty="0" smtClean="0">
              <a:latin typeface="楷体" panose="02010609060101010101" charset="-122"/>
              <a:ea typeface="楷体" panose="02010609060101010101" charset="-122"/>
            </a:endParaRPr>
          </a:p>
          <a:p>
            <a:pPr marL="0">
              <a:spcBef>
                <a:spcPts val="0"/>
              </a:spcBef>
            </a:pPr>
            <a:endParaRPr lang="en-US" altLang="zh-CN" sz="1600" dirty="0" smtClean="0">
              <a:latin typeface="楷体" panose="02010609060101010101" charset="-122"/>
              <a:ea typeface="楷体" panose="02010609060101010101" charset="-122"/>
            </a:endParaRPr>
          </a:p>
          <a:p>
            <a:pPr marL="0" lvl="0">
              <a:spcBef>
                <a:spcPts val="0"/>
              </a:spcBef>
            </a:pPr>
            <a:r>
              <a:rPr lang="zh-CN" altLang="zh-CN" sz="1600" dirty="0" smtClean="0">
                <a:latin typeface="楷体" panose="02010609060101010101" charset="-122"/>
                <a:ea typeface="楷体" panose="02010609060101010101" charset="-122"/>
              </a:rPr>
              <a:t>第</a:t>
            </a:r>
            <a:r>
              <a:rPr lang="en-US" altLang="zh-CN" sz="1600" dirty="0" smtClean="0">
                <a:latin typeface="楷体" panose="02010609060101010101" charset="-122"/>
                <a:ea typeface="楷体" panose="02010609060101010101" charset="-122"/>
              </a:rPr>
              <a:t>8</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9</a:t>
            </a:r>
            <a:r>
              <a:rPr lang="zh-CN" altLang="zh-CN" sz="1600" dirty="0" smtClean="0">
                <a:latin typeface="楷体" panose="02010609060101010101" charset="-122"/>
                <a:ea typeface="楷体" panose="02010609060101010101" charset="-122"/>
              </a:rPr>
              <a:t>位，表示不同型号的机型，按</a:t>
            </a:r>
            <a:r>
              <a:rPr lang="en-US" altLang="zh-CN" sz="1600" dirty="0" smtClean="0">
                <a:latin typeface="楷体" panose="02010609060101010101" charset="-122"/>
                <a:ea typeface="楷体" panose="02010609060101010101" charset="-122"/>
              </a:rPr>
              <a:t>01</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02</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03</a:t>
            </a:r>
            <a:r>
              <a:rPr lang="zh-CN" altLang="zh-CN" sz="1600" dirty="0" smtClean="0">
                <a:latin typeface="楷体" panose="02010609060101010101" charset="-122"/>
                <a:ea typeface="楷体" panose="02010609060101010101" charset="-122"/>
              </a:rPr>
              <a:t>……流水顺序编排</a:t>
            </a:r>
          </a:p>
          <a:p>
            <a:pPr marL="0">
              <a:spcBef>
                <a:spcPts val="0"/>
              </a:spcBef>
              <a:buNone/>
            </a:pP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举例说明</a:t>
            </a:r>
          </a:p>
          <a:p>
            <a:pPr marL="0">
              <a:spcBef>
                <a:spcPts val="0"/>
              </a:spcBef>
              <a:buNone/>
            </a:pPr>
            <a:r>
              <a:rPr lang="en-US" altLang="zh-CN" sz="1600" dirty="0" smtClean="0">
                <a:latin typeface="楷体" panose="02010609060101010101" charset="-122"/>
                <a:ea typeface="楷体" panose="02010609060101010101" charset="-122"/>
              </a:rPr>
              <a:t>BET27-A401</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A</a:t>
            </a:r>
            <a:r>
              <a:rPr lang="zh-CN" altLang="zh-CN" sz="1600" dirty="0" smtClean="0">
                <a:latin typeface="楷体" panose="02010609060101010101" charset="-122"/>
                <a:ea typeface="楷体" panose="02010609060101010101" charset="-122"/>
              </a:rPr>
              <a:t>套模具外形</a:t>
            </a:r>
            <a:r>
              <a:rPr lang="en-US" altLang="zh-CN" sz="1600" dirty="0" smtClean="0">
                <a:latin typeface="楷体" panose="02010609060101010101" charset="-122"/>
                <a:ea typeface="楷体" panose="02010609060101010101" charset="-122"/>
              </a:rPr>
              <a:t>27cc</a:t>
            </a:r>
            <a:r>
              <a:rPr lang="zh-CN" altLang="zh-CN" sz="1600" dirty="0" smtClean="0">
                <a:latin typeface="楷体" panose="02010609060101010101" charset="-122"/>
                <a:ea typeface="楷体" panose="02010609060101010101" charset="-122"/>
              </a:rPr>
              <a:t>排量电动一体式压缩机，第</a:t>
            </a:r>
            <a:r>
              <a:rPr lang="en-US" altLang="zh-CN" sz="1600" dirty="0" smtClean="0">
                <a:latin typeface="楷体" panose="02010609060101010101" charset="-122"/>
                <a:ea typeface="楷体" panose="02010609060101010101" charset="-122"/>
              </a:rPr>
              <a:t>1</a:t>
            </a:r>
            <a:r>
              <a:rPr lang="zh-CN" altLang="zh-CN" sz="1600" dirty="0" smtClean="0">
                <a:latin typeface="楷体" panose="02010609060101010101" charset="-122"/>
                <a:ea typeface="楷体" panose="02010609060101010101" charset="-122"/>
              </a:rPr>
              <a:t>款电压等级</a:t>
            </a:r>
            <a:r>
              <a:rPr lang="en-US" altLang="zh-CN" sz="1600" dirty="0" smtClean="0">
                <a:latin typeface="楷体" panose="02010609060101010101" charset="-122"/>
                <a:ea typeface="楷体" panose="02010609060101010101" charset="-122"/>
              </a:rPr>
              <a:t>72V</a:t>
            </a:r>
            <a:endParaRPr lang="zh-CN" altLang="zh-CN" sz="1600" dirty="0" smtClean="0">
              <a:latin typeface="楷体" panose="02010609060101010101" charset="-122"/>
              <a:ea typeface="楷体" panose="02010609060101010101" charset="-122"/>
            </a:endParaRPr>
          </a:p>
          <a:p>
            <a:pPr marL="0">
              <a:spcBef>
                <a:spcPts val="0"/>
              </a:spcBef>
              <a:buNone/>
            </a:pPr>
            <a:r>
              <a:rPr lang="en-US" altLang="zh-CN" sz="1600" dirty="0" smtClean="0">
                <a:latin typeface="楷体" panose="02010609060101010101" charset="-122"/>
                <a:ea typeface="楷体" panose="02010609060101010101" charset="-122"/>
              </a:rPr>
              <a:t>BET36-C904</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C</a:t>
            </a:r>
            <a:r>
              <a:rPr lang="zh-CN" altLang="zh-CN" sz="1600" dirty="0" smtClean="0">
                <a:latin typeface="楷体" panose="02010609060101010101" charset="-122"/>
                <a:ea typeface="楷体" panose="02010609060101010101" charset="-122"/>
              </a:rPr>
              <a:t>套模具外形</a:t>
            </a:r>
            <a:r>
              <a:rPr lang="en-US" altLang="zh-CN" sz="1600" dirty="0" smtClean="0">
                <a:latin typeface="楷体" panose="02010609060101010101" charset="-122"/>
                <a:ea typeface="楷体" panose="02010609060101010101" charset="-122"/>
              </a:rPr>
              <a:t>36cc</a:t>
            </a:r>
            <a:r>
              <a:rPr lang="zh-CN" altLang="zh-CN" sz="1600" dirty="0" smtClean="0">
                <a:latin typeface="楷体" panose="02010609060101010101" charset="-122"/>
                <a:ea typeface="楷体" panose="02010609060101010101" charset="-122"/>
              </a:rPr>
              <a:t>排量电动一体式压缩机，第</a:t>
            </a:r>
            <a:r>
              <a:rPr lang="en-US" altLang="zh-CN" sz="1600" dirty="0" smtClean="0">
                <a:latin typeface="楷体" panose="02010609060101010101" charset="-122"/>
                <a:ea typeface="楷体" panose="02010609060101010101" charset="-122"/>
              </a:rPr>
              <a:t>4</a:t>
            </a:r>
            <a:r>
              <a:rPr lang="zh-CN" altLang="zh-CN" sz="1600" dirty="0" smtClean="0">
                <a:latin typeface="楷体" panose="02010609060101010101" charset="-122"/>
                <a:ea typeface="楷体" panose="02010609060101010101" charset="-122"/>
              </a:rPr>
              <a:t>款电压等级</a:t>
            </a:r>
            <a:r>
              <a:rPr lang="en-US" altLang="zh-CN" sz="1600" dirty="0" smtClean="0">
                <a:latin typeface="楷体" panose="02010609060101010101" charset="-122"/>
                <a:ea typeface="楷体" panose="02010609060101010101" charset="-122"/>
              </a:rPr>
              <a:t>320V</a:t>
            </a:r>
            <a:endParaRPr lang="zh-CN" altLang="zh-CN" sz="1600" dirty="0" smtClean="0">
              <a:latin typeface="楷体" panose="02010609060101010101" charset="-122"/>
              <a:ea typeface="楷体" panose="02010609060101010101" charset="-122"/>
            </a:endParaRPr>
          </a:p>
          <a:p>
            <a:pPr>
              <a:lnSpc>
                <a:spcPct val="100000"/>
              </a:lnSpc>
              <a:spcBef>
                <a:spcPts val="0"/>
              </a:spcBef>
            </a:pPr>
            <a:endParaRPr lang="zh-CN" altLang="zh-CN" sz="1600" dirty="0" smtClean="0"/>
          </a:p>
          <a:p>
            <a:pPr>
              <a:buNone/>
            </a:pPr>
            <a:endParaRPr lang="zh-CN" altLang="zh-CN" dirty="0" smtClean="0"/>
          </a:p>
          <a:p>
            <a:pPr>
              <a:buNone/>
            </a:pPr>
            <a:endParaRPr lang="zh-CN" altLang="en-US" dirty="0"/>
          </a:p>
        </p:txBody>
      </p:sp>
      <p:graphicFrame>
        <p:nvGraphicFramePr>
          <p:cNvPr id="5" name="表格 4"/>
          <p:cNvGraphicFramePr>
            <a:graphicFrameLocks noGrp="1"/>
          </p:cNvGraphicFramePr>
          <p:nvPr/>
        </p:nvGraphicFramePr>
        <p:xfrm>
          <a:off x="1647819" y="2851150"/>
          <a:ext cx="6677030" cy="487680"/>
        </p:xfrm>
        <a:graphic>
          <a:graphicData uri="http://schemas.openxmlformats.org/drawingml/2006/table">
            <a:tbl>
              <a:tblPr firstRow="1" bandRow="1">
                <a:tableStyleId>{5C22544A-7EE6-4342-B048-85BDC9FD1C3A}</a:tableStyleId>
              </a:tblPr>
              <a:tblGrid>
                <a:gridCol w="667703"/>
                <a:gridCol w="667703"/>
                <a:gridCol w="667703"/>
                <a:gridCol w="667703"/>
                <a:gridCol w="667703"/>
                <a:gridCol w="667703"/>
                <a:gridCol w="667703"/>
                <a:gridCol w="667703"/>
                <a:gridCol w="667703"/>
                <a:gridCol w="667703"/>
              </a:tblGrid>
              <a:tr h="0">
                <a:tc>
                  <a:txBody>
                    <a:bodyPr/>
                    <a:lstStyle/>
                    <a:p>
                      <a:pPr algn="ctr" fontAlgn="b"/>
                      <a:r>
                        <a:rPr lang="en-US" sz="1600" b="1" i="0" u="none" strike="noStrike" dirty="0" smtClean="0">
                          <a:solidFill>
                            <a:srgbClr val="0070C0"/>
                          </a:solidFill>
                          <a:latin typeface="楷体" panose="02010609060101010101" charset="-122"/>
                          <a:ea typeface="楷体" panose="02010609060101010101" charset="-122"/>
                        </a:rPr>
                        <a:t>0</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1</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2</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3</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4</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5</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6</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7</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8</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9</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fontAlgn="b"/>
                      <a:r>
                        <a:rPr lang="zh-CN" sz="16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24V</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48V</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60V</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72V</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96V</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600" b="1" i="0" u="none" strike="noStrike" dirty="0">
                          <a:solidFill>
                            <a:srgbClr val="0070C0"/>
                          </a:solidFill>
                          <a:latin typeface="楷体" panose="02010609060101010101" charset="-122"/>
                          <a:ea typeface="楷体" panose="02010609060101010101" charset="-122"/>
                        </a:rPr>
                        <a:t>144V</a:t>
                      </a:r>
                      <a:endParaRPr lang="zh-CN" sz="16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6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6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600" b="1" i="0" u="none" strike="noStrike" dirty="0">
                          <a:solidFill>
                            <a:srgbClr val="0070C0"/>
                          </a:solidFill>
                          <a:latin typeface="楷体" panose="02010609060101010101" charset="-122"/>
                          <a:ea typeface="楷体" panose="02010609060101010101" charset="-122"/>
                        </a:rPr>
                        <a:t>≥300V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32</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59218" y="508634"/>
            <a:ext cx="7332345" cy="4634865"/>
          </a:xfrm>
        </p:spPr>
        <p:txBody>
          <a:bodyPr>
            <a:normAutofit/>
          </a:bodyPr>
          <a:lstStyle/>
          <a:p>
            <a:pPr marL="0">
              <a:lnSpc>
                <a:spcPct val="100000"/>
              </a:lnSpc>
              <a:spcBef>
                <a:spcPts val="0"/>
              </a:spcBef>
              <a:buNone/>
            </a:pPr>
            <a:r>
              <a:rPr lang="zh-CN" altLang="en-US" sz="2200" dirty="0" smtClean="0">
                <a:latin typeface="楷体" panose="02010609060101010101" charset="-122"/>
                <a:ea typeface="楷体" panose="02010609060101010101" charset="-122"/>
              </a:rPr>
              <a:t>湖南贝特压缩机的物料（图号）</a:t>
            </a:r>
            <a:r>
              <a:rPr lang="zh-CN" altLang="zh-CN" sz="2200" dirty="0" smtClean="0">
                <a:latin typeface="楷体" panose="02010609060101010101" charset="-122"/>
                <a:ea typeface="楷体" panose="02010609060101010101" charset="-122"/>
              </a:rPr>
              <a:t>编号规则</a:t>
            </a:r>
            <a:endParaRPr lang="en-US" altLang="zh-CN" sz="2200" dirty="0" smtClean="0">
              <a:latin typeface="楷体" panose="02010609060101010101" charset="-122"/>
              <a:ea typeface="楷体" panose="02010609060101010101" charset="-122"/>
            </a:endParaRPr>
          </a:p>
          <a:p>
            <a:pPr marL="0">
              <a:lnSpc>
                <a:spcPct val="100000"/>
              </a:lnSpc>
              <a:spcBef>
                <a:spcPts val="0"/>
              </a:spcBef>
              <a:buNone/>
            </a:pPr>
            <a:r>
              <a:rPr lang="zh-CN" altLang="zh-CN" sz="1500" dirty="0" smtClean="0">
                <a:latin typeface="楷体" panose="02010609060101010101" charset="-122"/>
                <a:ea typeface="楷体" panose="02010609060101010101" charset="-122"/>
              </a:rPr>
              <a:t>压缩机</a:t>
            </a:r>
            <a:r>
              <a:rPr lang="zh-CN" altLang="en-US" sz="1500" dirty="0" smtClean="0">
                <a:latin typeface="楷体" panose="02010609060101010101" charset="-122"/>
                <a:ea typeface="楷体" panose="02010609060101010101" charset="-122"/>
              </a:rPr>
              <a:t>物料</a:t>
            </a:r>
            <a:r>
              <a:rPr lang="zh-CN" altLang="zh-CN" sz="1500" dirty="0" smtClean="0">
                <a:latin typeface="楷体" panose="02010609060101010101" charset="-122"/>
                <a:ea typeface="楷体" panose="02010609060101010101" charset="-122"/>
              </a:rPr>
              <a:t>号：</a:t>
            </a:r>
            <a:r>
              <a:rPr lang="en-US" altLang="zh-CN" sz="1500" dirty="0" smtClean="0">
                <a:latin typeface="楷体" panose="02010609060101010101" charset="-122"/>
                <a:ea typeface="楷体" panose="02010609060101010101" charset="-122"/>
              </a:rPr>
              <a:t> 81</a:t>
            </a:r>
            <a:r>
              <a:rPr lang="zh-CN" altLang="zh-CN" sz="1500" dirty="0" smtClean="0">
                <a:latin typeface="楷体" panose="02010609060101010101" charset="-122"/>
                <a:ea typeface="楷体" panose="02010609060101010101" charset="-122"/>
              </a:rPr>
              <a:t> </a:t>
            </a:r>
            <a:r>
              <a:rPr lang="en-US" altLang="zh-CN" sz="1500" dirty="0" smtClean="0">
                <a:latin typeface="楷体" panose="02010609060101010101" charset="-122"/>
                <a:ea typeface="楷体" panose="02010609060101010101" charset="-122"/>
              </a:rPr>
              <a:t>  </a:t>
            </a:r>
            <a:r>
              <a:rPr lang="zh-CN" altLang="zh-CN" sz="1500"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   </a:t>
            </a:r>
            <a:r>
              <a:rPr lang="zh-CN" altLang="zh-CN" sz="1500"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a:t>
            </a:r>
            <a:r>
              <a:rPr lang="zh-CN" altLang="zh-CN" sz="1500"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 </a:t>
            </a:r>
            <a:r>
              <a:rPr lang="zh-CN" altLang="zh-CN" sz="1500"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 </a:t>
            </a:r>
            <a:r>
              <a:rPr lang="zh-CN" altLang="zh-CN" sz="1500" dirty="0" smtClean="0">
                <a:latin typeface="楷体" panose="02010609060101010101" charset="-122"/>
                <a:ea typeface="楷体" panose="02010609060101010101" charset="-122"/>
              </a:rPr>
              <a:t>□□</a:t>
            </a:r>
          </a:p>
          <a:p>
            <a:pPr marL="0">
              <a:lnSpc>
                <a:spcPct val="100000"/>
              </a:lnSpc>
              <a:spcBef>
                <a:spcPts val="0"/>
              </a:spcBef>
              <a:buNone/>
            </a:pPr>
            <a:r>
              <a:rPr lang="en-US" altLang="zh-CN" sz="1500" dirty="0" smtClean="0">
                <a:latin typeface="楷体" panose="02010609060101010101" charset="-122"/>
                <a:ea typeface="楷体" panose="02010609060101010101" charset="-122"/>
              </a:rPr>
              <a:t>               A     B       C  D    E   F   </a:t>
            </a:r>
            <a:endParaRPr lang="zh-CN" altLang="zh-CN" sz="1500" dirty="0" smtClean="0">
              <a:latin typeface="楷体" panose="02010609060101010101" charset="-122"/>
              <a:ea typeface="楷体" panose="02010609060101010101" charset="-122"/>
            </a:endParaRPr>
          </a:p>
          <a:p>
            <a:pPr marL="0">
              <a:lnSpc>
                <a:spcPct val="100000"/>
              </a:lnSpc>
              <a:spcBef>
                <a:spcPts val="0"/>
              </a:spcBef>
              <a:buNone/>
            </a:pPr>
            <a:r>
              <a:rPr lang="zh-CN" altLang="zh-CN" sz="1500" dirty="0" smtClean="0">
                <a:latin typeface="楷体" panose="02010609060101010101" charset="-122"/>
                <a:ea typeface="楷体" panose="02010609060101010101" charset="-122"/>
              </a:rPr>
              <a:t>压缩机型号：</a:t>
            </a:r>
            <a:r>
              <a:rPr lang="en-US" altLang="zh-CN" sz="1500" dirty="0" smtClean="0">
                <a:latin typeface="楷体" panose="02010609060101010101" charset="-122"/>
                <a:ea typeface="楷体" panose="02010609060101010101" charset="-122"/>
              </a:rPr>
              <a:t> </a:t>
            </a:r>
            <a:r>
              <a:rPr lang="zh-CN" altLang="zh-CN" sz="1500" u="sng" dirty="0" smtClean="0">
                <a:latin typeface="楷体" panose="02010609060101010101" charset="-122"/>
                <a:ea typeface="楷体" panose="02010609060101010101" charset="-122"/>
              </a:rPr>
              <a:t>□□□</a:t>
            </a:r>
            <a:r>
              <a:rPr lang="zh-CN" altLang="zh-CN" sz="1500" dirty="0" smtClean="0">
                <a:latin typeface="楷体" panose="02010609060101010101" charset="-122"/>
                <a:ea typeface="楷体" panose="02010609060101010101" charset="-122"/>
              </a:rPr>
              <a:t> </a:t>
            </a:r>
            <a:r>
              <a:rPr lang="zh-CN" altLang="zh-CN" sz="1500" u="sng" dirty="0" smtClean="0">
                <a:latin typeface="楷体" panose="02010609060101010101" charset="-122"/>
                <a:ea typeface="楷体" panose="02010609060101010101" charset="-122"/>
              </a:rPr>
              <a:t>□□</a:t>
            </a:r>
            <a:r>
              <a:rPr lang="zh-CN" altLang="zh-CN" sz="1500" dirty="0" smtClean="0">
                <a:latin typeface="楷体" panose="02010609060101010101" charset="-122"/>
                <a:ea typeface="楷体" panose="02010609060101010101" charset="-122"/>
              </a:rPr>
              <a:t> — </a:t>
            </a:r>
            <a:r>
              <a:rPr lang="zh-CN" altLang="zh-CN" sz="1500" u="sng"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 </a:t>
            </a:r>
            <a:r>
              <a:rPr lang="zh-CN" altLang="zh-CN" sz="1500" dirty="0" smtClean="0">
                <a:latin typeface="楷体" panose="02010609060101010101" charset="-122"/>
                <a:ea typeface="楷体" panose="02010609060101010101" charset="-122"/>
              </a:rPr>
              <a:t> </a:t>
            </a:r>
            <a:r>
              <a:rPr lang="zh-CN" altLang="zh-CN" sz="1500" u="sng" dirty="0" smtClean="0">
                <a:latin typeface="楷体" panose="02010609060101010101" charset="-122"/>
                <a:ea typeface="楷体" panose="02010609060101010101" charset="-122"/>
              </a:rPr>
              <a:t>□</a:t>
            </a:r>
            <a:r>
              <a:rPr lang="zh-CN" altLang="zh-CN" sz="1500" dirty="0" smtClean="0">
                <a:latin typeface="楷体" panose="02010609060101010101" charset="-122"/>
                <a:ea typeface="楷体" panose="02010609060101010101" charset="-122"/>
              </a:rPr>
              <a:t> </a:t>
            </a:r>
            <a:r>
              <a:rPr lang="zh-CN" altLang="zh-CN" sz="1500" u="sng" dirty="0" smtClean="0">
                <a:latin typeface="楷体" panose="02010609060101010101" charset="-122"/>
                <a:ea typeface="楷体" panose="02010609060101010101" charset="-122"/>
              </a:rPr>
              <a:t>□□</a:t>
            </a:r>
            <a:endParaRPr lang="zh-CN" altLang="zh-CN" sz="1500" dirty="0" smtClean="0">
              <a:latin typeface="楷体" panose="02010609060101010101" charset="-122"/>
              <a:ea typeface="楷体" panose="02010609060101010101" charset="-122"/>
            </a:endParaRPr>
          </a:p>
          <a:p>
            <a:pPr marL="0">
              <a:lnSpc>
                <a:spcPct val="100000"/>
              </a:lnSpc>
              <a:spcBef>
                <a:spcPts val="0"/>
              </a:spcBef>
              <a:buNone/>
            </a:pPr>
            <a:r>
              <a:rPr lang="en-US" altLang="zh-CN" sz="1500" dirty="0" smtClean="0">
                <a:latin typeface="楷体" panose="02010609060101010101" charset="-122"/>
                <a:ea typeface="楷体" panose="02010609060101010101" charset="-122"/>
              </a:rPr>
              <a:t>             1 2 3  4 5     6   7  8 9</a:t>
            </a:r>
          </a:p>
          <a:p>
            <a:pPr marL="0" lvl="0">
              <a:lnSpc>
                <a:spcPct val="100000"/>
              </a:lnSpc>
              <a:spcBef>
                <a:spcPts val="0"/>
              </a:spcBef>
            </a:pPr>
            <a:r>
              <a:rPr lang="zh-CN" altLang="en-US" sz="1500" dirty="0" smtClean="0">
                <a:latin typeface="楷体" panose="02010609060101010101" charset="-122"/>
                <a:ea typeface="楷体" panose="02010609060101010101" charset="-122"/>
              </a:rPr>
              <a:t>物料</a:t>
            </a:r>
            <a:r>
              <a:rPr lang="zh-CN" altLang="zh-CN" sz="1500" dirty="0" smtClean="0">
                <a:latin typeface="楷体" panose="02010609060101010101" charset="-122"/>
                <a:ea typeface="楷体" panose="02010609060101010101" charset="-122"/>
              </a:rPr>
              <a:t>号共</a:t>
            </a:r>
            <a:r>
              <a:rPr lang="en-US" altLang="zh-CN" sz="1500" dirty="0" smtClean="0">
                <a:latin typeface="楷体" panose="02010609060101010101" charset="-122"/>
                <a:ea typeface="楷体" panose="02010609060101010101" charset="-122"/>
              </a:rPr>
              <a:t>11</a:t>
            </a:r>
            <a:r>
              <a:rPr lang="zh-CN" altLang="zh-CN" sz="1500" dirty="0" smtClean="0">
                <a:latin typeface="楷体" panose="02010609060101010101" charset="-122"/>
                <a:ea typeface="楷体" panose="02010609060101010101" charset="-122"/>
              </a:rPr>
              <a:t>位，由数字组成</a:t>
            </a:r>
          </a:p>
          <a:p>
            <a:pPr marL="0" lvl="0">
              <a:spcBef>
                <a:spcPts val="0"/>
              </a:spcBef>
            </a:pPr>
            <a:r>
              <a:rPr lang="en-US" altLang="zh-CN" sz="1500" dirty="0" smtClean="0">
                <a:latin typeface="楷体" panose="02010609060101010101" charset="-122"/>
                <a:ea typeface="楷体" panose="02010609060101010101" charset="-122"/>
              </a:rPr>
              <a:t>A  2</a:t>
            </a:r>
            <a:r>
              <a:rPr lang="zh-CN" altLang="zh-CN" sz="1500" dirty="0" smtClean="0">
                <a:latin typeface="楷体" panose="02010609060101010101" charset="-122"/>
                <a:ea typeface="楷体" panose="02010609060101010101" charset="-122"/>
              </a:rPr>
              <a:t>位数字，固定为</a:t>
            </a:r>
            <a:r>
              <a:rPr lang="en-US" altLang="zh-CN" sz="1500" dirty="0" smtClean="0">
                <a:latin typeface="楷体" panose="02010609060101010101" charset="-122"/>
                <a:ea typeface="楷体" panose="02010609060101010101" charset="-122"/>
              </a:rPr>
              <a:t>81</a:t>
            </a:r>
            <a:r>
              <a:rPr lang="zh-CN" altLang="zh-CN" sz="1500" dirty="0" smtClean="0">
                <a:latin typeface="楷体" panose="02010609060101010101" charset="-122"/>
                <a:ea typeface="楷体" panose="02010609060101010101" charset="-122"/>
              </a:rPr>
              <a:t>，表示压缩机</a:t>
            </a:r>
            <a:r>
              <a:rPr lang="zh-CN" altLang="en-US" sz="1500" dirty="0" smtClean="0">
                <a:latin typeface="楷体" panose="02010609060101010101" charset="-122"/>
                <a:ea typeface="楷体" panose="02010609060101010101" charset="-122"/>
              </a:rPr>
              <a:t>成品</a:t>
            </a:r>
            <a:endParaRPr lang="zh-CN" altLang="zh-CN" sz="1500" dirty="0" smtClean="0">
              <a:latin typeface="楷体" panose="02010609060101010101" charset="-122"/>
              <a:ea typeface="楷体" panose="02010609060101010101" charset="-122"/>
            </a:endParaRPr>
          </a:p>
          <a:p>
            <a:pPr marL="0" lvl="0">
              <a:spcBef>
                <a:spcPts val="0"/>
              </a:spcBef>
            </a:pPr>
            <a:r>
              <a:rPr lang="en-US" altLang="zh-CN" sz="1500" dirty="0" smtClean="0">
                <a:latin typeface="楷体" panose="02010609060101010101" charset="-122"/>
                <a:ea typeface="楷体" panose="02010609060101010101" charset="-122"/>
              </a:rPr>
              <a:t>B  2</a:t>
            </a:r>
            <a:r>
              <a:rPr lang="zh-CN" altLang="zh-CN" sz="1500" dirty="0" smtClean="0">
                <a:latin typeface="楷体" panose="02010609060101010101" charset="-122"/>
                <a:ea typeface="楷体" panose="02010609060101010101" charset="-122"/>
              </a:rPr>
              <a:t>位数字，与压缩机型号第</a:t>
            </a:r>
            <a:r>
              <a:rPr lang="en-US" altLang="zh-CN" sz="1500" dirty="0" smtClean="0">
                <a:latin typeface="楷体" panose="02010609060101010101" charset="-122"/>
                <a:ea typeface="楷体" panose="02010609060101010101" charset="-122"/>
              </a:rPr>
              <a:t>4</a:t>
            </a:r>
            <a:r>
              <a:rPr lang="zh-CN" altLang="zh-CN" sz="1500"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5</a:t>
            </a:r>
            <a:r>
              <a:rPr lang="zh-CN" altLang="zh-CN" sz="1500" dirty="0" smtClean="0">
                <a:latin typeface="楷体" panose="02010609060101010101" charset="-122"/>
                <a:ea typeface="楷体" panose="02010609060101010101" charset="-122"/>
              </a:rPr>
              <a:t>位相同，标示压缩机排量</a:t>
            </a:r>
          </a:p>
          <a:p>
            <a:pPr marL="0" lvl="0">
              <a:spcBef>
                <a:spcPts val="0"/>
              </a:spcBef>
            </a:pPr>
            <a:r>
              <a:rPr lang="en-US" altLang="zh-CN" sz="1500" dirty="0" smtClean="0">
                <a:latin typeface="楷体" panose="02010609060101010101" charset="-122"/>
                <a:ea typeface="楷体" panose="02010609060101010101" charset="-122"/>
              </a:rPr>
              <a:t>C  2</a:t>
            </a:r>
            <a:r>
              <a:rPr lang="zh-CN" altLang="zh-CN" sz="1500" dirty="0" smtClean="0">
                <a:latin typeface="楷体" panose="02010609060101010101" charset="-122"/>
                <a:ea typeface="楷体" panose="02010609060101010101" charset="-122"/>
              </a:rPr>
              <a:t>位数字，与压缩机型号第</a:t>
            </a:r>
            <a:r>
              <a:rPr lang="en-US" altLang="zh-CN" sz="1500" dirty="0" smtClean="0">
                <a:latin typeface="楷体" panose="02010609060101010101" charset="-122"/>
                <a:ea typeface="楷体" panose="02010609060101010101" charset="-122"/>
              </a:rPr>
              <a:t>6</a:t>
            </a:r>
            <a:r>
              <a:rPr lang="zh-CN" altLang="zh-CN" sz="1500" dirty="0" smtClean="0">
                <a:latin typeface="楷体" panose="02010609060101010101" charset="-122"/>
                <a:ea typeface="楷体" panose="02010609060101010101" charset="-122"/>
              </a:rPr>
              <a:t>位</a:t>
            </a:r>
            <a:r>
              <a:rPr lang="zh-CN" altLang="en-US" sz="1500" dirty="0" smtClean="0">
                <a:latin typeface="楷体" panose="02010609060101010101" charset="-122"/>
                <a:ea typeface="楷体" panose="02010609060101010101" charset="-122"/>
              </a:rPr>
              <a:t>对应</a:t>
            </a:r>
            <a:r>
              <a:rPr lang="zh-CN" altLang="zh-CN" sz="1500" dirty="0" smtClean="0">
                <a:latin typeface="楷体" panose="02010609060101010101" charset="-122"/>
                <a:ea typeface="楷体" panose="02010609060101010101" charset="-122"/>
              </a:rPr>
              <a:t>，标示压缩机的外形（模具）差异</a:t>
            </a:r>
          </a:p>
          <a:p>
            <a:pPr marL="0" lvl="0">
              <a:spcBef>
                <a:spcPts val="0"/>
              </a:spcBef>
            </a:pPr>
            <a:r>
              <a:rPr lang="en-US" altLang="zh-CN" sz="1500" dirty="0" smtClean="0">
                <a:latin typeface="楷体" panose="02010609060101010101" charset="-122"/>
                <a:ea typeface="楷体" panose="02010609060101010101" charset="-122"/>
              </a:rPr>
              <a:t>D  1</a:t>
            </a:r>
            <a:r>
              <a:rPr lang="zh-CN" altLang="zh-CN" sz="1500" dirty="0" smtClean="0">
                <a:latin typeface="楷体" panose="02010609060101010101" charset="-122"/>
                <a:ea typeface="楷体" panose="02010609060101010101" charset="-122"/>
              </a:rPr>
              <a:t>位数字，与压缩机型号第</a:t>
            </a:r>
            <a:r>
              <a:rPr lang="en-US" altLang="zh-CN" sz="1500" dirty="0" smtClean="0">
                <a:latin typeface="楷体" panose="02010609060101010101" charset="-122"/>
                <a:ea typeface="楷体" panose="02010609060101010101" charset="-122"/>
              </a:rPr>
              <a:t>7</a:t>
            </a:r>
            <a:r>
              <a:rPr lang="zh-CN" altLang="zh-CN" sz="1500" dirty="0" smtClean="0">
                <a:latin typeface="楷体" panose="02010609060101010101" charset="-122"/>
                <a:ea typeface="楷体" panose="02010609060101010101" charset="-122"/>
              </a:rPr>
              <a:t>位相同，标示压缩机电压等级</a:t>
            </a:r>
            <a:endParaRPr lang="en-US" altLang="zh-CN" sz="1500" dirty="0" smtClean="0">
              <a:latin typeface="楷体" panose="02010609060101010101" charset="-122"/>
              <a:ea typeface="楷体" panose="02010609060101010101" charset="-122"/>
            </a:endParaRPr>
          </a:p>
          <a:p>
            <a:pPr marL="0" lvl="0">
              <a:lnSpc>
                <a:spcPct val="100000"/>
              </a:lnSpc>
              <a:spcBef>
                <a:spcPts val="0"/>
              </a:spcBef>
            </a:pPr>
            <a:endParaRPr lang="en-US" altLang="zh-CN" sz="1500" dirty="0" smtClean="0">
              <a:latin typeface="楷体" panose="02010609060101010101" charset="-122"/>
              <a:ea typeface="楷体" panose="02010609060101010101" charset="-122"/>
            </a:endParaRPr>
          </a:p>
          <a:p>
            <a:pPr marL="0" lvl="0">
              <a:lnSpc>
                <a:spcPct val="100000"/>
              </a:lnSpc>
              <a:spcBef>
                <a:spcPts val="0"/>
              </a:spcBef>
            </a:pPr>
            <a:endParaRPr lang="en-US" altLang="zh-CN" sz="1500" dirty="0" smtClean="0">
              <a:latin typeface="楷体" panose="02010609060101010101" charset="-122"/>
              <a:ea typeface="楷体" panose="02010609060101010101" charset="-122"/>
            </a:endParaRPr>
          </a:p>
          <a:p>
            <a:pPr marL="0" lvl="0">
              <a:spcBef>
                <a:spcPts val="0"/>
              </a:spcBef>
            </a:pPr>
            <a:r>
              <a:rPr lang="en-US" altLang="zh-CN" sz="1500" dirty="0" smtClean="0">
                <a:latin typeface="楷体" panose="02010609060101010101" charset="-122"/>
                <a:ea typeface="楷体" panose="02010609060101010101" charset="-122"/>
              </a:rPr>
              <a:t>E  2</a:t>
            </a:r>
            <a:r>
              <a:rPr lang="zh-CN" altLang="zh-CN" sz="1500" dirty="0" smtClean="0">
                <a:latin typeface="楷体" panose="02010609060101010101" charset="-122"/>
                <a:ea typeface="楷体" panose="02010609060101010101" charset="-122"/>
              </a:rPr>
              <a:t>位数字，与压缩机型号第</a:t>
            </a:r>
            <a:r>
              <a:rPr lang="en-US" altLang="zh-CN" sz="1500" dirty="0" smtClean="0">
                <a:latin typeface="楷体" panose="02010609060101010101" charset="-122"/>
                <a:ea typeface="楷体" panose="02010609060101010101" charset="-122"/>
              </a:rPr>
              <a:t>8</a:t>
            </a:r>
            <a:r>
              <a:rPr lang="zh-CN" altLang="zh-CN" sz="1500"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9</a:t>
            </a:r>
            <a:r>
              <a:rPr lang="zh-CN" altLang="zh-CN" sz="1500" dirty="0" smtClean="0">
                <a:latin typeface="楷体" panose="02010609060101010101" charset="-122"/>
                <a:ea typeface="楷体" panose="02010609060101010101" charset="-122"/>
              </a:rPr>
              <a:t>位相同，标示压缩机细节差异，</a:t>
            </a:r>
            <a:r>
              <a:rPr lang="zh-CN" altLang="en-US" sz="1500" dirty="0" smtClean="0">
                <a:latin typeface="楷体" panose="02010609060101010101" charset="-122"/>
                <a:ea typeface="楷体" panose="02010609060101010101" charset="-122"/>
              </a:rPr>
              <a:t>流水号</a:t>
            </a:r>
            <a:endParaRPr lang="zh-CN" altLang="zh-CN" sz="1500" dirty="0" smtClean="0">
              <a:latin typeface="楷体" panose="02010609060101010101" charset="-122"/>
              <a:ea typeface="楷体" panose="02010609060101010101" charset="-122"/>
            </a:endParaRPr>
          </a:p>
          <a:p>
            <a:pPr marL="0" lvl="0">
              <a:spcBef>
                <a:spcPts val="0"/>
              </a:spcBef>
            </a:pPr>
            <a:r>
              <a:rPr lang="en-US" altLang="zh-CN" sz="1500" dirty="0" smtClean="0">
                <a:latin typeface="楷体" panose="02010609060101010101" charset="-122"/>
                <a:ea typeface="楷体" panose="02010609060101010101" charset="-122"/>
              </a:rPr>
              <a:t>F  2</a:t>
            </a:r>
            <a:r>
              <a:rPr lang="zh-CN" altLang="zh-CN" sz="1500" dirty="0" smtClean="0">
                <a:latin typeface="楷体" panose="02010609060101010101" charset="-122"/>
                <a:ea typeface="楷体" panose="02010609060101010101" charset="-122"/>
              </a:rPr>
              <a:t>位数字，</a:t>
            </a:r>
            <a:r>
              <a:rPr lang="zh-CN" altLang="en-US" sz="1500" dirty="0" smtClean="0">
                <a:latin typeface="楷体" panose="02010609060101010101" charset="-122"/>
                <a:ea typeface="楷体" panose="02010609060101010101" charset="-122"/>
              </a:rPr>
              <a:t>压缩机更改号，流水号</a:t>
            </a:r>
            <a:r>
              <a:rPr lang="en-US" altLang="zh-CN" sz="1500" dirty="0" smtClean="0">
                <a:latin typeface="楷体" panose="02010609060101010101" charset="-122"/>
                <a:ea typeface="楷体" panose="02010609060101010101" charset="-122"/>
              </a:rPr>
              <a:t>00、01、02……</a:t>
            </a:r>
            <a:endParaRPr lang="zh-CN" altLang="zh-CN" sz="1500" dirty="0" smtClean="0">
              <a:latin typeface="楷体" panose="02010609060101010101" charset="-122"/>
              <a:ea typeface="楷体" panose="02010609060101010101" charset="-122"/>
            </a:endParaRPr>
          </a:p>
          <a:p>
            <a:pPr marL="0" lvl="0">
              <a:spcBef>
                <a:spcPts val="0"/>
              </a:spcBef>
            </a:pPr>
            <a:r>
              <a:rPr lang="zh-CN" altLang="zh-CN" sz="1500" dirty="0" smtClean="0">
                <a:latin typeface="楷体" panose="02010609060101010101" charset="-122"/>
                <a:ea typeface="楷体" panose="02010609060101010101" charset="-122"/>
              </a:rPr>
              <a:t>举例说明</a:t>
            </a:r>
          </a:p>
          <a:p>
            <a:pPr marL="0">
              <a:spcBef>
                <a:spcPts val="0"/>
              </a:spcBef>
              <a:buNone/>
            </a:pPr>
            <a:r>
              <a:rPr lang="en-US" altLang="zh-CN" sz="1500" dirty="0" smtClean="0">
                <a:latin typeface="楷体" panose="02010609060101010101" charset="-122"/>
                <a:ea typeface="楷体" panose="02010609060101010101" charset="-122"/>
              </a:rPr>
              <a:t>BET27-A401</a:t>
            </a:r>
            <a:r>
              <a:rPr lang="zh-CN" altLang="zh-CN" sz="1500" dirty="0" smtClean="0">
                <a:latin typeface="楷体" panose="02010609060101010101" charset="-122"/>
                <a:ea typeface="楷体" panose="02010609060101010101" charset="-122"/>
              </a:rPr>
              <a:t>：</a:t>
            </a:r>
            <a:r>
              <a:rPr lang="en-US" altLang="zh-CN" sz="1500" dirty="0" smtClean="0">
                <a:latin typeface="楷体" panose="02010609060101010101" charset="-122"/>
                <a:ea typeface="楷体" panose="02010609060101010101" charset="-122"/>
              </a:rPr>
              <a:t>812702-40100</a:t>
            </a:r>
          </a:p>
          <a:p>
            <a:pPr marL="0">
              <a:spcBef>
                <a:spcPts val="0"/>
              </a:spcBef>
              <a:buNone/>
            </a:pPr>
            <a:r>
              <a:rPr lang="en-US" altLang="zh-CN" sz="1500" dirty="0" smtClean="0">
                <a:latin typeface="楷体" panose="02010609060101010101" charset="-122"/>
                <a:ea typeface="楷体" panose="02010609060101010101" charset="-122"/>
              </a:rPr>
              <a:t>BET27-B601：812701-60100</a:t>
            </a:r>
          </a:p>
          <a:p>
            <a:pPr marL="0">
              <a:spcBef>
                <a:spcPts val="0"/>
              </a:spcBef>
              <a:buNone/>
            </a:pPr>
            <a:r>
              <a:rPr lang="en-US" altLang="zh-CN" sz="1500" smtClean="0">
                <a:latin typeface="楷体" panose="02010609060101010101" charset="-122"/>
                <a:ea typeface="楷体" panose="02010609060101010101" charset="-122"/>
              </a:rPr>
              <a:t>BET27-C902：812703-90200</a:t>
            </a:r>
            <a:endParaRPr lang="zh-CN" altLang="zh-CN" sz="1500" dirty="0" smtClean="0">
              <a:latin typeface="楷体" panose="02010609060101010101" charset="-122"/>
              <a:ea typeface="楷体" panose="02010609060101010101" charset="-122"/>
            </a:endParaRPr>
          </a:p>
          <a:p>
            <a:pPr marL="0" lvl="0">
              <a:spcBef>
                <a:spcPts val="0"/>
              </a:spcBef>
              <a:buNone/>
            </a:pPr>
            <a:endParaRPr lang="en-US" altLang="zh-CN" sz="1600" dirty="0" smtClean="0">
              <a:latin typeface="楷体" panose="02010609060101010101" charset="-122"/>
              <a:ea typeface="楷体" panose="02010609060101010101" charset="-122"/>
            </a:endParaRPr>
          </a:p>
          <a:p>
            <a:pPr marL="0" lvl="0">
              <a:spcBef>
                <a:spcPts val="0"/>
              </a:spcBef>
            </a:pPr>
            <a:endParaRPr lang="en-US" altLang="zh-CN" sz="1600" dirty="0" smtClean="0">
              <a:latin typeface="楷体" panose="02010609060101010101" charset="-122"/>
              <a:ea typeface="楷体" panose="02010609060101010101" charset="-122"/>
            </a:endParaRPr>
          </a:p>
          <a:p>
            <a:pPr marL="0" lvl="0">
              <a:spcBef>
                <a:spcPts val="0"/>
              </a:spcBef>
            </a:pPr>
            <a:endParaRPr lang="zh-CN" altLang="zh-CN" sz="1600" dirty="0" smtClean="0">
              <a:latin typeface="楷体" panose="02010609060101010101" charset="-122"/>
              <a:ea typeface="楷体" panose="02010609060101010101" charset="-122"/>
            </a:endParaRPr>
          </a:p>
          <a:p>
            <a:pPr marL="0" lvl="0">
              <a:lnSpc>
                <a:spcPct val="100000"/>
              </a:lnSpc>
              <a:spcBef>
                <a:spcPts val="0"/>
              </a:spcBef>
            </a:pPr>
            <a:endParaRPr lang="zh-CN" altLang="zh-CN" sz="1600" dirty="0" smtClean="0">
              <a:latin typeface="楷体" panose="02010609060101010101" charset="-122"/>
              <a:ea typeface="楷体" panose="02010609060101010101" charset="-122"/>
            </a:endParaRPr>
          </a:p>
          <a:p>
            <a:pPr marL="0" lvl="0">
              <a:spcBef>
                <a:spcPts val="0"/>
              </a:spcBef>
            </a:pPr>
            <a:endParaRPr lang="en-US" altLang="zh-CN" sz="1600" dirty="0" smtClean="0">
              <a:latin typeface="楷体" panose="02010609060101010101" charset="-122"/>
              <a:ea typeface="楷体" panose="02010609060101010101" charset="-122"/>
            </a:endParaRPr>
          </a:p>
          <a:p>
            <a:pPr>
              <a:lnSpc>
                <a:spcPct val="100000"/>
              </a:lnSpc>
              <a:spcBef>
                <a:spcPts val="0"/>
              </a:spcBef>
            </a:pPr>
            <a:endParaRPr lang="zh-CN" altLang="zh-CN" sz="1600" dirty="0" smtClean="0"/>
          </a:p>
          <a:p>
            <a:pPr>
              <a:buNone/>
            </a:pPr>
            <a:endParaRPr lang="zh-CN" altLang="zh-CN" dirty="0" smtClean="0"/>
          </a:p>
          <a:p>
            <a:pPr>
              <a:buNone/>
            </a:pPr>
            <a:endParaRPr lang="zh-CN" altLang="en-US" dirty="0"/>
          </a:p>
        </p:txBody>
      </p:sp>
      <p:graphicFrame>
        <p:nvGraphicFramePr>
          <p:cNvPr id="5" name="表格 4"/>
          <p:cNvGraphicFramePr>
            <a:graphicFrameLocks noGrp="1"/>
          </p:cNvGraphicFramePr>
          <p:nvPr/>
        </p:nvGraphicFramePr>
        <p:xfrm>
          <a:off x="1619244" y="3079750"/>
          <a:ext cx="6677030" cy="365760"/>
        </p:xfrm>
        <a:graphic>
          <a:graphicData uri="http://schemas.openxmlformats.org/drawingml/2006/table">
            <a:tbl>
              <a:tblPr firstRow="1" bandRow="1">
                <a:tableStyleId>{5C22544A-7EE6-4342-B048-85BDC9FD1C3A}</a:tableStyleId>
              </a:tblPr>
              <a:tblGrid>
                <a:gridCol w="667703"/>
                <a:gridCol w="667703"/>
                <a:gridCol w="667703"/>
                <a:gridCol w="667703"/>
                <a:gridCol w="667703"/>
                <a:gridCol w="667703"/>
                <a:gridCol w="667703"/>
                <a:gridCol w="667703"/>
                <a:gridCol w="667703"/>
                <a:gridCol w="667703"/>
              </a:tblGrid>
              <a:tr h="0">
                <a:tc>
                  <a:txBody>
                    <a:bodyPr/>
                    <a:lstStyle/>
                    <a:p>
                      <a:pPr algn="ctr" fontAlgn="b"/>
                      <a:r>
                        <a:rPr lang="en-US" sz="1200" b="1" i="0" u="none" strike="noStrike" dirty="0" smtClean="0">
                          <a:solidFill>
                            <a:srgbClr val="0070C0"/>
                          </a:solidFill>
                          <a:latin typeface="楷体" panose="02010609060101010101" charset="-122"/>
                          <a:ea typeface="楷体" panose="02010609060101010101" charset="-122"/>
                        </a:rPr>
                        <a:t>0</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1</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2</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3</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4</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5</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6</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7</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8</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9</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24V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48V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60V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72V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96V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144V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≥300V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33</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1359218" y="508634"/>
            <a:ext cx="7332345" cy="4634865"/>
          </a:xfrm>
        </p:spPr>
        <p:txBody>
          <a:bodyPr>
            <a:normAutofit fontScale="92500" lnSpcReduction="10000"/>
          </a:bodyPr>
          <a:lstStyle/>
          <a:p>
            <a:pPr marL="0">
              <a:lnSpc>
                <a:spcPct val="100000"/>
              </a:lnSpc>
              <a:spcBef>
                <a:spcPts val="0"/>
              </a:spcBef>
              <a:buNone/>
            </a:pPr>
            <a:r>
              <a:rPr lang="zh-CN" altLang="en-US" sz="2200" dirty="0" smtClean="0">
                <a:latin typeface="楷体" panose="02010609060101010101" charset="-122"/>
                <a:ea typeface="楷体" panose="02010609060101010101" charset="-122"/>
              </a:rPr>
              <a:t>湖南贝特压缩机的</a:t>
            </a:r>
            <a:r>
              <a:rPr lang="zh-CN" altLang="zh-CN" sz="2200" dirty="0" smtClean="0">
                <a:latin typeface="楷体" panose="02010609060101010101" charset="-122"/>
                <a:ea typeface="楷体" panose="02010609060101010101" charset="-122"/>
              </a:rPr>
              <a:t>序列号编号规则</a:t>
            </a:r>
            <a:endParaRPr lang="en-US" altLang="zh-CN" sz="2200" dirty="0" smtClean="0">
              <a:latin typeface="楷体" panose="02010609060101010101" charset="-122"/>
              <a:ea typeface="楷体" panose="02010609060101010101" charset="-122"/>
            </a:endParaRPr>
          </a:p>
          <a:p>
            <a:pPr marL="0">
              <a:lnSpc>
                <a:spcPct val="100000"/>
              </a:lnSpc>
              <a:spcBef>
                <a:spcPts val="0"/>
              </a:spcBef>
              <a:buNone/>
            </a:pPr>
            <a:r>
              <a:rPr lang="zh-CN" altLang="zh-CN" sz="1600" dirty="0" smtClean="0">
                <a:latin typeface="楷体" panose="02010609060101010101" charset="-122"/>
                <a:ea typeface="楷体" panose="02010609060101010101" charset="-122"/>
              </a:rPr>
              <a:t>压缩机序列号：</a:t>
            </a: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 </a:t>
            </a: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 □□</a:t>
            </a: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a:t>
            </a:r>
          </a:p>
          <a:p>
            <a:pPr marL="0">
              <a:lnSpc>
                <a:spcPct val="100000"/>
              </a:lnSpc>
              <a:spcBef>
                <a:spcPts val="0"/>
              </a:spcBef>
              <a:buNone/>
            </a:pPr>
            <a:r>
              <a:rPr lang="en-US" altLang="zh-CN" sz="1600" dirty="0" smtClean="0">
                <a:latin typeface="楷体" panose="02010609060101010101" charset="-122"/>
                <a:ea typeface="楷体" panose="02010609060101010101" charset="-122"/>
              </a:rPr>
              <a:t>               A     B      C  D    E   F  G    H</a:t>
            </a:r>
            <a:endParaRPr lang="zh-CN" altLang="zh-CN" sz="1600" dirty="0" smtClean="0">
              <a:latin typeface="楷体" panose="02010609060101010101" charset="-122"/>
              <a:ea typeface="楷体" panose="02010609060101010101" charset="-122"/>
            </a:endParaRPr>
          </a:p>
          <a:p>
            <a:pPr marL="0">
              <a:lnSpc>
                <a:spcPct val="100000"/>
              </a:lnSpc>
              <a:spcBef>
                <a:spcPts val="0"/>
              </a:spcBef>
              <a:buNone/>
            </a:pPr>
            <a:r>
              <a:rPr lang="zh-CN" altLang="zh-CN" sz="1600" dirty="0" smtClean="0">
                <a:latin typeface="楷体" panose="02010609060101010101" charset="-122"/>
                <a:ea typeface="楷体" panose="02010609060101010101" charset="-122"/>
              </a:rPr>
              <a:t>压缩机型号：</a:t>
            </a:r>
            <a:r>
              <a:rPr lang="en-US" altLang="zh-CN" sz="1600" dirty="0" smtClean="0">
                <a:latin typeface="楷体" panose="02010609060101010101" charset="-122"/>
                <a:ea typeface="楷体" panose="02010609060101010101" charset="-122"/>
              </a:rPr>
              <a:t> </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 </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a:t>
            </a:r>
            <a:r>
              <a:rPr lang="zh-CN" altLang="zh-CN" sz="1600" u="sng" dirty="0" smtClean="0">
                <a:latin typeface="楷体" panose="02010609060101010101" charset="-122"/>
                <a:ea typeface="楷体" panose="02010609060101010101" charset="-122"/>
              </a:rPr>
              <a:t>□</a:t>
            </a:r>
            <a:r>
              <a:rPr lang="zh-CN" altLang="zh-CN" sz="1600" dirty="0" smtClean="0">
                <a:latin typeface="楷体" panose="02010609060101010101" charset="-122"/>
                <a:ea typeface="楷体" panose="02010609060101010101" charset="-122"/>
              </a:rPr>
              <a:t> </a:t>
            </a:r>
            <a:r>
              <a:rPr lang="zh-CN" altLang="zh-CN" sz="1600" u="sng" dirty="0" smtClean="0">
                <a:latin typeface="楷体" panose="02010609060101010101" charset="-122"/>
                <a:ea typeface="楷体" panose="02010609060101010101" charset="-122"/>
              </a:rPr>
              <a:t>□□</a:t>
            </a:r>
            <a:endParaRPr lang="zh-CN" altLang="zh-CN" sz="1600" dirty="0" smtClean="0">
              <a:latin typeface="楷体" panose="02010609060101010101" charset="-122"/>
              <a:ea typeface="楷体" panose="02010609060101010101" charset="-122"/>
            </a:endParaRPr>
          </a:p>
          <a:p>
            <a:pPr marL="0">
              <a:lnSpc>
                <a:spcPct val="100000"/>
              </a:lnSpc>
              <a:spcBef>
                <a:spcPts val="0"/>
              </a:spcBef>
              <a:buNone/>
            </a:pPr>
            <a:r>
              <a:rPr lang="en-US" altLang="zh-CN" sz="1600" dirty="0" smtClean="0">
                <a:latin typeface="楷体" panose="02010609060101010101" charset="-122"/>
                <a:ea typeface="楷体" panose="02010609060101010101" charset="-122"/>
              </a:rPr>
              <a:t>             1 2 3  4 5     6  7  8 9</a:t>
            </a:r>
          </a:p>
          <a:p>
            <a:pPr marL="0" lvl="0">
              <a:lnSpc>
                <a:spcPct val="100000"/>
              </a:lnSpc>
              <a:spcBef>
                <a:spcPts val="0"/>
              </a:spcBef>
            </a:pPr>
            <a:r>
              <a:rPr lang="zh-CN" altLang="zh-CN" sz="1600" dirty="0" smtClean="0">
                <a:latin typeface="楷体" panose="02010609060101010101" charset="-122"/>
                <a:ea typeface="楷体" panose="02010609060101010101" charset="-122"/>
              </a:rPr>
              <a:t>序列号共</a:t>
            </a:r>
            <a:r>
              <a:rPr lang="en-US" altLang="zh-CN" sz="1600" dirty="0" smtClean="0">
                <a:latin typeface="楷体" panose="02010609060101010101" charset="-122"/>
                <a:ea typeface="楷体" panose="02010609060101010101" charset="-122"/>
              </a:rPr>
              <a:t>13</a:t>
            </a:r>
            <a:r>
              <a:rPr lang="zh-CN" altLang="zh-CN" sz="1600" dirty="0" smtClean="0">
                <a:latin typeface="楷体" panose="02010609060101010101" charset="-122"/>
                <a:ea typeface="楷体" panose="02010609060101010101" charset="-122"/>
              </a:rPr>
              <a:t>位，由字母和数字组成</a:t>
            </a:r>
          </a:p>
          <a:p>
            <a:pPr marL="0" lvl="0">
              <a:spcBef>
                <a:spcPts val="0"/>
              </a:spcBef>
            </a:pPr>
            <a:r>
              <a:rPr lang="en-US" altLang="zh-CN" sz="1600" dirty="0" smtClean="0">
                <a:latin typeface="楷体" panose="02010609060101010101" charset="-122"/>
                <a:ea typeface="楷体" panose="02010609060101010101" charset="-122"/>
              </a:rPr>
              <a:t>A  1</a:t>
            </a:r>
            <a:r>
              <a:rPr lang="zh-CN" altLang="zh-CN" sz="1600" dirty="0" smtClean="0">
                <a:latin typeface="楷体" panose="02010609060101010101" charset="-122"/>
                <a:ea typeface="楷体" panose="02010609060101010101" charset="-122"/>
              </a:rPr>
              <a:t>位字母，固定为</a:t>
            </a:r>
            <a:r>
              <a:rPr lang="en-US" altLang="zh-CN" sz="1600" dirty="0" smtClean="0">
                <a:latin typeface="楷体" panose="02010609060101010101" charset="-122"/>
                <a:ea typeface="楷体" panose="02010609060101010101" charset="-122"/>
              </a:rPr>
              <a:t>B</a:t>
            </a:r>
            <a:r>
              <a:rPr lang="zh-CN" altLang="zh-CN" sz="1600" dirty="0" smtClean="0">
                <a:latin typeface="楷体" panose="02010609060101010101" charset="-122"/>
                <a:ea typeface="楷体" panose="02010609060101010101" charset="-122"/>
              </a:rPr>
              <a:t>，表示湖南贝特公司电动一体式压缩机</a:t>
            </a:r>
          </a:p>
          <a:p>
            <a:pPr marL="0" lvl="0">
              <a:spcBef>
                <a:spcPts val="0"/>
              </a:spcBef>
            </a:pPr>
            <a:r>
              <a:rPr lang="en-US" altLang="zh-CN" sz="1600" dirty="0" smtClean="0">
                <a:latin typeface="楷体" panose="02010609060101010101" charset="-122"/>
                <a:ea typeface="楷体" panose="02010609060101010101" charset="-122"/>
              </a:rPr>
              <a:t>B  2</a:t>
            </a:r>
            <a:r>
              <a:rPr lang="zh-CN" altLang="zh-CN" sz="1600" dirty="0" smtClean="0">
                <a:latin typeface="楷体" panose="02010609060101010101" charset="-122"/>
                <a:ea typeface="楷体" panose="02010609060101010101" charset="-122"/>
              </a:rPr>
              <a:t>位数字，与压缩机型号第</a:t>
            </a:r>
            <a:r>
              <a:rPr lang="en-US" altLang="zh-CN" sz="1600" dirty="0" smtClean="0">
                <a:latin typeface="楷体" panose="02010609060101010101" charset="-122"/>
                <a:ea typeface="楷体" panose="02010609060101010101" charset="-122"/>
              </a:rPr>
              <a:t>4</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5</a:t>
            </a:r>
            <a:r>
              <a:rPr lang="zh-CN" altLang="zh-CN" sz="1600" dirty="0" smtClean="0">
                <a:latin typeface="楷体" panose="02010609060101010101" charset="-122"/>
                <a:ea typeface="楷体" panose="02010609060101010101" charset="-122"/>
              </a:rPr>
              <a:t>位相同，标示压缩机排量</a:t>
            </a:r>
          </a:p>
          <a:p>
            <a:pPr marL="0" lvl="0">
              <a:spcBef>
                <a:spcPts val="0"/>
              </a:spcBef>
            </a:pPr>
            <a:r>
              <a:rPr lang="en-US" altLang="zh-CN" sz="1600" dirty="0" smtClean="0">
                <a:latin typeface="楷体" panose="02010609060101010101" charset="-122"/>
                <a:ea typeface="楷体" panose="02010609060101010101" charset="-122"/>
              </a:rPr>
              <a:t>C  1</a:t>
            </a:r>
            <a:r>
              <a:rPr lang="zh-CN" altLang="zh-CN" sz="1600" dirty="0" smtClean="0">
                <a:latin typeface="楷体" panose="02010609060101010101" charset="-122"/>
                <a:ea typeface="楷体" panose="02010609060101010101" charset="-122"/>
              </a:rPr>
              <a:t>位字母，与压缩机型号第</a:t>
            </a:r>
            <a:r>
              <a:rPr lang="en-US" altLang="zh-CN" sz="1600" dirty="0" smtClean="0">
                <a:latin typeface="楷体" panose="02010609060101010101" charset="-122"/>
                <a:ea typeface="楷体" panose="02010609060101010101" charset="-122"/>
              </a:rPr>
              <a:t>6</a:t>
            </a:r>
            <a:r>
              <a:rPr lang="zh-CN" altLang="zh-CN" sz="1600" dirty="0" smtClean="0">
                <a:latin typeface="楷体" panose="02010609060101010101" charset="-122"/>
                <a:ea typeface="楷体" panose="02010609060101010101" charset="-122"/>
              </a:rPr>
              <a:t>位相同，标示压缩机的外形（模具）差异</a:t>
            </a:r>
          </a:p>
          <a:p>
            <a:pPr marL="0" lvl="0">
              <a:spcBef>
                <a:spcPts val="0"/>
              </a:spcBef>
            </a:pPr>
            <a:r>
              <a:rPr lang="en-US" altLang="zh-CN" sz="1600" dirty="0" smtClean="0">
                <a:latin typeface="楷体" panose="02010609060101010101" charset="-122"/>
                <a:ea typeface="楷体" panose="02010609060101010101" charset="-122"/>
              </a:rPr>
              <a:t>D  1</a:t>
            </a:r>
            <a:r>
              <a:rPr lang="zh-CN" altLang="zh-CN" sz="1600" dirty="0" smtClean="0">
                <a:latin typeface="楷体" panose="02010609060101010101" charset="-122"/>
                <a:ea typeface="楷体" panose="02010609060101010101" charset="-122"/>
              </a:rPr>
              <a:t>位数字，与压缩机型号第</a:t>
            </a:r>
            <a:r>
              <a:rPr lang="en-US" altLang="zh-CN" sz="1600" dirty="0" smtClean="0">
                <a:latin typeface="楷体" panose="02010609060101010101" charset="-122"/>
                <a:ea typeface="楷体" panose="02010609060101010101" charset="-122"/>
              </a:rPr>
              <a:t>7</a:t>
            </a:r>
            <a:r>
              <a:rPr lang="zh-CN" altLang="zh-CN" sz="1600" dirty="0" smtClean="0">
                <a:latin typeface="楷体" panose="02010609060101010101" charset="-122"/>
                <a:ea typeface="楷体" panose="02010609060101010101" charset="-122"/>
              </a:rPr>
              <a:t>位相同，标示压缩机电压等级</a:t>
            </a:r>
            <a:endParaRPr lang="en-US" altLang="zh-CN" sz="1600" dirty="0" smtClean="0">
              <a:latin typeface="楷体" panose="02010609060101010101" charset="-122"/>
              <a:ea typeface="楷体" panose="02010609060101010101" charset="-122"/>
            </a:endParaRPr>
          </a:p>
          <a:p>
            <a:pPr marL="0" lvl="0">
              <a:lnSpc>
                <a:spcPct val="100000"/>
              </a:lnSpc>
              <a:spcBef>
                <a:spcPts val="0"/>
              </a:spcBef>
            </a:pPr>
            <a:endParaRPr lang="en-US" altLang="zh-CN" sz="1600" dirty="0" smtClean="0">
              <a:latin typeface="楷体" panose="02010609060101010101" charset="-122"/>
              <a:ea typeface="楷体" panose="02010609060101010101" charset="-122"/>
            </a:endParaRPr>
          </a:p>
          <a:p>
            <a:pPr marL="0" lvl="0">
              <a:lnSpc>
                <a:spcPct val="100000"/>
              </a:lnSpc>
              <a:spcBef>
                <a:spcPts val="0"/>
              </a:spcBef>
            </a:pPr>
            <a:endParaRPr lang="en-US" altLang="zh-CN" sz="1600" dirty="0" smtClean="0">
              <a:latin typeface="楷体" panose="02010609060101010101" charset="-122"/>
              <a:ea typeface="楷体" panose="02010609060101010101" charset="-122"/>
            </a:endParaRPr>
          </a:p>
          <a:p>
            <a:pPr marL="0" lvl="0">
              <a:spcBef>
                <a:spcPts val="0"/>
              </a:spcBef>
            </a:pPr>
            <a:r>
              <a:rPr lang="en-US" altLang="zh-CN" sz="1600" dirty="0" smtClean="0">
                <a:latin typeface="楷体" panose="02010609060101010101" charset="-122"/>
                <a:ea typeface="楷体" panose="02010609060101010101" charset="-122"/>
              </a:rPr>
              <a:t>E  2</a:t>
            </a:r>
            <a:r>
              <a:rPr lang="zh-CN" altLang="zh-CN" sz="1600" dirty="0" smtClean="0">
                <a:latin typeface="楷体" panose="02010609060101010101" charset="-122"/>
                <a:ea typeface="楷体" panose="02010609060101010101" charset="-122"/>
              </a:rPr>
              <a:t>位数字，与压缩机型号第</a:t>
            </a:r>
            <a:r>
              <a:rPr lang="en-US" altLang="zh-CN" sz="1600" dirty="0" smtClean="0">
                <a:latin typeface="楷体" panose="02010609060101010101" charset="-122"/>
                <a:ea typeface="楷体" panose="02010609060101010101" charset="-122"/>
              </a:rPr>
              <a:t>8</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9</a:t>
            </a:r>
            <a:r>
              <a:rPr lang="zh-CN" altLang="zh-CN" sz="1600" dirty="0" smtClean="0">
                <a:latin typeface="楷体" panose="02010609060101010101" charset="-122"/>
                <a:ea typeface="楷体" panose="02010609060101010101" charset="-122"/>
              </a:rPr>
              <a:t>位相同，标示压缩机细节差异，无明确含义</a:t>
            </a:r>
          </a:p>
          <a:p>
            <a:pPr marL="0" lvl="0">
              <a:spcBef>
                <a:spcPts val="0"/>
              </a:spcBef>
            </a:pPr>
            <a:r>
              <a:rPr lang="en-US" altLang="zh-CN" sz="1600" dirty="0" smtClean="0">
                <a:latin typeface="楷体" panose="02010609060101010101" charset="-122"/>
                <a:ea typeface="楷体" panose="02010609060101010101" charset="-122"/>
              </a:rPr>
              <a:t>F  1</a:t>
            </a:r>
            <a:r>
              <a:rPr lang="zh-CN" altLang="zh-CN" sz="1600" dirty="0" smtClean="0">
                <a:latin typeface="楷体" panose="02010609060101010101" charset="-122"/>
                <a:ea typeface="楷体" panose="02010609060101010101" charset="-122"/>
              </a:rPr>
              <a:t>位数字，生产年份标识，例如</a:t>
            </a:r>
            <a:r>
              <a:rPr lang="en-US" altLang="zh-CN" sz="1600" dirty="0" smtClean="0">
                <a:latin typeface="楷体" panose="02010609060101010101" charset="-122"/>
                <a:ea typeface="楷体" panose="02010609060101010101" charset="-122"/>
              </a:rPr>
              <a:t>2012</a:t>
            </a:r>
            <a:r>
              <a:rPr lang="zh-CN" altLang="zh-CN" sz="1600" dirty="0" smtClean="0">
                <a:latin typeface="楷体" panose="02010609060101010101" charset="-122"/>
                <a:ea typeface="楷体" panose="02010609060101010101" charset="-122"/>
              </a:rPr>
              <a:t>年为</a:t>
            </a:r>
            <a:r>
              <a:rPr lang="en-US" altLang="zh-CN" sz="1600" dirty="0" smtClean="0">
                <a:latin typeface="楷体" panose="02010609060101010101" charset="-122"/>
                <a:ea typeface="楷体" panose="02010609060101010101" charset="-122"/>
              </a:rPr>
              <a:t>2</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2013</a:t>
            </a:r>
            <a:r>
              <a:rPr lang="zh-CN" altLang="zh-CN" sz="1600" dirty="0" smtClean="0">
                <a:latin typeface="楷体" panose="02010609060101010101" charset="-122"/>
                <a:ea typeface="楷体" panose="02010609060101010101" charset="-122"/>
              </a:rPr>
              <a:t>年为</a:t>
            </a:r>
            <a:r>
              <a:rPr lang="en-US" altLang="zh-CN" sz="1600" dirty="0" smtClean="0">
                <a:latin typeface="楷体" panose="02010609060101010101" charset="-122"/>
                <a:ea typeface="楷体" panose="02010609060101010101" charset="-122"/>
              </a:rPr>
              <a:t>3</a:t>
            </a:r>
            <a:endParaRPr lang="zh-CN" altLang="zh-CN" sz="1600" dirty="0" smtClean="0">
              <a:latin typeface="楷体" panose="02010609060101010101" charset="-122"/>
              <a:ea typeface="楷体" panose="02010609060101010101" charset="-122"/>
            </a:endParaRPr>
          </a:p>
          <a:p>
            <a:pPr marL="0" lvl="0">
              <a:spcBef>
                <a:spcPts val="0"/>
              </a:spcBef>
            </a:pPr>
            <a:r>
              <a:rPr lang="en-US" altLang="zh-CN" sz="1600" dirty="0" smtClean="0">
                <a:latin typeface="楷体" panose="02010609060101010101" charset="-122"/>
                <a:ea typeface="楷体" panose="02010609060101010101" charset="-122"/>
              </a:rPr>
              <a:t>G  1</a:t>
            </a:r>
            <a:r>
              <a:rPr lang="zh-CN" altLang="zh-CN" sz="1600" dirty="0" smtClean="0">
                <a:latin typeface="楷体" panose="02010609060101010101" charset="-122"/>
                <a:ea typeface="楷体" panose="02010609060101010101" charset="-122"/>
              </a:rPr>
              <a:t>位数字或字母，生产月份标识，</a:t>
            </a:r>
            <a:r>
              <a:rPr lang="en-US" altLang="zh-CN" sz="1600" dirty="0" smtClean="0">
                <a:latin typeface="楷体" panose="02010609060101010101" charset="-122"/>
                <a:ea typeface="楷体" panose="02010609060101010101" charset="-122"/>
              </a:rPr>
              <a:t>1</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9</a:t>
            </a:r>
            <a:r>
              <a:rPr lang="zh-CN" altLang="zh-CN" sz="1600" dirty="0" smtClean="0">
                <a:latin typeface="楷体" panose="02010609060101010101" charset="-122"/>
                <a:ea typeface="楷体" panose="02010609060101010101" charset="-122"/>
              </a:rPr>
              <a:t>月为</a:t>
            </a:r>
            <a:r>
              <a:rPr lang="en-US" altLang="zh-CN" sz="1600" dirty="0" smtClean="0">
                <a:latin typeface="楷体" panose="02010609060101010101" charset="-122"/>
                <a:ea typeface="楷体" panose="02010609060101010101" charset="-122"/>
              </a:rPr>
              <a:t>1</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9</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10</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11</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12</a:t>
            </a:r>
            <a:r>
              <a:rPr lang="zh-CN" altLang="zh-CN" sz="1600" dirty="0" smtClean="0">
                <a:latin typeface="楷体" panose="02010609060101010101" charset="-122"/>
                <a:ea typeface="楷体" panose="02010609060101010101" charset="-122"/>
              </a:rPr>
              <a:t>月为</a:t>
            </a:r>
            <a:r>
              <a:rPr lang="en-US" altLang="zh-CN" sz="1600" dirty="0" smtClean="0">
                <a:latin typeface="楷体" panose="02010609060101010101" charset="-122"/>
                <a:ea typeface="楷体" panose="02010609060101010101" charset="-122"/>
              </a:rPr>
              <a:t>A</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B</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C</a:t>
            </a:r>
            <a:endParaRPr lang="zh-CN" altLang="zh-CN" sz="1600" dirty="0" smtClean="0">
              <a:latin typeface="楷体" panose="02010609060101010101" charset="-122"/>
              <a:ea typeface="楷体" panose="02010609060101010101" charset="-122"/>
            </a:endParaRPr>
          </a:p>
          <a:p>
            <a:pPr marL="0" lvl="0">
              <a:spcBef>
                <a:spcPts val="0"/>
              </a:spcBef>
            </a:pPr>
            <a:r>
              <a:rPr lang="en-US" altLang="zh-CN" sz="1600" dirty="0" smtClean="0">
                <a:latin typeface="楷体" panose="02010609060101010101" charset="-122"/>
                <a:ea typeface="楷体" panose="02010609060101010101" charset="-122"/>
              </a:rPr>
              <a:t>H  4</a:t>
            </a:r>
            <a:r>
              <a:rPr lang="zh-CN" altLang="zh-CN" sz="1600" dirty="0" smtClean="0">
                <a:latin typeface="楷体" panose="02010609060101010101" charset="-122"/>
                <a:ea typeface="楷体" panose="02010609060101010101" charset="-122"/>
              </a:rPr>
              <a:t>位数字，流水号，从</a:t>
            </a:r>
            <a:r>
              <a:rPr lang="en-US" altLang="zh-CN" sz="1600" dirty="0" smtClean="0">
                <a:latin typeface="楷体" panose="02010609060101010101" charset="-122"/>
                <a:ea typeface="楷体" panose="02010609060101010101" charset="-122"/>
              </a:rPr>
              <a:t>0001</a:t>
            </a:r>
            <a:r>
              <a:rPr lang="zh-CN" altLang="zh-CN" sz="1600" dirty="0" smtClean="0">
                <a:latin typeface="楷体" panose="02010609060101010101" charset="-122"/>
                <a:ea typeface="楷体" panose="02010609060101010101" charset="-122"/>
              </a:rPr>
              <a:t>开始顺序编号</a:t>
            </a:r>
            <a:endParaRPr lang="en-US" altLang="zh-CN" sz="1600" dirty="0" smtClean="0">
              <a:latin typeface="楷体" panose="02010609060101010101" charset="-122"/>
              <a:ea typeface="楷体" panose="02010609060101010101" charset="-122"/>
            </a:endParaRPr>
          </a:p>
          <a:p>
            <a:pPr marL="0">
              <a:spcBef>
                <a:spcPts val="0"/>
              </a:spcBef>
              <a:buNone/>
            </a:pPr>
            <a:r>
              <a:rPr lang="en-US" altLang="zh-CN" sz="1600" dirty="0" smtClean="0">
                <a:latin typeface="楷体" panose="02010609060101010101" charset="-122"/>
                <a:ea typeface="楷体" panose="02010609060101010101" charset="-122"/>
              </a:rPr>
              <a:t>  </a:t>
            </a:r>
            <a:r>
              <a:rPr lang="zh-CN" altLang="zh-CN" sz="1600" dirty="0" smtClean="0">
                <a:latin typeface="楷体" panose="02010609060101010101" charset="-122"/>
                <a:ea typeface="楷体" panose="02010609060101010101" charset="-122"/>
              </a:rPr>
              <a:t>举例说明</a:t>
            </a:r>
          </a:p>
          <a:p>
            <a:pPr marL="0">
              <a:spcBef>
                <a:spcPts val="0"/>
              </a:spcBef>
              <a:buNone/>
            </a:pPr>
            <a:r>
              <a:rPr lang="en-US" altLang="zh-CN" sz="1600" dirty="0" smtClean="0">
                <a:latin typeface="楷体" panose="02010609060101010101" charset="-122"/>
                <a:ea typeface="楷体" panose="02010609060101010101" charset="-122"/>
              </a:rPr>
              <a:t>B27A401680001</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2016</a:t>
            </a:r>
            <a:r>
              <a:rPr lang="zh-CN" altLang="zh-CN" sz="1600" dirty="0" smtClean="0">
                <a:latin typeface="楷体" panose="02010609060101010101" charset="-122"/>
                <a:ea typeface="楷体" panose="02010609060101010101" charset="-122"/>
              </a:rPr>
              <a:t>年</a:t>
            </a:r>
            <a:r>
              <a:rPr lang="en-US" altLang="zh-CN" sz="1600" dirty="0" smtClean="0">
                <a:latin typeface="楷体" panose="02010609060101010101" charset="-122"/>
                <a:ea typeface="楷体" panose="02010609060101010101" charset="-122"/>
              </a:rPr>
              <a:t>8</a:t>
            </a:r>
            <a:r>
              <a:rPr lang="zh-CN" altLang="zh-CN" sz="1600" dirty="0" smtClean="0">
                <a:latin typeface="楷体" panose="02010609060101010101" charset="-122"/>
                <a:ea typeface="楷体" panose="02010609060101010101" charset="-122"/>
              </a:rPr>
              <a:t>月生产的第</a:t>
            </a:r>
            <a:r>
              <a:rPr lang="en-US" altLang="zh-CN" sz="1600" dirty="0" smtClean="0">
                <a:latin typeface="楷体" panose="02010609060101010101" charset="-122"/>
                <a:ea typeface="楷体" panose="02010609060101010101" charset="-122"/>
              </a:rPr>
              <a:t>1</a:t>
            </a:r>
            <a:r>
              <a:rPr lang="zh-CN" altLang="zh-CN" sz="1600" dirty="0" smtClean="0">
                <a:latin typeface="楷体" panose="02010609060101010101" charset="-122"/>
                <a:ea typeface="楷体" panose="02010609060101010101" charset="-122"/>
              </a:rPr>
              <a:t>台</a:t>
            </a:r>
            <a:r>
              <a:rPr lang="en-US" altLang="zh-CN" sz="1600" dirty="0" smtClean="0">
                <a:latin typeface="楷体" panose="02010609060101010101" charset="-122"/>
                <a:ea typeface="楷体" panose="02010609060101010101" charset="-122"/>
              </a:rPr>
              <a:t>BAT27-A401</a:t>
            </a:r>
            <a:r>
              <a:rPr lang="zh-CN" altLang="zh-CN" sz="1600" dirty="0" smtClean="0">
                <a:latin typeface="楷体" panose="02010609060101010101" charset="-122"/>
                <a:ea typeface="楷体" panose="02010609060101010101" charset="-122"/>
              </a:rPr>
              <a:t>型压缩机</a:t>
            </a:r>
          </a:p>
          <a:p>
            <a:pPr marL="0">
              <a:spcBef>
                <a:spcPts val="0"/>
              </a:spcBef>
              <a:buNone/>
            </a:pPr>
            <a:r>
              <a:rPr lang="en-US" altLang="zh-CN" sz="1600" dirty="0" smtClean="0">
                <a:latin typeface="楷体" panose="02010609060101010101" charset="-122"/>
                <a:ea typeface="楷体" panose="02010609060101010101" charset="-122"/>
              </a:rPr>
              <a:t>B36C9046C0010</a:t>
            </a:r>
            <a:r>
              <a:rPr lang="zh-CN" altLang="zh-CN" sz="1600" dirty="0" smtClean="0">
                <a:latin typeface="楷体" panose="02010609060101010101" charset="-122"/>
                <a:ea typeface="楷体" panose="02010609060101010101" charset="-122"/>
              </a:rPr>
              <a:t>：</a:t>
            </a:r>
            <a:r>
              <a:rPr lang="en-US" altLang="zh-CN" sz="1600" dirty="0" smtClean="0">
                <a:latin typeface="楷体" panose="02010609060101010101" charset="-122"/>
                <a:ea typeface="楷体" panose="02010609060101010101" charset="-122"/>
              </a:rPr>
              <a:t>2016</a:t>
            </a:r>
            <a:r>
              <a:rPr lang="zh-CN" altLang="zh-CN" sz="1600" dirty="0" smtClean="0">
                <a:latin typeface="楷体" panose="02010609060101010101" charset="-122"/>
                <a:ea typeface="楷体" panose="02010609060101010101" charset="-122"/>
              </a:rPr>
              <a:t>年</a:t>
            </a:r>
            <a:r>
              <a:rPr lang="en-US" altLang="zh-CN" sz="1600" dirty="0" smtClean="0">
                <a:latin typeface="楷体" panose="02010609060101010101" charset="-122"/>
                <a:ea typeface="楷体" panose="02010609060101010101" charset="-122"/>
              </a:rPr>
              <a:t>12</a:t>
            </a:r>
            <a:r>
              <a:rPr lang="zh-CN" altLang="zh-CN" sz="1600" dirty="0" smtClean="0">
                <a:latin typeface="楷体" panose="02010609060101010101" charset="-122"/>
                <a:ea typeface="楷体" panose="02010609060101010101" charset="-122"/>
              </a:rPr>
              <a:t>月生产的第</a:t>
            </a:r>
            <a:r>
              <a:rPr lang="en-US" altLang="zh-CN" sz="1600" dirty="0" smtClean="0">
                <a:latin typeface="楷体" panose="02010609060101010101" charset="-122"/>
                <a:ea typeface="楷体" panose="02010609060101010101" charset="-122"/>
              </a:rPr>
              <a:t>10</a:t>
            </a:r>
            <a:r>
              <a:rPr lang="zh-CN" altLang="zh-CN" sz="1600" dirty="0" smtClean="0">
                <a:latin typeface="楷体" panose="02010609060101010101" charset="-122"/>
                <a:ea typeface="楷体" panose="02010609060101010101" charset="-122"/>
              </a:rPr>
              <a:t>台</a:t>
            </a:r>
            <a:r>
              <a:rPr lang="en-US" altLang="zh-CN" sz="1600" dirty="0" smtClean="0">
                <a:latin typeface="楷体" panose="02010609060101010101" charset="-122"/>
                <a:ea typeface="楷体" panose="02010609060101010101" charset="-122"/>
              </a:rPr>
              <a:t>BAT36-C904</a:t>
            </a:r>
            <a:r>
              <a:rPr lang="zh-CN" altLang="zh-CN" sz="1600" dirty="0" smtClean="0">
                <a:latin typeface="楷体" panose="02010609060101010101" charset="-122"/>
                <a:ea typeface="楷体" panose="02010609060101010101" charset="-122"/>
              </a:rPr>
              <a:t>型压缩机</a:t>
            </a:r>
          </a:p>
          <a:p>
            <a:pPr marL="0" lvl="0">
              <a:spcBef>
                <a:spcPts val="0"/>
              </a:spcBef>
            </a:pPr>
            <a:endParaRPr lang="en-US" altLang="zh-CN" sz="1600" dirty="0" smtClean="0">
              <a:latin typeface="楷体" panose="02010609060101010101" charset="-122"/>
              <a:ea typeface="楷体" panose="02010609060101010101" charset="-122"/>
            </a:endParaRPr>
          </a:p>
          <a:p>
            <a:pPr marL="0" lvl="0">
              <a:spcBef>
                <a:spcPts val="0"/>
              </a:spcBef>
            </a:pPr>
            <a:endParaRPr lang="en-US" altLang="zh-CN" sz="1600" dirty="0" smtClean="0">
              <a:latin typeface="楷体" panose="02010609060101010101" charset="-122"/>
              <a:ea typeface="楷体" panose="02010609060101010101" charset="-122"/>
            </a:endParaRPr>
          </a:p>
          <a:p>
            <a:pPr marL="0" lvl="0">
              <a:spcBef>
                <a:spcPts val="0"/>
              </a:spcBef>
            </a:pPr>
            <a:endParaRPr lang="zh-CN" altLang="zh-CN" sz="1600" dirty="0" smtClean="0">
              <a:latin typeface="楷体" panose="02010609060101010101" charset="-122"/>
              <a:ea typeface="楷体" panose="02010609060101010101" charset="-122"/>
            </a:endParaRPr>
          </a:p>
          <a:p>
            <a:pPr marL="0" lvl="0">
              <a:lnSpc>
                <a:spcPct val="100000"/>
              </a:lnSpc>
              <a:spcBef>
                <a:spcPts val="0"/>
              </a:spcBef>
            </a:pPr>
            <a:endParaRPr lang="zh-CN" altLang="zh-CN" sz="1600" dirty="0" smtClean="0">
              <a:latin typeface="楷体" panose="02010609060101010101" charset="-122"/>
              <a:ea typeface="楷体" panose="02010609060101010101" charset="-122"/>
            </a:endParaRPr>
          </a:p>
          <a:p>
            <a:pPr marL="0" lvl="0">
              <a:spcBef>
                <a:spcPts val="0"/>
              </a:spcBef>
            </a:pPr>
            <a:endParaRPr lang="en-US" altLang="zh-CN" sz="1600" dirty="0" smtClean="0">
              <a:latin typeface="楷体" panose="02010609060101010101" charset="-122"/>
              <a:ea typeface="楷体" panose="02010609060101010101" charset="-122"/>
            </a:endParaRPr>
          </a:p>
          <a:p>
            <a:pPr>
              <a:lnSpc>
                <a:spcPct val="100000"/>
              </a:lnSpc>
              <a:spcBef>
                <a:spcPts val="0"/>
              </a:spcBef>
            </a:pPr>
            <a:endParaRPr lang="zh-CN" altLang="zh-CN" sz="1600" dirty="0" smtClean="0"/>
          </a:p>
          <a:p>
            <a:pPr>
              <a:buNone/>
            </a:pPr>
            <a:endParaRPr lang="zh-CN" altLang="zh-CN" dirty="0" smtClean="0"/>
          </a:p>
          <a:p>
            <a:pPr>
              <a:buNone/>
            </a:pPr>
            <a:endParaRPr lang="zh-CN" altLang="en-US" dirty="0"/>
          </a:p>
        </p:txBody>
      </p:sp>
      <p:graphicFrame>
        <p:nvGraphicFramePr>
          <p:cNvPr id="5" name="表格 4"/>
          <p:cNvGraphicFramePr>
            <a:graphicFrameLocks noGrp="1"/>
          </p:cNvGraphicFramePr>
          <p:nvPr/>
        </p:nvGraphicFramePr>
        <p:xfrm>
          <a:off x="1619244" y="2755900"/>
          <a:ext cx="6677030" cy="365760"/>
        </p:xfrm>
        <a:graphic>
          <a:graphicData uri="http://schemas.openxmlformats.org/drawingml/2006/table">
            <a:tbl>
              <a:tblPr firstRow="1" bandRow="1">
                <a:tableStyleId>{5C22544A-7EE6-4342-B048-85BDC9FD1C3A}</a:tableStyleId>
              </a:tblPr>
              <a:tblGrid>
                <a:gridCol w="667703"/>
                <a:gridCol w="667703"/>
                <a:gridCol w="667703"/>
                <a:gridCol w="667703"/>
                <a:gridCol w="667703"/>
                <a:gridCol w="667703"/>
                <a:gridCol w="667703"/>
                <a:gridCol w="667703"/>
                <a:gridCol w="667703"/>
                <a:gridCol w="667703"/>
              </a:tblGrid>
              <a:tr h="0">
                <a:tc>
                  <a:txBody>
                    <a:bodyPr/>
                    <a:lstStyle/>
                    <a:p>
                      <a:pPr algn="ctr" fontAlgn="b"/>
                      <a:r>
                        <a:rPr lang="en-US" sz="1200" b="1" i="0" u="none" strike="noStrike" dirty="0" smtClean="0">
                          <a:solidFill>
                            <a:srgbClr val="0070C0"/>
                          </a:solidFill>
                          <a:latin typeface="楷体" panose="02010609060101010101" charset="-122"/>
                          <a:ea typeface="楷体" panose="02010609060101010101" charset="-122"/>
                        </a:rPr>
                        <a:t>0</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1</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2</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3</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4</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5</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6</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7</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8</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9</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24V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48V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60V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72V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96V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200" b="1" i="0" u="none" strike="noStrike" dirty="0">
                          <a:solidFill>
                            <a:srgbClr val="0070C0"/>
                          </a:solidFill>
                          <a:latin typeface="楷体" panose="02010609060101010101" charset="-122"/>
                          <a:ea typeface="楷体" panose="02010609060101010101" charset="-122"/>
                        </a:rPr>
                        <a:t>144V</a:t>
                      </a:r>
                      <a:endParaRPr lang="zh-CN" sz="1200" b="1" i="0" u="none" strike="noStrike" dirty="0">
                        <a:solidFill>
                          <a:srgbClr val="0070C0"/>
                        </a:solidFill>
                        <a:latin typeface="楷体" panose="02010609060101010101" charset="-122"/>
                        <a:ea typeface="楷体" panose="02010609060101010101" charset="-122"/>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暂空</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zh-CN" sz="1200" b="1" i="0" u="none" strike="noStrike" dirty="0">
                          <a:solidFill>
                            <a:srgbClr val="0070C0"/>
                          </a:solidFill>
                          <a:latin typeface="楷体" panose="02010609060101010101" charset="-122"/>
                          <a:ea typeface="楷体" panose="02010609060101010101" charset="-122"/>
                        </a:rPr>
                        <a:t>≥300V </a:t>
                      </a: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pPr>
                <a:defRPr/>
              </a:pPr>
              <a:t>34</a:t>
            </a:fld>
            <a:endParaRPr lang="zh-CN" altLang="en-US" dirty="0">
              <a:latin typeface="+mn-lt"/>
              <a:ea typeface="+mn-ea"/>
              <a:cs typeface="+mn-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custDataLst>
              <p:tags r:id="rId2"/>
            </p:custDataLst>
          </p:nvPr>
        </p:nvCxnSpPr>
        <p:spPr>
          <a:xfrm rot="5400000">
            <a:off x="3778449" y="2565202"/>
            <a:ext cx="5130404"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3"/>
            </p:custDataLst>
          </p:nvPr>
        </p:nvCxnSpPr>
        <p:spPr>
          <a:xfrm rot="5400000">
            <a:off x="3910608" y="2565202"/>
            <a:ext cx="5130404"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4"/>
            </p:custDataLst>
          </p:nvPr>
        </p:nvCxnSpPr>
        <p:spPr>
          <a:xfrm>
            <a:off x="0" y="2853929"/>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5"/>
            </p:custDataLst>
          </p:nvPr>
        </p:nvCxnSpPr>
        <p:spPr>
          <a:xfrm>
            <a:off x="0" y="2978944"/>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6"/>
            </p:custDataLst>
          </p:nvPr>
        </p:nvCxnSpPr>
        <p:spPr>
          <a:xfrm>
            <a:off x="0" y="3290888"/>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grpSp>
        <p:nvGrpSpPr>
          <p:cNvPr id="14" name="组合 13"/>
          <p:cNvGrpSpPr/>
          <p:nvPr>
            <p:custDataLst>
              <p:tags r:id="rId7"/>
            </p:custDataLst>
          </p:nvPr>
        </p:nvGrpSpPr>
        <p:grpSpPr>
          <a:xfrm>
            <a:off x="4920084" y="2855620"/>
            <a:ext cx="404813" cy="557909"/>
            <a:chOff x="2467083" y="3299490"/>
            <a:chExt cx="539750" cy="743879"/>
          </a:xfrm>
          <a:solidFill>
            <a:schemeClr val="accent3"/>
          </a:solidFill>
        </p:grpSpPr>
        <p:sp>
          <p:nvSpPr>
            <p:cNvPr id="11" name="矩形 10"/>
            <p:cNvSpPr/>
            <p:nvPr/>
          </p:nvSpPr>
          <p:spPr>
            <a:xfrm>
              <a:off x="2467876" y="3598068"/>
              <a:ext cx="533400" cy="1500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 name="矩形 4"/>
            <p:cNvSpPr/>
            <p:nvPr/>
          </p:nvSpPr>
          <p:spPr>
            <a:xfrm>
              <a:off x="2467083" y="3299491"/>
              <a:ext cx="165100" cy="742940"/>
            </a:xfrm>
            <a:prstGeom prst="rect">
              <a:avLst/>
            </a:prstGeom>
            <a:grp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6" name="矩形 5"/>
            <p:cNvSpPr/>
            <p:nvPr/>
          </p:nvSpPr>
          <p:spPr>
            <a:xfrm>
              <a:off x="2841733" y="3299490"/>
              <a:ext cx="165100" cy="743879"/>
            </a:xfrm>
            <a:prstGeom prst="rect">
              <a:avLst/>
            </a:prstGeom>
            <a:grp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 name="组合 1"/>
          <p:cNvGrpSpPr/>
          <p:nvPr>
            <p:custDataLst>
              <p:tags r:id="rId8"/>
            </p:custDataLst>
          </p:nvPr>
        </p:nvGrpSpPr>
        <p:grpSpPr>
          <a:xfrm>
            <a:off x="4405843" y="2857405"/>
            <a:ext cx="400050" cy="557213"/>
            <a:chOff x="1781429" y="3301872"/>
            <a:chExt cx="533400" cy="742950"/>
          </a:xfrm>
          <a:solidFill>
            <a:schemeClr val="accent1"/>
          </a:solidFill>
        </p:grpSpPr>
        <p:sp>
          <p:nvSpPr>
            <p:cNvPr id="4" name="矩形 3"/>
            <p:cNvSpPr/>
            <p:nvPr/>
          </p:nvSpPr>
          <p:spPr>
            <a:xfrm>
              <a:off x="1965579" y="3428872"/>
              <a:ext cx="171450" cy="615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3" name="矩形 2"/>
            <p:cNvSpPr/>
            <p:nvPr/>
          </p:nvSpPr>
          <p:spPr>
            <a:xfrm>
              <a:off x="1781429" y="3301872"/>
              <a:ext cx="533400" cy="165100"/>
            </a:xfrm>
            <a:prstGeom prst="rect">
              <a:avLst/>
            </a:prstGeom>
            <a:grpFill/>
            <a:ln>
              <a:noFill/>
            </a:ln>
            <a:effectLst>
              <a:outerShdw blurRad="508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16" name="组合 15"/>
          <p:cNvGrpSpPr/>
          <p:nvPr>
            <p:custDataLst>
              <p:tags r:id="rId9"/>
            </p:custDataLst>
          </p:nvPr>
        </p:nvGrpSpPr>
        <p:grpSpPr>
          <a:xfrm>
            <a:off x="5437274" y="2825998"/>
            <a:ext cx="279161" cy="618308"/>
            <a:chOff x="3156670" y="3259996"/>
            <a:chExt cx="372214" cy="824410"/>
          </a:xfrm>
          <a:solidFill>
            <a:schemeClr val="accent2"/>
          </a:solidFill>
        </p:grpSpPr>
        <p:sp>
          <p:nvSpPr>
            <p:cNvPr id="19" name="任意多边形 18"/>
            <p:cNvSpPr/>
            <p:nvPr/>
          </p:nvSpPr>
          <p:spPr>
            <a:xfrm rot="20653324" flipH="1">
              <a:off x="3363784" y="3267206"/>
              <a:ext cx="165100" cy="8172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18" name="任意多边形 17"/>
            <p:cNvSpPr/>
            <p:nvPr/>
          </p:nvSpPr>
          <p:spPr>
            <a:xfrm rot="946676">
              <a:off x="3156670" y="3259996"/>
              <a:ext cx="165100" cy="8208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a:effectLst>
              <a:outerShdw blurRad="50800" dist="12700" dir="6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0" name="组合 19"/>
          <p:cNvGrpSpPr/>
          <p:nvPr>
            <p:custDataLst>
              <p:tags r:id="rId10"/>
            </p:custDataLst>
          </p:nvPr>
        </p:nvGrpSpPr>
        <p:grpSpPr>
          <a:xfrm>
            <a:off x="6352350" y="2788729"/>
            <a:ext cx="298174" cy="688047"/>
            <a:chOff x="4376770" y="3210304"/>
            <a:chExt cx="397565" cy="917396"/>
          </a:xfrm>
          <a:solidFill>
            <a:schemeClr val="accent5"/>
          </a:solidFill>
        </p:grpSpPr>
        <p:sp>
          <p:nvSpPr>
            <p:cNvPr id="9" name="矩形 8"/>
            <p:cNvSpPr/>
            <p:nvPr/>
          </p:nvSpPr>
          <p:spPr>
            <a:xfrm>
              <a:off x="4376770" y="3299491"/>
              <a:ext cx="165100" cy="745200"/>
            </a:xfrm>
            <a:prstGeom prst="rect">
              <a:avLst/>
            </a:prstGeom>
            <a:grp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1" name="任意多边形 50"/>
            <p:cNvSpPr/>
            <p:nvPr/>
          </p:nvSpPr>
          <p:spPr>
            <a:xfrm rot="19577384" flipH="1">
              <a:off x="4633589" y="3556267"/>
              <a:ext cx="140746" cy="571433"/>
            </a:xfrm>
            <a:custGeom>
              <a:avLst/>
              <a:gdLst>
                <a:gd name="connsiteX0" fmla="*/ 0 w 140625"/>
                <a:gd name="connsiteY0" fmla="*/ 34686 h 568792"/>
                <a:gd name="connsiteX1" fmla="*/ 0 w 140625"/>
                <a:gd name="connsiteY1" fmla="*/ 568792 h 568792"/>
                <a:gd name="connsiteX2" fmla="*/ 41733 w 140625"/>
                <a:gd name="connsiteY2" fmla="*/ 547251 h 568792"/>
                <a:gd name="connsiteX3" fmla="*/ 140625 w 140625"/>
                <a:gd name="connsiteY3" fmla="*/ 481273 h 568792"/>
                <a:gd name="connsiteX4" fmla="*/ 140625 w 140625"/>
                <a:gd name="connsiteY4" fmla="*/ 0 h 568792"/>
                <a:gd name="connsiteX0-1" fmla="*/ 3299 w 143924"/>
                <a:gd name="connsiteY0-2" fmla="*/ 34686 h 576719"/>
                <a:gd name="connsiteX1-3" fmla="*/ 0 w 143924"/>
                <a:gd name="connsiteY1-4" fmla="*/ 576719 h 576719"/>
                <a:gd name="connsiteX2-5" fmla="*/ 45032 w 143924"/>
                <a:gd name="connsiteY2-6" fmla="*/ 547251 h 576719"/>
                <a:gd name="connsiteX3-7" fmla="*/ 143924 w 143924"/>
                <a:gd name="connsiteY3-8" fmla="*/ 481273 h 576719"/>
                <a:gd name="connsiteX4-9" fmla="*/ 143924 w 143924"/>
                <a:gd name="connsiteY4-10" fmla="*/ 0 h 576719"/>
                <a:gd name="connsiteX5" fmla="*/ 3299 w 143924"/>
                <a:gd name="connsiteY5" fmla="*/ 34686 h 576719"/>
                <a:gd name="connsiteX0-11" fmla="*/ 121 w 140746"/>
                <a:gd name="connsiteY0-12" fmla="*/ 34686 h 571433"/>
                <a:gd name="connsiteX1-13" fmla="*/ 4745 w 140746"/>
                <a:gd name="connsiteY1-14" fmla="*/ 571433 h 571433"/>
                <a:gd name="connsiteX2-15" fmla="*/ 41854 w 140746"/>
                <a:gd name="connsiteY2-16" fmla="*/ 547251 h 571433"/>
                <a:gd name="connsiteX3-17" fmla="*/ 140746 w 140746"/>
                <a:gd name="connsiteY3-18" fmla="*/ 481273 h 571433"/>
                <a:gd name="connsiteX4-19" fmla="*/ 140746 w 140746"/>
                <a:gd name="connsiteY4-20" fmla="*/ 0 h 571433"/>
                <a:gd name="connsiteX5-21" fmla="*/ 121 w 140746"/>
                <a:gd name="connsiteY5-22" fmla="*/ 34686 h 57143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746" h="571433">
                  <a:moveTo>
                    <a:pt x="121" y="34686"/>
                  </a:moveTo>
                  <a:cubicBezTo>
                    <a:pt x="-979" y="215364"/>
                    <a:pt x="5845" y="390755"/>
                    <a:pt x="4745" y="571433"/>
                  </a:cubicBezTo>
                  <a:lnTo>
                    <a:pt x="41854" y="547251"/>
                  </a:lnTo>
                  <a:lnTo>
                    <a:pt x="140746" y="481273"/>
                  </a:lnTo>
                  <a:lnTo>
                    <a:pt x="140746" y="0"/>
                  </a:lnTo>
                  <a:lnTo>
                    <a:pt x="121" y="3468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2" name="任意多边形 51"/>
            <p:cNvSpPr/>
            <p:nvPr/>
          </p:nvSpPr>
          <p:spPr>
            <a:xfrm rot="2022616" flipH="1" flipV="1">
              <a:off x="4627500" y="3210304"/>
              <a:ext cx="140625" cy="572703"/>
            </a:xfrm>
            <a:custGeom>
              <a:avLst/>
              <a:gdLst>
                <a:gd name="connsiteX0" fmla="*/ 140625 w 140625"/>
                <a:gd name="connsiteY0" fmla="*/ 478871 h 567419"/>
                <a:gd name="connsiteX1" fmla="*/ 34632 w 140625"/>
                <a:gd name="connsiteY1" fmla="*/ 549587 h 567419"/>
                <a:gd name="connsiteX2" fmla="*/ 0 w 140625"/>
                <a:gd name="connsiteY2" fmla="*/ 567419 h 567419"/>
                <a:gd name="connsiteX3" fmla="*/ 0 w 140625"/>
                <a:gd name="connsiteY3" fmla="*/ 34602 h 567419"/>
                <a:gd name="connsiteX4" fmla="*/ 140625 w 140625"/>
                <a:gd name="connsiteY4" fmla="*/ 0 h 567419"/>
                <a:gd name="connsiteX0-1" fmla="*/ 140625 w 140625"/>
                <a:gd name="connsiteY0-2" fmla="*/ 478871 h 567419"/>
                <a:gd name="connsiteX1-3" fmla="*/ 34632 w 140625"/>
                <a:gd name="connsiteY1-4" fmla="*/ 549587 h 567419"/>
                <a:gd name="connsiteX2-5" fmla="*/ 0 w 140625"/>
                <a:gd name="connsiteY2-6" fmla="*/ 567419 h 567419"/>
                <a:gd name="connsiteX3-7" fmla="*/ 0 w 140625"/>
                <a:gd name="connsiteY3-8" fmla="*/ 34602 h 567419"/>
                <a:gd name="connsiteX4-9" fmla="*/ 140625 w 140625"/>
                <a:gd name="connsiteY4-10" fmla="*/ 0 h 567419"/>
                <a:gd name="connsiteX5" fmla="*/ 140625 w 140625"/>
                <a:gd name="connsiteY5" fmla="*/ 478871 h 567419"/>
                <a:gd name="connsiteX0-11" fmla="*/ 140625 w 140625"/>
                <a:gd name="connsiteY0-12" fmla="*/ 478871 h 572703"/>
                <a:gd name="connsiteX1-13" fmla="*/ 34632 w 140625"/>
                <a:gd name="connsiteY1-14" fmla="*/ 549587 h 572703"/>
                <a:gd name="connsiteX2-15" fmla="*/ 662 w 140625"/>
                <a:gd name="connsiteY2-16" fmla="*/ 572703 h 572703"/>
                <a:gd name="connsiteX3-17" fmla="*/ 0 w 140625"/>
                <a:gd name="connsiteY3-18" fmla="*/ 34602 h 572703"/>
                <a:gd name="connsiteX4-19" fmla="*/ 140625 w 140625"/>
                <a:gd name="connsiteY4-20" fmla="*/ 0 h 572703"/>
                <a:gd name="connsiteX5-21" fmla="*/ 140625 w 140625"/>
                <a:gd name="connsiteY5-22" fmla="*/ 478871 h 57270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625" h="572703">
                  <a:moveTo>
                    <a:pt x="140625" y="478871"/>
                  </a:moveTo>
                  <a:lnTo>
                    <a:pt x="34632" y="549587"/>
                  </a:lnTo>
                  <a:lnTo>
                    <a:pt x="662" y="572703"/>
                  </a:lnTo>
                  <a:cubicBezTo>
                    <a:pt x="441" y="393336"/>
                    <a:pt x="221" y="213969"/>
                    <a:pt x="0" y="34602"/>
                  </a:cubicBezTo>
                  <a:lnTo>
                    <a:pt x="140625" y="0"/>
                  </a:lnTo>
                  <a:lnTo>
                    <a:pt x="140625" y="47887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1" name="组合 20"/>
          <p:cNvGrpSpPr/>
          <p:nvPr>
            <p:custDataLst>
              <p:tags r:id="rId11"/>
            </p:custDataLst>
          </p:nvPr>
        </p:nvGrpSpPr>
        <p:grpSpPr>
          <a:xfrm>
            <a:off x="6779506" y="2811169"/>
            <a:ext cx="396529" cy="663470"/>
            <a:chOff x="4946311" y="3240225"/>
            <a:chExt cx="528705" cy="884627"/>
          </a:xfrm>
          <a:solidFill>
            <a:schemeClr val="accent3"/>
          </a:solidFill>
        </p:grpSpPr>
        <p:sp>
          <p:nvSpPr>
            <p:cNvPr id="12" name="矩形 11"/>
            <p:cNvSpPr/>
            <p:nvPr/>
          </p:nvSpPr>
          <p:spPr>
            <a:xfrm>
              <a:off x="4997973" y="3299491"/>
              <a:ext cx="477043" cy="165100"/>
            </a:xfrm>
            <a:prstGeom prst="rect">
              <a:avLst/>
            </a:prstGeom>
            <a:grpFill/>
            <a:ln>
              <a:noFill/>
            </a:ln>
            <a:effectLst>
              <a:outerShdw blurRad="25400" dist="12700" dir="108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13" name="矩形 12"/>
            <p:cNvSpPr/>
            <p:nvPr/>
          </p:nvSpPr>
          <p:spPr>
            <a:xfrm>
              <a:off x="4946311" y="3879722"/>
              <a:ext cx="456475" cy="1651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5" name="任意多边形 54"/>
            <p:cNvSpPr/>
            <p:nvPr/>
          </p:nvSpPr>
          <p:spPr>
            <a:xfrm rot="19318059" flipH="1">
              <a:off x="5109070" y="3240225"/>
              <a:ext cx="172591" cy="884627"/>
            </a:xfrm>
            <a:custGeom>
              <a:avLst/>
              <a:gdLst>
                <a:gd name="connsiteX0" fmla="*/ 26795 w 172591"/>
                <a:gd name="connsiteY0" fmla="*/ 0 h 884627"/>
                <a:gd name="connsiteX1" fmla="*/ 0 w 172591"/>
                <a:gd name="connsiteY1" fmla="*/ 20959 h 884627"/>
                <a:gd name="connsiteX2" fmla="*/ 0 w 172591"/>
                <a:gd name="connsiteY2" fmla="*/ 814160 h 884627"/>
                <a:gd name="connsiteX3" fmla="*/ 106651 w 172591"/>
                <a:gd name="connsiteY3" fmla="*/ 884627 h 884627"/>
                <a:gd name="connsiteX4" fmla="*/ 172591 w 172591"/>
                <a:gd name="connsiteY4" fmla="*/ 832304 h 884627"/>
                <a:gd name="connsiteX5" fmla="*/ 172591 w 172591"/>
                <a:gd name="connsiteY5" fmla="*/ 96332 h 88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591" h="884627">
                  <a:moveTo>
                    <a:pt x="26795" y="0"/>
                  </a:moveTo>
                  <a:lnTo>
                    <a:pt x="0" y="20959"/>
                  </a:lnTo>
                  <a:lnTo>
                    <a:pt x="0" y="814160"/>
                  </a:lnTo>
                  <a:lnTo>
                    <a:pt x="106651" y="884627"/>
                  </a:lnTo>
                  <a:lnTo>
                    <a:pt x="172591" y="832304"/>
                  </a:lnTo>
                  <a:lnTo>
                    <a:pt x="172591" y="96332"/>
                  </a:lnTo>
                  <a:close/>
                </a:path>
              </a:pathLst>
            </a:custGeom>
            <a:grpFill/>
            <a:ln>
              <a:noFill/>
            </a:ln>
            <a:effectLst>
              <a:outerShdw blurRad="508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2" name="组合 21"/>
          <p:cNvGrpSpPr/>
          <p:nvPr>
            <p:custDataLst>
              <p:tags r:id="rId12"/>
            </p:custDataLst>
          </p:nvPr>
        </p:nvGrpSpPr>
        <p:grpSpPr>
          <a:xfrm>
            <a:off x="7365697" y="2855620"/>
            <a:ext cx="123825" cy="558998"/>
            <a:chOff x="5727900" y="3299491"/>
            <a:chExt cx="165100" cy="745331"/>
          </a:xfrm>
          <a:solidFill>
            <a:schemeClr val="accent2"/>
          </a:solidFill>
        </p:grpSpPr>
        <p:sp>
          <p:nvSpPr>
            <p:cNvPr id="10" name="矩形 9"/>
            <p:cNvSpPr/>
            <p:nvPr/>
          </p:nvSpPr>
          <p:spPr>
            <a:xfrm>
              <a:off x="5727900" y="3299491"/>
              <a:ext cx="165100" cy="536943"/>
            </a:xfrm>
            <a:prstGeom prst="rect">
              <a:avLst/>
            </a:prstGeom>
            <a:grpFill/>
            <a:ln>
              <a:noFill/>
            </a:ln>
            <a:effectLst>
              <a:outerShdw blurRad="254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35" name="椭圆 34"/>
            <p:cNvSpPr/>
            <p:nvPr/>
          </p:nvSpPr>
          <p:spPr>
            <a:xfrm>
              <a:off x="5727900" y="3879722"/>
              <a:ext cx="165100" cy="165100"/>
            </a:xfrm>
            <a:prstGeom prst="ellipse">
              <a:avLst/>
            </a:prstGeom>
            <a:grpFill/>
            <a:ln>
              <a:noFill/>
            </a:ln>
            <a:effectLst>
              <a:outerShdw blurRad="254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17" name="组合 16"/>
          <p:cNvGrpSpPr/>
          <p:nvPr>
            <p:custDataLst>
              <p:tags r:id="rId13"/>
            </p:custDataLst>
          </p:nvPr>
        </p:nvGrpSpPr>
        <p:grpSpPr>
          <a:xfrm>
            <a:off x="5829178" y="2791776"/>
            <a:ext cx="410766" cy="678233"/>
            <a:chOff x="3679209" y="3214366"/>
            <a:chExt cx="547688" cy="904312"/>
          </a:xfrm>
          <a:solidFill>
            <a:schemeClr val="accent1"/>
          </a:solidFill>
        </p:grpSpPr>
        <p:sp>
          <p:nvSpPr>
            <p:cNvPr id="7" name="矩形 6"/>
            <p:cNvSpPr/>
            <p:nvPr/>
          </p:nvSpPr>
          <p:spPr>
            <a:xfrm>
              <a:off x="3679209" y="3299491"/>
              <a:ext cx="165100" cy="745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26" name="任意多边形 25"/>
            <p:cNvSpPr/>
            <p:nvPr/>
          </p:nvSpPr>
          <p:spPr>
            <a:xfrm rot="19848040" flipH="1">
              <a:off x="3864430" y="3214366"/>
              <a:ext cx="169748" cy="904312"/>
            </a:xfrm>
            <a:custGeom>
              <a:avLst/>
              <a:gdLst>
                <a:gd name="connsiteX0" fmla="*/ 141593 w 165100"/>
                <a:gd name="connsiteY0" fmla="*/ 0 h 904312"/>
                <a:gd name="connsiteX1" fmla="*/ 0 w 165100"/>
                <a:gd name="connsiteY1" fmla="*/ 79132 h 904312"/>
                <a:gd name="connsiteX2" fmla="*/ 0 w 165100"/>
                <a:gd name="connsiteY2" fmla="*/ 868605 h 904312"/>
                <a:gd name="connsiteX3" fmla="*/ 19955 w 165100"/>
                <a:gd name="connsiteY3" fmla="*/ 904312 h 904312"/>
                <a:gd name="connsiteX4" fmla="*/ 165100 w 165100"/>
                <a:gd name="connsiteY4" fmla="*/ 823196 h 904312"/>
                <a:gd name="connsiteX5" fmla="*/ 165100 w 165100"/>
                <a:gd name="connsiteY5" fmla="*/ 42063 h 904312"/>
                <a:gd name="connsiteX0-1" fmla="*/ 141593 w 169748"/>
                <a:gd name="connsiteY0-2" fmla="*/ 0 h 904312"/>
                <a:gd name="connsiteX1-3" fmla="*/ 0 w 169748"/>
                <a:gd name="connsiteY1-4" fmla="*/ 79132 h 904312"/>
                <a:gd name="connsiteX2-5" fmla="*/ 0 w 169748"/>
                <a:gd name="connsiteY2-6" fmla="*/ 868605 h 904312"/>
                <a:gd name="connsiteX3-7" fmla="*/ 19955 w 169748"/>
                <a:gd name="connsiteY3-8" fmla="*/ 904312 h 904312"/>
                <a:gd name="connsiteX4-9" fmla="*/ 169748 w 169748"/>
                <a:gd name="connsiteY4-10" fmla="*/ 831511 h 904312"/>
                <a:gd name="connsiteX5-11" fmla="*/ 165100 w 169748"/>
                <a:gd name="connsiteY5-12" fmla="*/ 42063 h 904312"/>
                <a:gd name="connsiteX6" fmla="*/ 141593 w 169748"/>
                <a:gd name="connsiteY6" fmla="*/ 0 h 9043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 y="connsiteY6"/>
                </a:cxn>
              </a:cxnLst>
              <a:rect l="l" t="t" r="r" b="b"/>
              <a:pathLst>
                <a:path w="169748" h="904312">
                  <a:moveTo>
                    <a:pt x="141593" y="0"/>
                  </a:moveTo>
                  <a:lnTo>
                    <a:pt x="0" y="79132"/>
                  </a:lnTo>
                  <a:lnTo>
                    <a:pt x="0" y="868605"/>
                  </a:lnTo>
                  <a:lnTo>
                    <a:pt x="19955" y="904312"/>
                  </a:lnTo>
                  <a:lnTo>
                    <a:pt x="169748" y="831511"/>
                  </a:lnTo>
                  <a:cubicBezTo>
                    <a:pt x="168199" y="568362"/>
                    <a:pt x="166649" y="305212"/>
                    <a:pt x="165100" y="42063"/>
                  </a:cubicBezTo>
                  <a:lnTo>
                    <a:pt x="141593" y="0"/>
                  </a:lnTo>
                  <a:close/>
                </a:path>
              </a:pathLst>
            </a:custGeom>
            <a:grpFill/>
            <a:ln>
              <a:noFill/>
            </a:ln>
            <a:effectLst>
              <a:outerShdw blurRad="50800" dist="12700" dir="60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8" name="矩形 7"/>
            <p:cNvSpPr/>
            <p:nvPr/>
          </p:nvSpPr>
          <p:spPr>
            <a:xfrm>
              <a:off x="4061797" y="3297485"/>
              <a:ext cx="165100" cy="745885"/>
            </a:xfrm>
            <a:prstGeom prst="rect">
              <a:avLst/>
            </a:prstGeom>
            <a:grp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cxnSp>
        <p:nvCxnSpPr>
          <p:cNvPr id="71" name="直接连接符 70"/>
          <p:cNvCxnSpPr/>
          <p:nvPr>
            <p:custDataLst>
              <p:tags r:id="rId14"/>
            </p:custDataLst>
          </p:nvPr>
        </p:nvCxnSpPr>
        <p:spPr>
          <a:xfrm>
            <a:off x="0" y="3412331"/>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sp>
        <p:nvSpPr>
          <p:cNvPr id="36" name="灯片编号占位符 35"/>
          <p:cNvSpPr>
            <a:spLocks noGrp="1"/>
          </p:cNvSpPr>
          <p:nvPr>
            <p:ph type="sldNum" sz="quarter" idx="12"/>
          </p:nvPr>
        </p:nvSpPr>
        <p:spPr>
          <a:prstGeom prst="rect">
            <a:avLst/>
          </a:prstGeom>
        </p:spPr>
        <p:txBody>
          <a:bodyPr/>
          <a:lstStyle/>
          <a:p>
            <a:pPr>
              <a:defRPr/>
            </a:pPr>
            <a:fld id="{96B2F9F3-2D6E-447C-92BD-471A0AE1828C}" type="slidenum">
              <a:rPr lang="zh-CN" altLang="en-US" smtClean="0">
                <a:latin typeface="+mn-lt"/>
                <a:ea typeface="+mn-ea"/>
                <a:cs typeface="+mn-cs"/>
              </a:rPr>
              <a:pPr>
                <a:defRPr/>
              </a:pPr>
              <a:t>35</a:t>
            </a:fld>
            <a:endParaRPr lang="zh-CN" altLang="en-US" dirty="0">
              <a:latin typeface="+mn-lt"/>
              <a:ea typeface="+mn-ea"/>
              <a:cs typeface="+mn-cs"/>
            </a:endParaRP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1014112747"/>
  <p:tag name="MH_LIBRARY" val="GRAPHIC"/>
</p:tagLst>
</file>

<file path=ppt/tags/tag2.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Straight Connector 32"/>
</p:tagLst>
</file>

<file path=ppt/tags/tag3.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Straight Connector 33"/>
</p:tagLst>
</file>

<file path=ppt/tags/tag4.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Straight Connector 36"/>
</p:tagLst>
</file>

<file path=ppt/tags/tag5.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Straight Connector 37"/>
</p:tagLst>
</file>

<file path=ppt/tags/tag6.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Straight Connector 38"/>
</p:tagLst>
</file>

<file path=ppt/tags/tag7.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Group 13"/>
</p:tagLst>
</file>

<file path=ppt/tags/tag8.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Group 1"/>
</p:tagLst>
</file>

<file path=ppt/tags/tag9.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Group 15"/>
</p:tagLst>
</file>

<file path=ppt/tags/tag10.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Group 19"/>
</p:tagLst>
</file>

<file path=ppt/tags/tag11.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Group 20"/>
</p:tagLst>
</file>

<file path=ppt/tags/tag12.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Group 21"/>
</p:tagLst>
</file>

<file path=ppt/tags/tag13.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Group 16"/>
</p:tagLst>
</file>

<file path=ppt/tags/tag14.xml><?xml version="1.0" encoding="utf-8"?>
<p:tagLst xmlns:a="http://schemas.openxmlformats.org/drawingml/2006/main" xmlns:r="http://schemas.openxmlformats.org/officeDocument/2006/relationships" xmlns:p="http://schemas.openxmlformats.org/presentationml/2006/main">
  <p:tag name="MH" val="20151014112747"/>
  <p:tag name="MH_LIBRARY" val="GRAPHIC"/>
  <p:tag name="MH_ORDER" val="Straight Connector 38"/>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自定义 10">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A000120150716A05KPBG</Template>
  <TotalTime>2027</TotalTime>
  <Words>4885</Words>
  <Application>Microsoft Office PowerPoint</Application>
  <PresentationFormat>全屏显示(16:9)</PresentationFormat>
  <Paragraphs>1274</Paragraphs>
  <Slides>35</Slides>
  <Notes>1</Notes>
  <HiddenSlides>0</HiddenSlides>
  <MMClips>0</MMClips>
  <ScaleCrop>false</ScaleCrop>
  <HeadingPairs>
    <vt:vector size="4" baseType="variant">
      <vt:variant>
        <vt:lpstr>主题</vt:lpstr>
      </vt:variant>
      <vt:variant>
        <vt:i4>1</vt:i4>
      </vt:variant>
      <vt:variant>
        <vt:lpstr>幻灯片标题</vt:lpstr>
      </vt:variant>
      <vt:variant>
        <vt:i4>35</vt:i4>
      </vt:variant>
    </vt:vector>
  </HeadingPairs>
  <TitlesOfParts>
    <vt:vector size="36" baseType="lpstr">
      <vt:lpstr>A000120140530A99PPBG</vt:lpstr>
      <vt:lpstr>汽车空调压缩机培训 （三） 销售</vt:lpstr>
      <vt:lpstr>汽车空调系统概述</vt:lpstr>
      <vt:lpstr>汽车空调系统概述</vt:lpstr>
      <vt:lpstr>汽车空调系统概述</vt:lpstr>
      <vt:lpstr>汽车空调制冷循环</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谢小莉</dc:creator>
  <cp:lastModifiedBy>Gm-PY</cp:lastModifiedBy>
  <cp:revision>343</cp:revision>
  <dcterms:created xsi:type="dcterms:W3CDTF">2015-10-14T02:46:00Z</dcterms:created>
  <dcterms:modified xsi:type="dcterms:W3CDTF">2018-12-03T09:49:20Z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ame">
    <vt:lpwstr>小人简约模板.ppt</vt:lpwstr>
  </property>
  <property fmtid="{D5CDD505-2E9C-101B-9397-08002B2CF9AE}" pid="3" name="fileid">
    <vt:lpwstr>644057</vt:lpwstr>
  </property>
  <property fmtid="{D5CDD505-2E9C-101B-9397-08002B2CF9AE}" pid="4" name="KSOProductBuildVer">
    <vt:lpwstr>2052-10.1.0.5862</vt:lpwstr>
  </property>
</Properties>
</file>