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32"/>
  </p:handoutMasterIdLst>
  <p:sldIdLst>
    <p:sldId id="256" r:id="rId3"/>
    <p:sldId id="260" r:id="rId5"/>
    <p:sldId id="306" r:id="rId6"/>
    <p:sldId id="257" r:id="rId7"/>
    <p:sldId id="309" r:id="rId8"/>
    <p:sldId id="325" r:id="rId9"/>
    <p:sldId id="326" r:id="rId10"/>
    <p:sldId id="327" r:id="rId11"/>
    <p:sldId id="328" r:id="rId12"/>
    <p:sldId id="329" r:id="rId13"/>
    <p:sldId id="330" r:id="rId14"/>
    <p:sldId id="331" r:id="rId15"/>
    <p:sldId id="346" r:id="rId16"/>
    <p:sldId id="347" r:id="rId17"/>
    <p:sldId id="348" r:id="rId18"/>
    <p:sldId id="350" r:id="rId19"/>
    <p:sldId id="307" r:id="rId20"/>
    <p:sldId id="308" r:id="rId21"/>
    <p:sldId id="373" r:id="rId22"/>
    <p:sldId id="405" r:id="rId23"/>
    <p:sldId id="407" r:id="rId24"/>
    <p:sldId id="270" r:id="rId25"/>
    <p:sldId id="349" r:id="rId26"/>
    <p:sldId id="351" r:id="rId27"/>
    <p:sldId id="352" r:id="rId28"/>
    <p:sldId id="353" r:id="rId29"/>
    <p:sldId id="369" r:id="rId30"/>
    <p:sldId id="279" r:id="rId31"/>
  </p:sldIdLst>
  <p:sldSz cx="9144000" cy="5143500" type="screen16x9"/>
  <p:notesSz cx="6858000" cy="9144000"/>
  <p:defaultTextStyle>
    <a:defPPr>
      <a:defRPr lang="zh-CN"/>
    </a:defPPr>
    <a:lvl1pPr marL="0" lvl="0"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1pPr>
    <a:lvl2pPr marL="342900" lvl="1"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2pPr>
    <a:lvl3pPr marL="685800" lvl="2"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3pPr>
    <a:lvl4pPr marL="1028700" lvl="3"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4pPr>
    <a:lvl5pPr marL="1371600" lvl="4"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5pPr>
    <a:lvl6pPr marL="1714500" lvl="5"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6pPr>
    <a:lvl7pPr marL="2057400" lvl="6"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7pPr>
    <a:lvl8pPr marL="2400300" lvl="7"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8pPr>
    <a:lvl9pPr marL="2743200" lvl="8" indent="0" algn="l" defTabSz="685165" eaLnBrk="0" fontAlgn="base" latinLnBrk="0" hangingPunct="0">
      <a:spcBef>
        <a:spcPct val="0"/>
      </a:spcBef>
      <a:spcAft>
        <a:spcPct val="0"/>
      </a:spcAft>
      <a:buNone/>
      <a:defRPr sz="1400" b="0" i="0" u="none" kern="1200" baseline="0">
        <a:solidFill>
          <a:schemeClr val="tx1"/>
        </a:solidFill>
        <a:latin typeface="Arial" panose="020B0604020202020204" pitchFamily="34" charset="0"/>
        <a:ea typeface="黑体" panose="02010609060101010101" pitchFamily="49" charset="-122"/>
      </a:defRPr>
    </a:lvl9pPr>
  </p:defaultTextStyle>
  <p:extLst>
    <p:ext uri="{521415D9-36F7-43E2-AB2F-B90AF26B5E84}">
      <p14:sectionLst xmlns:p14="http://schemas.microsoft.com/office/powerpoint/2010/main">
        <p14:section name="默认节" id="{626c0959-18c5-431f-a82d-65191dd9e183}">
          <p14:sldIdLst>
            <p14:sldId id="256"/>
            <p14:sldId id="260"/>
          </p14:sldIdLst>
        </p14:section>
        <p14:section name="无标题节" id="{df2bc936-5167-481e-bd29-6a095510166f}">
          <p14:sldIdLst>
            <p14:sldId id="306"/>
            <p14:sldId id="257"/>
            <p14:sldId id="309"/>
            <p14:sldId id="325"/>
            <p14:sldId id="326"/>
            <p14:sldId id="327"/>
            <p14:sldId id="328"/>
            <p14:sldId id="329"/>
            <p14:sldId id="330"/>
            <p14:sldId id="331"/>
            <p14:sldId id="346"/>
            <p14:sldId id="347"/>
            <p14:sldId id="348"/>
            <p14:sldId id="350"/>
            <p14:sldId id="307"/>
            <p14:sldId id="308"/>
            <p14:sldId id="373"/>
            <p14:sldId id="270"/>
            <p14:sldId id="349"/>
            <p14:sldId id="351"/>
            <p14:sldId id="352"/>
            <p14:sldId id="353"/>
            <p14:sldId id="279"/>
            <p14:sldId id="407"/>
            <p14:sldId id="405"/>
            <p14:sldId id="36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47"/>
    <p:restoredTop sz="94660"/>
  </p:normalViewPr>
  <p:slideViewPr>
    <p:cSldViewPr snapToGrid="0">
      <p:cViewPr>
        <p:scale>
          <a:sx n="100" d="100"/>
          <a:sy n="100" d="100"/>
        </p:scale>
        <p:origin x="-1944" y="-960"/>
      </p:cViewPr>
      <p:guideLst>
        <p:guide orient="horz" pos="1602"/>
        <p:guide pos="2880"/>
      </p:guideLst>
    </p:cSldViewPr>
  </p:slideViewPr>
  <p:notesTextViewPr>
    <p:cViewPr>
      <p:scale>
        <a:sx n="1" d="1"/>
        <a:sy n="1" d="1"/>
      </p:scale>
      <p:origin x="0" y="0"/>
    </p:cViewPr>
  </p:notesTextViewPr>
  <p:sorterViewPr showFormatting="0">
    <p:cViewPr>
      <p:scale>
        <a:sx n="66" d="100"/>
        <a:sy n="66" d="100"/>
      </p:scale>
      <p:origin x="0" y="0"/>
    </p:cViewPr>
  </p:sorterViewPr>
  <p:notesViewPr>
    <p:cSldViewPr snapToGrid="0">
      <p:cViewPr varScale="1">
        <p:scale>
          <a:sx n="87" d="100"/>
          <a:sy n="87" d="100"/>
        </p:scale>
        <p:origin x="-3822" y="-78"/>
      </p:cViewPr>
      <p:guideLst>
        <p:guide orient="horz" pos="2848"/>
        <p:guide pos="2160"/>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handoutMaster" Target="handoutMasters/handoutMaster1.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240BED7C-9390-4740-9ED4-A90F6AF1A0D3}" type="datetimeFigureOut">
              <a:rPr lang="zh-CN" altLang="en-US" smtClean="0"/>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A0FE240-16B8-4F83-9C19-8A30DD292EA2}"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marL="0" marR="0" lvl="0" indent="0" algn="l" defTabSz="914400" rtl="0" eaLnBrk="1" latinLnBrk="0" hangingPunct="1">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marL="0" marR="0" lvl="0" indent="0" algn="r" defTabSz="914400" rtl="0" eaLnBrk="1" latinLnBrk="0" hangingPunct="1">
              <a:spcBef>
                <a:spcPts val="0"/>
              </a:spcBef>
              <a:spcAft>
                <a:spcPts val="0"/>
              </a:spcAft>
              <a:buClrTx/>
              <a:buSzTx/>
              <a:buFontTx/>
              <a:buNone/>
              <a:defRPr/>
            </a:pPr>
            <a:fld id="{EA4338FE-D192-4467-9981-26BEB333B201}" type="datetimeFigureOut">
              <a:rPr kumimoji="0" lang="zh-CN" altLang="en-US" sz="1200" b="0" i="0" u="none" strike="noStrike" kern="1200" cap="none" spc="0" normalizeH="0" baseline="0" noProof="0" smtClean="0">
                <a:ln>
                  <a:noFill/>
                </a:ln>
                <a:solidFill>
                  <a:schemeClr val="tx1"/>
                </a:solidFill>
                <a:effectLst/>
                <a:uLnTx/>
                <a:uFillTx/>
                <a:latin typeface="+mn-lt"/>
                <a:ea typeface="+mn-ea"/>
                <a:cs typeface="+mn-cs"/>
              </a:rPr>
            </a:fld>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marL="0" marR="0" lvl="0" indent="0" algn="l" defTabSz="914400" rtl="0" eaLnBrk="1" latinLnBrk="0" hangingPunct="1">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marL="0" marR="0" lvl="0"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单击此处编辑母版文本样式</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457200" marR="0" lvl="1"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第二级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914400" marR="0" lvl="2"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第三级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371600" marR="0" lvl="3"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第四级</a:t>
            </a:r>
            <a:endParaRPr kumimoji="0" lang="zh-CN" altLang="en-US" sz="1200" b="0" i="0" u="none" strike="noStrike" kern="1200" cap="none" spc="0" normalizeH="0" baseline="0" noProof="0" smtClean="0">
              <a:ln>
                <a:noFill/>
              </a:ln>
              <a:solidFill>
                <a:schemeClr val="tx1"/>
              </a:solidFill>
              <a:effectLst/>
              <a:uLnTx/>
              <a:uFillTx/>
              <a:latin typeface="+mn-lt"/>
              <a:ea typeface="+mn-ea"/>
              <a:cs typeface="+mn-cs"/>
            </a:endParaRPr>
          </a:p>
          <a:p>
            <a:pPr marL="1828800" marR="0" lvl="4" indent="0" algn="l" defTabSz="914400" rtl="0" eaLnBrk="1" latinLnBrk="0" hangingPunct="1">
              <a:spcBef>
                <a:spcPts val="0"/>
              </a:spcBef>
              <a:spcAft>
                <a:spcPts val="0"/>
              </a:spcAft>
              <a:buClrTx/>
              <a:buSzTx/>
              <a:buFontTx/>
              <a:buNone/>
              <a:defRPr/>
            </a:pPr>
            <a:r>
              <a:rPr kumimoji="0" lang="zh-CN" altLang="en-US" sz="1200" b="0" i="0" u="none" strike="noStrike" kern="1200" cap="none" spc="0" normalizeH="0" baseline="0" noProof="0" smtClean="0">
                <a:ln>
                  <a:noFill/>
                </a:ln>
                <a:solidFill>
                  <a:schemeClr val="tx1"/>
                </a:solidFill>
                <a:effectLst/>
                <a:uLnTx/>
                <a:uFillTx/>
                <a:latin typeface="+mn-lt"/>
                <a:ea typeface="+mn-ea"/>
                <a:cs typeface="+mn-cs"/>
              </a:rPr>
              <a:t>第五级</a:t>
            </a: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marL="0" marR="0" lvl="0" indent="0" algn="l" defTabSz="914400" rtl="0" eaLnBrk="1" latinLnBrk="0" hangingPunct="1">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marL="0" marR="0" lvl="0" indent="0" algn="r" defTabSz="914400" rtl="0" eaLnBrk="1" latinLnBrk="0" hangingPunct="1">
              <a:spcBef>
                <a:spcPts val="0"/>
              </a:spcBef>
              <a:spcAft>
                <a:spcPts val="0"/>
              </a:spcAft>
              <a:buClrTx/>
              <a:buSzTx/>
              <a:buFontTx/>
              <a:buNone/>
              <a:defRPr/>
            </a:pPr>
            <a:fld id="{DE2AA6D5-BE7A-4A02-A9A9-BB0437949346}"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hf sldNum="0" hdr="0" ftr="0" dt="0"/>
  <p:notesStyle>
    <a:lvl1pPr marL="0" algn="l" defTabSz="685165" rtl="0" eaLnBrk="1" latinLnBrk="0" hangingPunct="1">
      <a:defRPr sz="900" kern="1200">
        <a:solidFill>
          <a:schemeClr val="tx1"/>
        </a:solidFill>
        <a:latin typeface="+mn-lt"/>
        <a:ea typeface="+mn-ea"/>
        <a:cs typeface="+mn-cs"/>
      </a:defRPr>
    </a:lvl1pPr>
    <a:lvl2pPr marL="342900" algn="l" defTabSz="685165" rtl="0" eaLnBrk="1" latinLnBrk="0" hangingPunct="1">
      <a:defRPr sz="900" kern="1200">
        <a:solidFill>
          <a:schemeClr val="tx1"/>
        </a:solidFill>
        <a:latin typeface="+mn-lt"/>
        <a:ea typeface="+mn-ea"/>
        <a:cs typeface="+mn-cs"/>
      </a:defRPr>
    </a:lvl2pPr>
    <a:lvl3pPr marL="685800" algn="l" defTabSz="685165" rtl="0" eaLnBrk="1" latinLnBrk="0" hangingPunct="1">
      <a:defRPr sz="900" kern="1200">
        <a:solidFill>
          <a:schemeClr val="tx1"/>
        </a:solidFill>
        <a:latin typeface="+mn-lt"/>
        <a:ea typeface="+mn-ea"/>
        <a:cs typeface="+mn-cs"/>
      </a:defRPr>
    </a:lvl3pPr>
    <a:lvl4pPr marL="1028700" algn="l" defTabSz="685165" rtl="0" eaLnBrk="1" latinLnBrk="0" hangingPunct="1">
      <a:defRPr sz="900" kern="1200">
        <a:solidFill>
          <a:schemeClr val="tx1"/>
        </a:solidFill>
        <a:latin typeface="+mn-lt"/>
        <a:ea typeface="+mn-ea"/>
        <a:cs typeface="+mn-cs"/>
      </a:defRPr>
    </a:lvl4pPr>
    <a:lvl5pPr marL="1371600" algn="l" defTabSz="685165" rtl="0" eaLnBrk="1" latinLnBrk="0" hangingPunct="1">
      <a:defRPr sz="900" kern="1200">
        <a:solidFill>
          <a:schemeClr val="tx1"/>
        </a:solidFill>
        <a:latin typeface="+mn-lt"/>
        <a:ea typeface="+mn-ea"/>
        <a:cs typeface="+mn-cs"/>
      </a:defRPr>
    </a:lvl5pPr>
    <a:lvl6pPr marL="1714500" algn="l" defTabSz="685165" rtl="0" eaLnBrk="1" latinLnBrk="0" hangingPunct="1">
      <a:defRPr sz="900" kern="1200">
        <a:solidFill>
          <a:schemeClr val="tx1"/>
        </a:solidFill>
        <a:latin typeface="+mn-lt"/>
        <a:ea typeface="+mn-ea"/>
        <a:cs typeface="+mn-cs"/>
      </a:defRPr>
    </a:lvl6pPr>
    <a:lvl7pPr marL="2057400" algn="l" defTabSz="685165" rtl="0" eaLnBrk="1" latinLnBrk="0" hangingPunct="1">
      <a:defRPr sz="900" kern="1200">
        <a:solidFill>
          <a:schemeClr val="tx1"/>
        </a:solidFill>
        <a:latin typeface="+mn-lt"/>
        <a:ea typeface="+mn-ea"/>
        <a:cs typeface="+mn-cs"/>
      </a:defRPr>
    </a:lvl7pPr>
    <a:lvl8pPr marL="2400300" algn="l" defTabSz="685165" rtl="0" eaLnBrk="1" latinLnBrk="0" hangingPunct="1">
      <a:defRPr sz="900" kern="1200">
        <a:solidFill>
          <a:schemeClr val="tx1"/>
        </a:solidFill>
        <a:latin typeface="+mn-lt"/>
        <a:ea typeface="+mn-ea"/>
        <a:cs typeface="+mn-cs"/>
      </a:defRPr>
    </a:lvl8pPr>
    <a:lvl9pPr marL="2743200" algn="l" defTabSz="685165"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latinLnBrk="0" hangingPunct="1">
              <a:spcBef>
                <a:spcPts val="0"/>
              </a:spcBef>
              <a:spcAft>
                <a:spcPts val="0"/>
              </a:spcAft>
              <a:buClrTx/>
              <a:buSzTx/>
              <a:buFontTx/>
              <a:buNone/>
              <a:defRPr/>
            </a:pPr>
            <a:fld id="{DE2AA6D5-BE7A-4A02-A9A9-BB0437949346}" type="slidenum">
              <a:rPr kumimoji="0" lang="zh-CN" altLang="en-US" sz="1200" b="0" i="0" u="none" strike="noStrike" kern="1200" cap="none" spc="0" normalizeH="0" baseline="0" noProof="0" smtClean="0">
                <a:ln>
                  <a:noFill/>
                </a:ln>
                <a:solidFill>
                  <a:schemeClr val="tx1"/>
                </a:solidFill>
                <a:effectLst/>
                <a:uLnTx/>
                <a:uFillTx/>
                <a:latin typeface="+mn-lt"/>
                <a:ea typeface="+mn-ea"/>
                <a:cs typeface="+mn-cs"/>
              </a:rPr>
            </a:fld>
            <a:endParaRPr kumimoji="0" lang="zh-CN" altLang="en-US" sz="1200" b="0" i="0" u="none" strike="noStrike" kern="1200" cap="none" spc="0" normalizeH="0" baseline="0" noProof="0">
              <a:ln>
                <a:noFill/>
              </a:ln>
              <a:solidFill>
                <a:schemeClr val="tx1"/>
              </a:solidFill>
              <a:effectLst/>
              <a:uLnTx/>
              <a:uFillTx/>
              <a:latin typeface="+mn-lt"/>
              <a:ea typeface="+mn-ea"/>
              <a:cs typeface="+mn-cs"/>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幻灯片图像占位符 1"/>
          <p:cNvSpPr>
            <a:spLocks noGrp="1" noRot="1" noChangeAspect="1" noTextEdit="1"/>
          </p:cNvSpPr>
          <p:nvPr>
            <p:ph type="sldImg"/>
          </p:nvPr>
        </p:nvSpPr>
        <p:spPr>
          <a:ln cap="flat" cmpd="sng">
            <a:solidFill>
              <a:srgbClr val="000000">
                <a:alpha val="100000"/>
              </a:srgbClr>
            </a:solidFill>
            <a:prstDash val="solid"/>
            <a:miter lim="800000"/>
            <a:headEnd type="none" w="med" len="med"/>
            <a:tailEnd type="none" w="med" len="med"/>
          </a:ln>
        </p:spPr>
        <p:txBody>
          <a:bodyPr/>
          <a:lstStyle/>
          <a:p>
            <a:endParaRPr lang="zh-CN" altLang="en-US"/>
          </a:p>
        </p:txBody>
      </p:sp>
      <p:sp>
        <p:nvSpPr>
          <p:cNvPr id="7171" name="备注占位符 2"/>
          <p:cNvSpPr>
            <a:spLocks noGrp="1"/>
          </p:cNvSpPr>
          <p:nvPr>
            <p:ph type="body" idx="1"/>
          </p:nvPr>
        </p:nvSpPr>
        <p:spPr>
          <a:noFill/>
          <a:ln w="9525">
            <a:miter/>
          </a:ln>
        </p:spPr>
        <p:txBody>
          <a:bodyPr wrap="square" lIns="91440" tIns="45720" rIns="91440" bIns="45720" anchor="t"/>
          <a:lstStyle/>
          <a:p>
            <a:pPr lvl="0">
              <a:spcBef>
                <a:spcPct val="0"/>
              </a:spcBef>
            </a:pPr>
            <a:r>
              <a:rPr lang="zh-CN" altLang="en-US" dirty="0"/>
              <a:t>模板来自于 </a:t>
            </a:r>
            <a:r>
              <a:rPr lang="en-US" altLang="zh-CN" dirty="0"/>
              <a:t>http://meihua.docer.com/</a:t>
            </a:r>
            <a:endParaRPr lang="zh-CN" altLang="en-US" dirty="0"/>
          </a:p>
        </p:txBody>
      </p:sp>
      <p:sp>
        <p:nvSpPr>
          <p:cNvPr id="7172" name="灯片编号占位符 3"/>
          <p:cNvSpPr txBox="1">
            <a:spLocks noGrp="1"/>
          </p:cNvSpPr>
          <p:nvPr>
            <p:ph type="sldNum" sz="quarter"/>
          </p:nvPr>
        </p:nvSpPr>
        <p:spPr>
          <a:xfrm>
            <a:off x="3884613" y="8685213"/>
            <a:ext cx="2971800" cy="458787"/>
          </a:xfrm>
          <a:prstGeom prst="rect">
            <a:avLst/>
          </a:prstGeom>
          <a:noFill/>
          <a:ln w="9525">
            <a:noFill/>
            <a:miter/>
          </a:ln>
        </p:spPr>
        <p:txBody>
          <a:bodyPr anchor="b"/>
          <a:lstStyle/>
          <a:p>
            <a:pPr lvl="0" algn="r"/>
            <a:fld id="{9A0DB2DC-4C9A-4742-B13C-FB6460FD3503}" type="slidenum">
              <a:rPr lang="zh-CN" altLang="en-US" sz="1200" dirty="0">
                <a:latin typeface="Calibri" panose="020F0502020204030204" pitchFamily="34" charset="0"/>
                <a:ea typeface="宋体" panose="02010600030101010101" pitchFamily="2" charset="-122"/>
              </a:rPr>
            </a:fld>
            <a:endParaRPr lang="zh-CN" altLang="en-US" sz="1200" dirty="0">
              <a:latin typeface="Calibri" panose="020F0502020204030204" pitchFamily="34" charset="0"/>
              <a:ea typeface="宋体" panose="02010600030101010101" pitchFamily="2" charset="-122"/>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p:nvPr>
            <p:ph type="sldImg" idx="2"/>
          </p:nvPr>
        </p:nvSpPr>
        <p:spPr/>
      </p:sp>
      <p:sp>
        <p:nvSpPr>
          <p:cNvPr id="3" name="文本占位符 2"/>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KSO_BT1"/>
          <p:cNvSpPr>
            <a:spLocks noGrp="1"/>
          </p:cNvSpPr>
          <p:nvPr>
            <p:ph type="title"/>
          </p:nvPr>
        </p:nvSpPr>
        <p:spPr/>
        <p:txBody>
          <a:bodyPr>
            <a:normAutofit/>
          </a:bodyPr>
          <a:lstStyle>
            <a:lvl1pPr>
              <a:defRPr sz="2400"/>
            </a:lvl1pPr>
          </a:lstStyle>
          <a:p>
            <a:r>
              <a:rPr lang="zh-CN" altLang="en-US" smtClean="0"/>
              <a:t>单击此处编辑母版标题样式</a:t>
            </a:r>
            <a:endParaRPr lang="en-US" dirty="0"/>
          </a:p>
        </p:txBody>
      </p:sp>
      <p:sp>
        <p:nvSpPr>
          <p:cNvPr id="3" name="KSO_BC1"/>
          <p:cNvSpPr>
            <a:spLocks noGrp="1"/>
          </p:cNvSpPr>
          <p:nvPr>
            <p:ph idx="1"/>
          </p:nvPr>
        </p:nvSpPr>
        <p:spPr/>
        <p:txBody>
          <a:bodyPr>
            <a:normAutofit/>
          </a:bodyPr>
          <a:lstStyle>
            <a:lvl1pPr>
              <a:defRPr sz="1800">
                <a:solidFill>
                  <a:schemeClr val="accent1"/>
                </a:solidFill>
              </a:defRPr>
            </a:lvl1pPr>
            <a:lvl2pPr>
              <a:defRPr sz="1500" b="0"/>
            </a:lvl2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p:txBody>
      </p:sp>
      <p:sp>
        <p:nvSpPr>
          <p:cNvPr id="6" name="灯片编号占位符 5"/>
          <p:cNvSpPr>
            <a:spLocks noGrp="1"/>
          </p:cNvSpPr>
          <p:nvPr>
            <p:ph type="sldNum" sz="quarter" idx="12"/>
          </p:nvPr>
        </p:nvSpPr>
        <p:spPr>
          <a:xfrm>
            <a:off x="8715375" y="4762500"/>
            <a:ext cx="428625" cy="273844"/>
          </a:xfrm>
          <a:prstGeom prst="rect">
            <a:avLst/>
          </a:prstGeom>
        </p:spPr>
        <p:txBody>
          <a:bodyPr/>
          <a:lstStyle>
            <a:lvl1pPr algn="ctr" rtl="0" eaLnBrk="1" hangingPunct="1">
              <a:spcBef>
                <a:spcPts val="0"/>
              </a:spcBef>
              <a:spcAft>
                <a:spcPts val="0"/>
              </a:spcAft>
              <a:defRPr>
                <a:solidFill>
                  <a:schemeClr val="bg1"/>
                </a:solidFill>
              </a:defRPr>
            </a:lvl1p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KSO_BT1"/>
          <p:cNvSpPr>
            <a:spLocks noGrp="1"/>
          </p:cNvSpPr>
          <p:nvPr>
            <p:ph type="title"/>
          </p:nvPr>
        </p:nvSpPr>
        <p:spPr/>
        <p:txBody>
          <a:bodyPr/>
          <a:lstStyle/>
          <a:p>
            <a:r>
              <a:rPr lang="zh-CN" altLang="en-US" smtClean="0"/>
              <a:t>单击此处编辑母版标题样式</a:t>
            </a:r>
            <a:endParaRPr lang="en-US" dirty="0"/>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image" Target="../media/image3.png"/><Relationship Id="rId4" Type="http://schemas.openxmlformats.org/officeDocument/2006/relationships/image" Target="../media/image2.jpeg"/><Relationship Id="rId3"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图片 11"/>
          <p:cNvPicPr>
            <a:picLocks noChangeAspect="1"/>
          </p:cNvPicPr>
          <p:nvPr userDrawn="1"/>
        </p:nvPicPr>
        <p:blipFill>
          <a:blip r:embed="rId3" cstate="print"/>
          <a:srcRect l="1474" t="26028" r="6166" b="4485"/>
          <a:stretch>
            <a:fillRect/>
          </a:stretch>
        </p:blipFill>
        <p:spPr>
          <a:xfrm>
            <a:off x="0" y="1753792"/>
            <a:ext cx="5924550" cy="3389709"/>
          </a:xfrm>
          <a:prstGeom prst="rect">
            <a:avLst/>
          </a:prstGeom>
          <a:noFill/>
          <a:ln w="9525">
            <a:noFill/>
            <a:miter/>
          </a:ln>
        </p:spPr>
      </p:pic>
      <p:sp>
        <p:nvSpPr>
          <p:cNvPr id="1030" name="KSO_BC1"/>
          <p:cNvSpPr>
            <a:spLocks noGrp="1"/>
          </p:cNvSpPr>
          <p:nvPr>
            <p:ph type="body" idx="1"/>
          </p:nvPr>
        </p:nvSpPr>
        <p:spPr>
          <a:xfrm>
            <a:off x="1387793" y="1861186"/>
            <a:ext cx="7332345" cy="2814638"/>
          </a:xfrm>
          <a:prstGeom prst="rect">
            <a:avLst/>
          </a:prstGeom>
          <a:noFill/>
          <a:ln w="9525">
            <a:noFill/>
            <a:miter/>
          </a:ln>
        </p:spPr>
        <p:txBody>
          <a:bodyPr lIns="68579" tIns="34289" rIns="68579" bIns="34289"/>
          <a:lstStyle/>
          <a:p>
            <a:pPr lvl="0"/>
            <a:r>
              <a:rPr lang="zh-CN" altLang="en-US" dirty="0"/>
              <a:t>单击此处编辑母版文本样式</a:t>
            </a:r>
            <a:endParaRPr lang="zh-CN" altLang="en-US" dirty="0"/>
          </a:p>
          <a:p>
            <a:pPr lvl="1"/>
            <a:r>
              <a:rPr lang="zh-CN" altLang="en-US" dirty="0"/>
              <a:t>第二级</a:t>
            </a:r>
            <a:endParaRPr lang="zh-CN" altLang="en-US" dirty="0"/>
          </a:p>
        </p:txBody>
      </p:sp>
      <p:sp>
        <p:nvSpPr>
          <p:cNvPr id="1031" name="KSO_BT1"/>
          <p:cNvSpPr>
            <a:spLocks noGrp="1"/>
          </p:cNvSpPr>
          <p:nvPr>
            <p:ph type="title"/>
          </p:nvPr>
        </p:nvSpPr>
        <p:spPr>
          <a:xfrm>
            <a:off x="1344930" y="576502"/>
            <a:ext cx="8215313" cy="596503"/>
          </a:xfrm>
          <a:prstGeom prst="rect">
            <a:avLst/>
          </a:prstGeom>
          <a:noFill/>
          <a:ln w="9525">
            <a:noFill/>
            <a:miter/>
          </a:ln>
        </p:spPr>
        <p:txBody>
          <a:bodyPr lIns="68579" tIns="34289" rIns="68579" bIns="34289" anchor="ctr"/>
          <a:lstStyle/>
          <a:p>
            <a:pPr lvl="0"/>
            <a:r>
              <a:rPr lang="zh-CN" altLang="en-US" dirty="0"/>
              <a:t>单击此处编辑母版标题样式</a:t>
            </a:r>
            <a:endParaRPr lang="en-US" altLang="x-none" dirty="0"/>
          </a:p>
        </p:txBody>
      </p:sp>
      <p:sp>
        <p:nvSpPr>
          <p:cNvPr id="2" name="文本框 1"/>
          <p:cNvSpPr txBox="1"/>
          <p:nvPr userDrawn="1"/>
        </p:nvSpPr>
        <p:spPr>
          <a:xfrm>
            <a:off x="984410" y="-76199"/>
            <a:ext cx="4930616" cy="609396"/>
          </a:xfrm>
          <a:prstGeom prst="rect">
            <a:avLst/>
          </a:prstGeom>
          <a:noFill/>
        </p:spPr>
        <p:txBody>
          <a:bodyPr wrap="square" lIns="68579" tIns="34289" rIns="68579" bIns="34289" rtlCol="0">
            <a:spAutoFit/>
          </a:bodyPr>
          <a:lstStyle/>
          <a:p>
            <a:pPr>
              <a:lnSpc>
                <a:spcPct val="130000"/>
              </a:lnSpc>
            </a:pPr>
            <a:r>
              <a:rPr lang="zh-CN" altLang="en-US" sz="1700" b="1" dirty="0" smtClean="0">
                <a:latin typeface="华文新魏" pitchFamily="2" charset="-122"/>
                <a:ea typeface="华文新魏" pitchFamily="2" charset="-122"/>
              </a:rPr>
              <a:t>湖南贝特新能源科技有限公司</a:t>
            </a:r>
            <a:endParaRPr lang="en-US" altLang="zh-CN" sz="1700" b="1" dirty="0" smtClean="0">
              <a:latin typeface="华文新魏" pitchFamily="2" charset="-122"/>
              <a:ea typeface="华文新魏" pitchFamily="2" charset="-122"/>
            </a:endParaRPr>
          </a:p>
          <a:p>
            <a:pPr marL="0" marR="0" indent="0" algn="l" defTabSz="685165" eaLnBrk="0" fontAlgn="base" latinLnBrk="0" hangingPunct="0">
              <a:lnSpc>
                <a:spcPct val="130000"/>
              </a:lnSpc>
              <a:spcBef>
                <a:spcPct val="0"/>
              </a:spcBef>
              <a:spcAft>
                <a:spcPct val="0"/>
              </a:spcAft>
              <a:buClrTx/>
              <a:buSzTx/>
              <a:buFontTx/>
              <a:buNone/>
              <a:defRPr/>
            </a:pPr>
            <a:r>
              <a:rPr lang="zh-CN" altLang="en-US" sz="1000" b="1" dirty="0" smtClean="0">
                <a:latin typeface="Arial" panose="020B0604020202020204" pitchFamily="34" charset="0"/>
                <a:ea typeface="微软雅黑" panose="020B0503020204020204" pitchFamily="34" charset="-122"/>
              </a:rPr>
              <a:t>Hunan Better New Energy Science and Technology Co., Ltd.</a:t>
            </a:r>
            <a:endParaRPr lang="zh-CN" altLang="en-US" sz="1700" b="1" dirty="0" smtClean="0">
              <a:latin typeface="楷体" panose="02010609060101010101" charset="-122"/>
              <a:ea typeface="楷体" panose="02010609060101010101" charset="-122"/>
            </a:endParaRPr>
          </a:p>
        </p:txBody>
      </p:sp>
      <p:pic>
        <p:nvPicPr>
          <p:cNvPr id="3" name="图片 2" descr="1"/>
          <p:cNvPicPr>
            <a:picLocks noChangeAspect="1"/>
          </p:cNvPicPr>
          <p:nvPr userDrawn="1"/>
        </p:nvPicPr>
        <p:blipFill>
          <a:blip r:embed="rId4" cstate="print"/>
          <a:stretch>
            <a:fillRect/>
          </a:stretch>
        </p:blipFill>
        <p:spPr>
          <a:xfrm>
            <a:off x="-4761" y="48579"/>
            <a:ext cx="1047576" cy="541971"/>
          </a:xfrm>
          <a:prstGeom prst="rect">
            <a:avLst/>
          </a:prstGeom>
        </p:spPr>
      </p:pic>
      <p:pic>
        <p:nvPicPr>
          <p:cNvPr id="8" name="Picture 2" descr="X:\压缩机文件\文件管理\贝特商标\0(KOJFG6$8)DD{B[9IAWJJ2.png"/>
          <p:cNvPicPr>
            <a:picLocks noChangeAspect="1" noChangeArrowheads="1"/>
          </p:cNvPicPr>
          <p:nvPr userDrawn="1"/>
        </p:nvPicPr>
        <p:blipFill>
          <a:blip r:embed="rId5" cstate="print"/>
          <a:srcRect/>
          <a:stretch>
            <a:fillRect/>
          </a:stretch>
        </p:blipFill>
        <p:spPr bwMode="auto">
          <a:xfrm>
            <a:off x="1047750" y="496889"/>
            <a:ext cx="8096250" cy="45719"/>
          </a:xfrm>
          <a:prstGeom prst="rect">
            <a:avLst/>
          </a:prstGeom>
          <a:noFill/>
        </p:spPr>
      </p:pic>
      <p:sp>
        <p:nvSpPr>
          <p:cNvPr id="13" name="爆炸形 1 12"/>
          <p:cNvSpPr/>
          <p:nvPr userDrawn="1"/>
        </p:nvSpPr>
        <p:spPr>
          <a:xfrm>
            <a:off x="8715375" y="4733925"/>
            <a:ext cx="419100" cy="409575"/>
          </a:xfrm>
          <a:prstGeom prst="irregularSeal1">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timing>
    <p:tnLst>
      <p:par>
        <p:cTn id="1" dur="indefinite" restart="never" nodeType="tmRoot"/>
      </p:par>
    </p:tnLst>
  </p:timing>
  <p:hf hdr="0" ftr="0" dt="0"/>
  <p:txStyles>
    <p:titleStyle>
      <a:lvl1pPr algn="l" defTabSz="513715" rtl="0" eaLnBrk="1" latinLnBrk="0" hangingPunct="1">
        <a:lnSpc>
          <a:spcPct val="90000"/>
        </a:lnSpc>
        <a:spcBef>
          <a:spcPct val="0"/>
        </a:spcBef>
        <a:buNone/>
        <a:defRPr sz="2400" b="0" i="0" kern="1200" baseline="0">
          <a:solidFill>
            <a:schemeClr val="accent1"/>
          </a:solidFill>
          <a:effectLst/>
          <a:latin typeface="+mj-lt"/>
          <a:ea typeface="+mj-ea"/>
          <a:cs typeface="+mj-cs"/>
        </a:defRPr>
      </a:lvl1pPr>
    </p:titleStyle>
    <p:bodyStyle>
      <a:lvl1pPr marL="271145" indent="-271145" algn="just" defTabSz="513715" rtl="0" eaLnBrk="1" latinLnBrk="0" hangingPunct="1">
        <a:lnSpc>
          <a:spcPct val="110000"/>
        </a:lnSpc>
        <a:spcBef>
          <a:spcPts val="900"/>
        </a:spcBef>
        <a:spcAft>
          <a:spcPts val="0"/>
        </a:spcAft>
        <a:buClr>
          <a:schemeClr val="accent2"/>
        </a:buClr>
        <a:buSzPct val="50000"/>
        <a:buFont typeface="Wingdings 2" panose="05020102010507070707" pitchFamily="18" charset="2"/>
        <a:buChar char=""/>
        <a:defRPr lang="zh-CN" altLang="en-US" sz="1800" b="1" kern="1200" baseline="0" dirty="0" smtClean="0">
          <a:solidFill>
            <a:schemeClr val="accent1"/>
          </a:solidFill>
          <a:latin typeface="+mn-lt"/>
          <a:ea typeface="+mn-ea"/>
          <a:cs typeface="+mn-cs"/>
        </a:defRPr>
      </a:lvl1pPr>
      <a:lvl2pPr marL="271145" indent="-271145" algn="just" defTabSz="513715" rtl="0" eaLnBrk="1" latinLnBrk="0" hangingPunct="1">
        <a:lnSpc>
          <a:spcPct val="120000"/>
        </a:lnSpc>
        <a:spcBef>
          <a:spcPts val="0"/>
        </a:spcBef>
        <a:spcAft>
          <a:spcPts val="900"/>
        </a:spcAft>
        <a:buClr>
          <a:schemeClr val="accent2">
            <a:lumMod val="60000"/>
            <a:lumOff val="40000"/>
          </a:schemeClr>
        </a:buClr>
        <a:buFont typeface="幼圆" panose="02010509060101010101" pitchFamily="49" charset="-122"/>
        <a:buChar char=" "/>
        <a:defRPr sz="1500" b="0" kern="1200" baseline="0">
          <a:solidFill>
            <a:schemeClr val="tx1"/>
          </a:solidFill>
          <a:latin typeface="+mn-lt"/>
          <a:ea typeface="+mn-ea"/>
          <a:cs typeface="+mn-cs"/>
        </a:defRPr>
      </a:lvl2pPr>
      <a:lvl3pPr marL="642620" indent="-128270" algn="l" defTabSz="513715" rtl="0" eaLnBrk="1" latinLnBrk="0" hangingPunct="1">
        <a:lnSpc>
          <a:spcPct val="90000"/>
        </a:lnSpc>
        <a:spcBef>
          <a:spcPts val="280"/>
        </a:spcBef>
        <a:buFont typeface="Arial" panose="020B0604020202020204" pitchFamily="34" charset="0"/>
        <a:buChar char="•"/>
        <a:defRPr sz="1100" kern="1200">
          <a:solidFill>
            <a:schemeClr val="tx1"/>
          </a:solidFill>
          <a:latin typeface="+mn-lt"/>
          <a:ea typeface="+mn-ea"/>
          <a:cs typeface="+mn-cs"/>
        </a:defRPr>
      </a:lvl3pPr>
      <a:lvl4pPr marL="899795"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4pPr>
      <a:lvl5pPr marL="1156970"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5pPr>
      <a:lvl6pPr marL="1414145"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6pPr>
      <a:lvl7pPr marL="1671320"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7pPr>
      <a:lvl8pPr marL="1928495"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8pPr>
      <a:lvl9pPr marL="2185670" indent="-128270" algn="l" defTabSz="513715" rtl="0" eaLnBrk="1" latinLnBrk="0" hangingPunct="1">
        <a:lnSpc>
          <a:spcPct val="90000"/>
        </a:lnSpc>
        <a:spcBef>
          <a:spcPts val="280"/>
        </a:spcBef>
        <a:buFont typeface="Arial" panose="020B0604020202020204" pitchFamily="34" charset="0"/>
        <a:buChar char="•"/>
        <a:defRPr sz="1000" kern="1200">
          <a:solidFill>
            <a:schemeClr val="tx1"/>
          </a:solidFill>
          <a:latin typeface="+mn-lt"/>
          <a:ea typeface="+mn-ea"/>
          <a:cs typeface="+mn-cs"/>
        </a:defRPr>
      </a:lvl9pPr>
    </p:bodyStyle>
    <p:otherStyle>
      <a:defPPr>
        <a:defRPr lang="en-US"/>
      </a:defPPr>
      <a:lvl1pPr marL="0" algn="l" defTabSz="513715" rtl="0" eaLnBrk="1" latinLnBrk="0" hangingPunct="1">
        <a:defRPr sz="1000" kern="1200">
          <a:solidFill>
            <a:schemeClr val="tx1"/>
          </a:solidFill>
          <a:latin typeface="+mn-lt"/>
          <a:ea typeface="+mn-ea"/>
          <a:cs typeface="+mn-cs"/>
        </a:defRPr>
      </a:lvl1pPr>
      <a:lvl2pPr marL="257175" algn="l" defTabSz="513715" rtl="0" eaLnBrk="1" latinLnBrk="0" hangingPunct="1">
        <a:defRPr sz="1000" kern="1200">
          <a:solidFill>
            <a:schemeClr val="tx1"/>
          </a:solidFill>
          <a:latin typeface="+mn-lt"/>
          <a:ea typeface="+mn-ea"/>
          <a:cs typeface="+mn-cs"/>
        </a:defRPr>
      </a:lvl2pPr>
      <a:lvl3pPr marL="514350" algn="l" defTabSz="513715" rtl="0" eaLnBrk="1" latinLnBrk="0" hangingPunct="1">
        <a:defRPr sz="1000" kern="1200">
          <a:solidFill>
            <a:schemeClr val="tx1"/>
          </a:solidFill>
          <a:latin typeface="+mn-lt"/>
          <a:ea typeface="+mn-ea"/>
          <a:cs typeface="+mn-cs"/>
        </a:defRPr>
      </a:lvl3pPr>
      <a:lvl4pPr marL="771525" algn="l" defTabSz="513715" rtl="0" eaLnBrk="1" latinLnBrk="0" hangingPunct="1">
        <a:defRPr sz="1000" kern="1200">
          <a:solidFill>
            <a:schemeClr val="tx1"/>
          </a:solidFill>
          <a:latin typeface="+mn-lt"/>
          <a:ea typeface="+mn-ea"/>
          <a:cs typeface="+mn-cs"/>
        </a:defRPr>
      </a:lvl4pPr>
      <a:lvl5pPr marL="1028700" algn="l" defTabSz="513715" rtl="0" eaLnBrk="1" latinLnBrk="0" hangingPunct="1">
        <a:defRPr sz="1000" kern="1200">
          <a:solidFill>
            <a:schemeClr val="tx1"/>
          </a:solidFill>
          <a:latin typeface="+mn-lt"/>
          <a:ea typeface="+mn-ea"/>
          <a:cs typeface="+mn-cs"/>
        </a:defRPr>
      </a:lvl5pPr>
      <a:lvl6pPr marL="1285875" algn="l" defTabSz="513715" rtl="0" eaLnBrk="1" latinLnBrk="0" hangingPunct="1">
        <a:defRPr sz="1000" kern="1200">
          <a:solidFill>
            <a:schemeClr val="tx1"/>
          </a:solidFill>
          <a:latin typeface="+mn-lt"/>
          <a:ea typeface="+mn-ea"/>
          <a:cs typeface="+mn-cs"/>
        </a:defRPr>
      </a:lvl6pPr>
      <a:lvl7pPr marL="1543050" algn="l" defTabSz="513715" rtl="0" eaLnBrk="1" latinLnBrk="0" hangingPunct="1">
        <a:defRPr sz="1000" kern="1200">
          <a:solidFill>
            <a:schemeClr val="tx1"/>
          </a:solidFill>
          <a:latin typeface="+mn-lt"/>
          <a:ea typeface="+mn-ea"/>
          <a:cs typeface="+mn-cs"/>
        </a:defRPr>
      </a:lvl7pPr>
      <a:lvl8pPr marL="1800225" algn="l" defTabSz="513715" rtl="0" eaLnBrk="1" latinLnBrk="0" hangingPunct="1">
        <a:defRPr sz="1000" kern="1200">
          <a:solidFill>
            <a:schemeClr val="tx1"/>
          </a:solidFill>
          <a:latin typeface="+mn-lt"/>
          <a:ea typeface="+mn-ea"/>
          <a:cs typeface="+mn-cs"/>
        </a:defRPr>
      </a:lvl8pPr>
      <a:lvl9pPr marL="2057400" algn="l" defTabSz="513715" rtl="0" eaLnBrk="1" latinLnBrk="0" hangingPunct="1">
        <a:defRPr sz="1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0" Type="http://schemas.openxmlformats.org/officeDocument/2006/relationships/notesSlide" Target="../notesSlides/notesSlide2.xml"/><Relationship Id="rId2" Type="http://schemas.openxmlformats.org/officeDocument/2006/relationships/tags" Target="../tags/tag1.xml"/><Relationship Id="rId19" Type="http://schemas.openxmlformats.org/officeDocument/2006/relationships/slideLayout" Target="../slideLayouts/slideLayout1.xml"/><Relationship Id="rId18" Type="http://schemas.openxmlformats.org/officeDocument/2006/relationships/tags" Target="../tags/tag17.xml"/><Relationship Id="rId17" Type="http://schemas.openxmlformats.org/officeDocument/2006/relationships/tags" Target="../tags/tag16.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 Target="slide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4.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xml"/><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image" Target="../media/image5.jpeg"/></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slides/_rels/slide7.xml.rels><?xml version="1.0" encoding="UTF-8" standalone="yes"?>
<Relationships xmlns="http://schemas.openxmlformats.org/package/2006/relationships"><Relationship Id="rId5" Type="http://schemas.openxmlformats.org/officeDocument/2006/relationships/notesSlide" Target="../notesSlides/notesSlide7.xml"/><Relationship Id="rId4" Type="http://schemas.openxmlformats.org/officeDocument/2006/relationships/slideLayout" Target="../slideLayouts/slideLayout1.xml"/><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image" Target="../media/image11.jpeg"/></Relationships>
</file>

<file path=ppt/slides/_rels/slide8.xml.rels><?xml version="1.0" encoding="UTF-8" standalone="yes"?>
<Relationships xmlns="http://schemas.openxmlformats.org/package/2006/relationships"><Relationship Id="rId6" Type="http://schemas.openxmlformats.org/officeDocument/2006/relationships/notesSlide" Target="../notesSlides/notesSlide8.xml"/><Relationship Id="rId5" Type="http://schemas.openxmlformats.org/officeDocument/2006/relationships/slideLayout" Target="../slideLayouts/slideLayout1.xml"/><Relationship Id="rId4" Type="http://schemas.openxmlformats.org/officeDocument/2006/relationships/image" Target="../media/image17.jpeg"/><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9.xml.rels><?xml version="1.0" encoding="UTF-8" standalone="yes"?>
<Relationships xmlns="http://schemas.openxmlformats.org/package/2006/relationships"><Relationship Id="rId6" Type="http://schemas.openxmlformats.org/officeDocument/2006/relationships/notesSlide" Target="../notesSlides/notesSlide9.xml"/><Relationship Id="rId5" Type="http://schemas.openxmlformats.org/officeDocument/2006/relationships/slideLayout" Target="../slideLayouts/slideLayout1.xml"/><Relationship Id="rId4" Type="http://schemas.openxmlformats.org/officeDocument/2006/relationships/image" Target="../media/image21.jpeg"/><Relationship Id="rId3" Type="http://schemas.openxmlformats.org/officeDocument/2006/relationships/image" Target="../media/image20.jpeg"/><Relationship Id="rId2" Type="http://schemas.openxmlformats.org/officeDocument/2006/relationships/image" Target="../media/image19.jpeg"/><Relationship Id="rId1" Type="http://schemas.openxmlformats.org/officeDocument/2006/relationships/image" Target="../media/image18.jpeg"/></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1.xml"/><Relationship Id="rId4" Type="http://schemas.openxmlformats.org/officeDocument/2006/relationships/image" Target="../media/image25.jpeg"/><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image" Target="../media/image22.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9" Type="http://schemas.openxmlformats.org/officeDocument/2006/relationships/tags" Target="../tags/tag26.xml"/><Relationship Id="rId8" Type="http://schemas.openxmlformats.org/officeDocument/2006/relationships/tags" Target="../tags/tag25.xml"/><Relationship Id="rId7" Type="http://schemas.openxmlformats.org/officeDocument/2006/relationships/tags" Target="../tags/tag24.xml"/><Relationship Id="rId6" Type="http://schemas.openxmlformats.org/officeDocument/2006/relationships/tags" Target="../tags/tag23.xml"/><Relationship Id="rId5" Type="http://schemas.openxmlformats.org/officeDocument/2006/relationships/tags" Target="../tags/tag22.xml"/><Relationship Id="rId4" Type="http://schemas.openxmlformats.org/officeDocument/2006/relationships/tags" Target="../tags/tag21.xml"/><Relationship Id="rId3" Type="http://schemas.openxmlformats.org/officeDocument/2006/relationships/tags" Target="../tags/tag20.xml"/><Relationship Id="rId2" Type="http://schemas.openxmlformats.org/officeDocument/2006/relationships/tags" Target="../tags/tag19.xml"/><Relationship Id="rId16" Type="http://schemas.openxmlformats.org/officeDocument/2006/relationships/notesSlide" Target="../notesSlides/notesSlide28.xml"/><Relationship Id="rId15" Type="http://schemas.openxmlformats.org/officeDocument/2006/relationships/slideLayout" Target="../slideLayouts/slideLayout1.xml"/><Relationship Id="rId14" Type="http://schemas.openxmlformats.org/officeDocument/2006/relationships/tags" Target="../tags/tag31.xml"/><Relationship Id="rId13" Type="http://schemas.openxmlformats.org/officeDocument/2006/relationships/tags" Target="../tags/tag30.xml"/><Relationship Id="rId12" Type="http://schemas.openxmlformats.org/officeDocument/2006/relationships/tags" Target="../tags/tag29.xml"/><Relationship Id="rId11" Type="http://schemas.openxmlformats.org/officeDocument/2006/relationships/tags" Target="../tags/tag28.xml"/><Relationship Id="rId10" Type="http://schemas.openxmlformats.org/officeDocument/2006/relationships/tags" Target="../tags/tag27.xml"/><Relationship Id="rId1" Type="http://schemas.openxmlformats.org/officeDocument/2006/relationships/tags" Target="../tags/tag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44930" y="752475"/>
            <a:ext cx="7799070" cy="2771775"/>
          </a:xfrm>
        </p:spPr>
        <p:txBody>
          <a:bodyPr>
            <a:normAutofit/>
          </a:bodyPr>
          <a:lstStyle/>
          <a:p>
            <a:pPr algn="ctr">
              <a:lnSpc>
                <a:spcPct val="150000"/>
              </a:lnSpc>
            </a:pPr>
            <a:r>
              <a:rPr lang="zh-CN" altLang="da-DK" sz="3600" dirty="0" smtClean="0">
                <a:latin typeface="+mn-ea"/>
                <a:ea typeface="+mn-ea"/>
              </a:rPr>
              <a:t>汽车空调压缩机培训</a:t>
            </a:r>
            <a:br>
              <a:rPr lang="en-US" altLang="zh-CN" sz="3600" dirty="0" smtClean="0">
                <a:latin typeface="+mn-ea"/>
                <a:ea typeface="+mn-ea"/>
              </a:rPr>
            </a:br>
            <a:r>
              <a:rPr lang="zh-CN" altLang="en-US" sz="3600" dirty="0" smtClean="0">
                <a:latin typeface="+mn-ea"/>
                <a:ea typeface="+mn-ea"/>
              </a:rPr>
              <a:t>（二）</a:t>
            </a:r>
            <a:br>
              <a:rPr lang="en-US" altLang="zh-CN" sz="3600" dirty="0" smtClean="0">
                <a:latin typeface="+mn-ea"/>
                <a:ea typeface="+mn-ea"/>
              </a:rPr>
            </a:br>
            <a:r>
              <a:rPr lang="zh-CN" altLang="en-US" sz="3600" dirty="0" smtClean="0">
                <a:latin typeface="+mn-ea"/>
                <a:ea typeface="+mn-ea"/>
              </a:rPr>
              <a:t>装配技术</a:t>
            </a:r>
            <a:endParaRPr lang="zh-CN" altLang="da-DK" sz="3600" dirty="0">
              <a:latin typeface="+mn-ea"/>
              <a:ea typeface="+mn-ea"/>
            </a:endParaRPr>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MH_Number_1">
            <a:hlinkClick r:id="rId1" action="ppaction://hlinksldjump"/>
          </p:cNvPr>
          <p:cNvSpPr txBox="1">
            <a:spLocks noChangeArrowheads="1"/>
          </p:cNvSpPr>
          <p:nvPr>
            <p:custDataLst>
              <p:tags r:id="rId2"/>
            </p:custDataLst>
          </p:nvPr>
        </p:nvSpPr>
        <p:spPr bwMode="auto">
          <a:xfrm>
            <a:off x="3142061" y="1112045"/>
            <a:ext cx="358379" cy="413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rtl="0" eaLnBrk="1" hangingPunct="1">
              <a:spcBef>
                <a:spcPct val="0"/>
              </a:spcBef>
              <a:spcAft>
                <a:spcPts val="0"/>
              </a:spcAft>
              <a:buNone/>
              <a:defRPr/>
            </a:pPr>
            <a:r>
              <a:rPr lang="en-US" altLang="zh-CN" sz="2400" dirty="0">
                <a:latin typeface="+mn-lt"/>
                <a:ea typeface="+mn-ea"/>
                <a:cs typeface="Arial" panose="020B0604020202020204" pitchFamily="34" charset="0"/>
              </a:rPr>
              <a:t>1</a:t>
            </a:r>
            <a:endParaRPr lang="zh-CN" altLang="en-US" sz="2400" dirty="0">
              <a:latin typeface="+mn-lt"/>
              <a:ea typeface="+mn-ea"/>
              <a:cs typeface="Arial" panose="020B0604020202020204" pitchFamily="34" charset="0"/>
            </a:endParaRPr>
          </a:p>
        </p:txBody>
      </p:sp>
      <p:sp>
        <p:nvSpPr>
          <p:cNvPr id="14" name="MH_Entry_1">
            <a:hlinkClick r:id="rId1" action="ppaction://hlinksldjump"/>
          </p:cNvPr>
          <p:cNvSpPr/>
          <p:nvPr>
            <p:custDataLst>
              <p:tags r:id="rId3"/>
            </p:custDataLst>
          </p:nvPr>
        </p:nvSpPr>
        <p:spPr>
          <a:xfrm>
            <a:off x="3521869" y="1188245"/>
            <a:ext cx="3649266" cy="2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7997" tIns="0" rIns="0" bIns="0" anchor="ctr">
            <a:normAutofit/>
          </a:bodyPr>
          <a:lstStyle/>
          <a:p>
            <a:pPr rtl="0" eaLnBrk="1" hangingPunct="1">
              <a:spcBef>
                <a:spcPts val="0"/>
              </a:spcBef>
              <a:spcAft>
                <a:spcPts val="0"/>
              </a:spcAft>
              <a:defRPr/>
            </a:pPr>
            <a:r>
              <a:rPr lang="zh-CN" altLang="en-US" spc="150" dirty="0" smtClean="0">
                <a:solidFill>
                  <a:srgbClr val="FFFFFF"/>
                </a:solidFill>
              </a:rPr>
              <a:t>贝特新能源涡旋压缩机主要结构特点</a:t>
            </a:r>
            <a:endParaRPr lang="zh-CN" altLang="en-US" spc="150" dirty="0">
              <a:solidFill>
                <a:srgbClr val="FFFFFF"/>
              </a:solidFill>
            </a:endParaRPr>
          </a:p>
        </p:txBody>
      </p:sp>
      <p:cxnSp>
        <p:nvCxnSpPr>
          <p:cNvPr id="11" name="MH_Others_1"/>
          <p:cNvCxnSpPr/>
          <p:nvPr>
            <p:custDataLst>
              <p:tags r:id="rId4"/>
            </p:custDataLst>
          </p:nvPr>
        </p:nvCxnSpPr>
        <p:spPr>
          <a:xfrm>
            <a:off x="3174207" y="1525191"/>
            <a:ext cx="4110038" cy="0"/>
          </a:xfrm>
          <a:prstGeom prst="line">
            <a:avLst/>
          </a:prstGeom>
          <a:ln w="3175">
            <a:solidFill>
              <a:srgbClr val="DDDDDD"/>
            </a:solidFill>
          </a:ln>
        </p:spPr>
        <p:style>
          <a:lnRef idx="1">
            <a:schemeClr val="accent1"/>
          </a:lnRef>
          <a:fillRef idx="0">
            <a:schemeClr val="accent1"/>
          </a:fillRef>
          <a:effectRef idx="0">
            <a:schemeClr val="accent1"/>
          </a:effectRef>
          <a:fontRef idx="minor">
            <a:schemeClr val="tx1"/>
          </a:fontRef>
        </p:style>
      </p:cxnSp>
      <p:sp>
        <p:nvSpPr>
          <p:cNvPr id="65" name="MH_Number_2">
            <a:hlinkClick r:id="rId1" action="ppaction://hlinksldjump"/>
          </p:cNvPr>
          <p:cNvSpPr txBox="1">
            <a:spLocks noChangeArrowheads="1"/>
          </p:cNvSpPr>
          <p:nvPr>
            <p:custDataLst>
              <p:tags r:id="rId5"/>
            </p:custDataLst>
          </p:nvPr>
        </p:nvSpPr>
        <p:spPr bwMode="auto">
          <a:xfrm>
            <a:off x="3142061" y="1697832"/>
            <a:ext cx="358379"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rtl="0" eaLnBrk="1" hangingPunct="1">
              <a:spcBef>
                <a:spcPct val="0"/>
              </a:spcBef>
              <a:spcAft>
                <a:spcPts val="0"/>
              </a:spcAft>
              <a:buNone/>
              <a:defRPr/>
            </a:pPr>
            <a:r>
              <a:rPr lang="en-US" altLang="zh-CN" sz="2400" dirty="0">
                <a:latin typeface="+mn-lt"/>
                <a:ea typeface="+mn-ea"/>
                <a:cs typeface="Arial" panose="020B0604020202020204" pitchFamily="34" charset="0"/>
              </a:rPr>
              <a:t>2</a:t>
            </a:r>
            <a:endParaRPr lang="zh-CN" altLang="en-US" sz="2400" dirty="0">
              <a:latin typeface="+mn-lt"/>
              <a:ea typeface="+mn-ea"/>
              <a:cs typeface="Arial" panose="020B0604020202020204" pitchFamily="34" charset="0"/>
            </a:endParaRPr>
          </a:p>
        </p:txBody>
      </p:sp>
      <p:sp>
        <p:nvSpPr>
          <p:cNvPr id="66" name="MH_Entry_2">
            <a:hlinkClick r:id="rId1" action="ppaction://hlinksldjump"/>
          </p:cNvPr>
          <p:cNvSpPr/>
          <p:nvPr>
            <p:custDataLst>
              <p:tags r:id="rId6"/>
            </p:custDataLst>
          </p:nvPr>
        </p:nvSpPr>
        <p:spPr>
          <a:xfrm>
            <a:off x="3521869" y="1775224"/>
            <a:ext cx="3649266" cy="2833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7997" tIns="0" rIns="0" bIns="0" anchor="ctr">
            <a:normAutofit/>
          </a:bodyPr>
          <a:lstStyle/>
          <a:p>
            <a:pPr rtl="0" eaLnBrk="1" hangingPunct="1">
              <a:spcBef>
                <a:spcPts val="0"/>
              </a:spcBef>
              <a:spcAft>
                <a:spcPts val="0"/>
              </a:spcAft>
              <a:defRPr/>
            </a:pPr>
            <a:r>
              <a:rPr lang="zh-CN" altLang="da-DK" spc="150" dirty="0" smtClean="0">
                <a:solidFill>
                  <a:srgbClr val="FFFFFF"/>
                </a:solidFill>
                <a:sym typeface="+mn-ea"/>
              </a:rPr>
              <a:t>贝特新能源涡旋压缩机主要零部件</a:t>
            </a:r>
            <a:endParaRPr lang="zh-CN" altLang="da-DK" spc="150" dirty="0" smtClean="0">
              <a:solidFill>
                <a:srgbClr val="FFFFFF"/>
              </a:solidFill>
            </a:endParaRPr>
          </a:p>
        </p:txBody>
      </p:sp>
      <p:cxnSp>
        <p:nvCxnSpPr>
          <p:cNvPr id="67" name="MH_Others_2"/>
          <p:cNvCxnSpPr/>
          <p:nvPr>
            <p:custDataLst>
              <p:tags r:id="rId7"/>
            </p:custDataLst>
          </p:nvPr>
        </p:nvCxnSpPr>
        <p:spPr>
          <a:xfrm>
            <a:off x="3174207" y="2112169"/>
            <a:ext cx="4110038" cy="0"/>
          </a:xfrm>
          <a:prstGeom prst="line">
            <a:avLst/>
          </a:prstGeom>
          <a:ln w="3175">
            <a:solidFill>
              <a:srgbClr val="DDDDDD"/>
            </a:solidFill>
          </a:ln>
        </p:spPr>
        <p:style>
          <a:lnRef idx="1">
            <a:schemeClr val="accent1"/>
          </a:lnRef>
          <a:fillRef idx="0">
            <a:schemeClr val="accent1"/>
          </a:fillRef>
          <a:effectRef idx="0">
            <a:schemeClr val="accent1"/>
          </a:effectRef>
          <a:fontRef idx="minor">
            <a:schemeClr val="tx1"/>
          </a:fontRef>
        </p:style>
      </p:cxnSp>
      <p:sp>
        <p:nvSpPr>
          <p:cNvPr id="69" name="MH_Number_3">
            <a:hlinkClick r:id="rId1" action="ppaction://hlinksldjump"/>
          </p:cNvPr>
          <p:cNvSpPr txBox="1">
            <a:spLocks noChangeArrowheads="1"/>
          </p:cNvSpPr>
          <p:nvPr>
            <p:custDataLst>
              <p:tags r:id="rId8"/>
            </p:custDataLst>
          </p:nvPr>
        </p:nvSpPr>
        <p:spPr bwMode="auto">
          <a:xfrm>
            <a:off x="3142061" y="2284811"/>
            <a:ext cx="358379" cy="413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rtl="0" eaLnBrk="1" hangingPunct="1">
              <a:spcBef>
                <a:spcPct val="0"/>
              </a:spcBef>
              <a:spcAft>
                <a:spcPts val="0"/>
              </a:spcAft>
              <a:buNone/>
              <a:defRPr/>
            </a:pPr>
            <a:r>
              <a:rPr lang="en-US" altLang="zh-CN" sz="2400" dirty="0">
                <a:latin typeface="+mn-lt"/>
                <a:ea typeface="+mn-ea"/>
                <a:cs typeface="Arial" panose="020B0604020202020204" pitchFamily="34" charset="0"/>
              </a:rPr>
              <a:t>3</a:t>
            </a:r>
            <a:endParaRPr lang="zh-CN" altLang="en-US" sz="2400" dirty="0">
              <a:latin typeface="+mn-lt"/>
              <a:ea typeface="+mn-ea"/>
              <a:cs typeface="Arial" panose="020B0604020202020204" pitchFamily="34" charset="0"/>
            </a:endParaRPr>
          </a:p>
        </p:txBody>
      </p:sp>
      <p:sp>
        <p:nvSpPr>
          <p:cNvPr id="70" name="MH_Entry_3">
            <a:hlinkClick r:id="rId1" action="ppaction://hlinksldjump"/>
          </p:cNvPr>
          <p:cNvSpPr/>
          <p:nvPr>
            <p:custDataLst>
              <p:tags r:id="rId9"/>
            </p:custDataLst>
          </p:nvPr>
        </p:nvSpPr>
        <p:spPr>
          <a:xfrm>
            <a:off x="3521869" y="2361011"/>
            <a:ext cx="3649266" cy="2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7997" tIns="0" rIns="0" bIns="0" anchor="ctr">
            <a:normAutofit/>
          </a:bodyPr>
          <a:lstStyle/>
          <a:p>
            <a:pPr rtl="0" eaLnBrk="1" hangingPunct="1">
              <a:spcBef>
                <a:spcPts val="0"/>
              </a:spcBef>
              <a:spcAft>
                <a:spcPts val="0"/>
              </a:spcAft>
              <a:defRPr/>
            </a:pPr>
            <a:r>
              <a:rPr lang="zh-CN" altLang="da-DK" spc="150" dirty="0" smtClean="0">
                <a:solidFill>
                  <a:srgbClr val="FFFFFF"/>
                </a:solidFill>
                <a:sym typeface="+mn-ea"/>
              </a:rPr>
              <a:t>压缩机装配工艺注意事项</a:t>
            </a:r>
            <a:endParaRPr lang="zh-CN" altLang="en-US" spc="150" dirty="0">
              <a:solidFill>
                <a:srgbClr val="FFFFFF"/>
              </a:solidFill>
            </a:endParaRPr>
          </a:p>
        </p:txBody>
      </p:sp>
      <p:cxnSp>
        <p:nvCxnSpPr>
          <p:cNvPr id="71" name="MH_Others_3"/>
          <p:cNvCxnSpPr/>
          <p:nvPr>
            <p:custDataLst>
              <p:tags r:id="rId10"/>
            </p:custDataLst>
          </p:nvPr>
        </p:nvCxnSpPr>
        <p:spPr>
          <a:xfrm>
            <a:off x="3174207" y="2697956"/>
            <a:ext cx="4110038" cy="0"/>
          </a:xfrm>
          <a:prstGeom prst="line">
            <a:avLst/>
          </a:prstGeom>
          <a:ln w="3175">
            <a:solidFill>
              <a:srgbClr val="DDDDDD"/>
            </a:solidFill>
          </a:ln>
        </p:spPr>
        <p:style>
          <a:lnRef idx="1">
            <a:schemeClr val="accent1"/>
          </a:lnRef>
          <a:fillRef idx="0">
            <a:schemeClr val="accent1"/>
          </a:fillRef>
          <a:effectRef idx="0">
            <a:schemeClr val="accent1"/>
          </a:effectRef>
          <a:fontRef idx="minor">
            <a:schemeClr val="tx1"/>
          </a:fontRef>
        </p:style>
      </p:cxnSp>
      <p:sp>
        <p:nvSpPr>
          <p:cNvPr id="73" name="MH_Number_4">
            <a:hlinkClick r:id="rId1" action="ppaction://hlinksldjump"/>
          </p:cNvPr>
          <p:cNvSpPr txBox="1">
            <a:spLocks noChangeArrowheads="1"/>
          </p:cNvSpPr>
          <p:nvPr>
            <p:custDataLst>
              <p:tags r:id="rId11"/>
            </p:custDataLst>
          </p:nvPr>
        </p:nvSpPr>
        <p:spPr bwMode="auto">
          <a:xfrm>
            <a:off x="3142061" y="2871789"/>
            <a:ext cx="358379" cy="4131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rtl="0" eaLnBrk="1" hangingPunct="1">
              <a:spcBef>
                <a:spcPct val="0"/>
              </a:spcBef>
              <a:spcAft>
                <a:spcPts val="0"/>
              </a:spcAft>
              <a:buNone/>
              <a:defRPr/>
            </a:pPr>
            <a:r>
              <a:rPr lang="en-US" altLang="zh-CN" sz="2400" dirty="0">
                <a:latin typeface="+mn-lt"/>
                <a:ea typeface="+mn-ea"/>
                <a:cs typeface="Arial" panose="020B0604020202020204" pitchFamily="34" charset="0"/>
              </a:rPr>
              <a:t>4</a:t>
            </a:r>
            <a:endParaRPr lang="zh-CN" altLang="en-US" sz="2400" dirty="0">
              <a:latin typeface="+mn-lt"/>
              <a:ea typeface="+mn-ea"/>
              <a:cs typeface="Arial" panose="020B0604020202020204" pitchFamily="34" charset="0"/>
            </a:endParaRPr>
          </a:p>
        </p:txBody>
      </p:sp>
      <p:sp>
        <p:nvSpPr>
          <p:cNvPr id="74" name="MH_Entry_4">
            <a:hlinkClick r:id="rId1" action="ppaction://hlinksldjump"/>
          </p:cNvPr>
          <p:cNvSpPr/>
          <p:nvPr>
            <p:custDataLst>
              <p:tags r:id="rId12"/>
            </p:custDataLst>
          </p:nvPr>
        </p:nvSpPr>
        <p:spPr>
          <a:xfrm>
            <a:off x="3521869" y="2947989"/>
            <a:ext cx="3649266" cy="28336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7997" tIns="0" rIns="0" bIns="0" anchor="ctr">
            <a:normAutofit/>
          </a:bodyPr>
          <a:lstStyle/>
          <a:p>
            <a:pPr rtl="0" eaLnBrk="1" hangingPunct="1">
              <a:spcBef>
                <a:spcPts val="0"/>
              </a:spcBef>
              <a:spcAft>
                <a:spcPts val="0"/>
              </a:spcAft>
              <a:defRPr/>
            </a:pPr>
            <a:r>
              <a:rPr lang="zh-CN" altLang="en-US" spc="150" dirty="0" smtClean="0">
                <a:solidFill>
                  <a:srgbClr val="FFFFFF"/>
                </a:solidFill>
                <a:sym typeface="+mn-ea"/>
              </a:rPr>
              <a:t>各零部件装配要求及注意事项</a:t>
            </a:r>
            <a:endParaRPr lang="zh-CN" altLang="da-DK" spc="150" dirty="0" smtClean="0">
              <a:solidFill>
                <a:srgbClr val="FFFFFF"/>
              </a:solidFill>
            </a:endParaRPr>
          </a:p>
        </p:txBody>
      </p:sp>
      <p:cxnSp>
        <p:nvCxnSpPr>
          <p:cNvPr id="75" name="MH_Others_4"/>
          <p:cNvCxnSpPr/>
          <p:nvPr>
            <p:custDataLst>
              <p:tags r:id="rId13"/>
            </p:custDataLst>
          </p:nvPr>
        </p:nvCxnSpPr>
        <p:spPr>
          <a:xfrm>
            <a:off x="3174207" y="3284935"/>
            <a:ext cx="4110038" cy="0"/>
          </a:xfrm>
          <a:prstGeom prst="line">
            <a:avLst/>
          </a:prstGeom>
          <a:ln w="3175">
            <a:solidFill>
              <a:srgbClr val="DDDDDD"/>
            </a:solidFill>
          </a:ln>
        </p:spPr>
        <p:style>
          <a:lnRef idx="1">
            <a:schemeClr val="accent1"/>
          </a:lnRef>
          <a:fillRef idx="0">
            <a:schemeClr val="accent1"/>
          </a:fillRef>
          <a:effectRef idx="0">
            <a:schemeClr val="accent1"/>
          </a:effectRef>
          <a:fontRef idx="minor">
            <a:schemeClr val="tx1"/>
          </a:fontRef>
        </p:style>
      </p:cxnSp>
      <p:sp>
        <p:nvSpPr>
          <p:cNvPr id="77" name="MH_Number_5">
            <a:hlinkClick r:id="rId1" action="ppaction://hlinksldjump"/>
          </p:cNvPr>
          <p:cNvSpPr txBox="1">
            <a:spLocks noChangeArrowheads="1"/>
          </p:cNvSpPr>
          <p:nvPr>
            <p:custDataLst>
              <p:tags r:id="rId14"/>
            </p:custDataLst>
          </p:nvPr>
        </p:nvSpPr>
        <p:spPr bwMode="auto">
          <a:xfrm>
            <a:off x="3142061" y="3457576"/>
            <a:ext cx="358379" cy="414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ctr">
            <a:no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fontAlgn="base">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rtl="0" eaLnBrk="1" hangingPunct="1">
              <a:spcBef>
                <a:spcPct val="0"/>
              </a:spcBef>
              <a:spcAft>
                <a:spcPts val="0"/>
              </a:spcAft>
              <a:buNone/>
              <a:defRPr/>
            </a:pPr>
            <a:r>
              <a:rPr lang="en-US" altLang="zh-CN" sz="2400" dirty="0">
                <a:latin typeface="+mn-lt"/>
                <a:ea typeface="+mn-ea"/>
                <a:cs typeface="Arial" panose="020B0604020202020204" pitchFamily="34" charset="0"/>
              </a:rPr>
              <a:t>5</a:t>
            </a:r>
            <a:endParaRPr lang="zh-CN" altLang="en-US" sz="2400" dirty="0">
              <a:latin typeface="+mn-lt"/>
              <a:ea typeface="+mn-ea"/>
              <a:cs typeface="Arial" panose="020B0604020202020204" pitchFamily="34" charset="0"/>
            </a:endParaRPr>
          </a:p>
        </p:txBody>
      </p:sp>
      <p:sp>
        <p:nvSpPr>
          <p:cNvPr id="78" name="MH_Entry_5">
            <a:hlinkClick r:id="rId1" action="ppaction://hlinksldjump"/>
          </p:cNvPr>
          <p:cNvSpPr/>
          <p:nvPr>
            <p:custDataLst>
              <p:tags r:id="rId15"/>
            </p:custDataLst>
          </p:nvPr>
        </p:nvSpPr>
        <p:spPr>
          <a:xfrm>
            <a:off x="3521869" y="3533775"/>
            <a:ext cx="3649266" cy="2845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107997" tIns="0" rIns="0" bIns="0" anchor="ctr">
            <a:normAutofit/>
          </a:bodyPr>
          <a:lstStyle/>
          <a:p>
            <a:pPr rtl="0" eaLnBrk="1" hangingPunct="1">
              <a:spcBef>
                <a:spcPts val="0"/>
              </a:spcBef>
              <a:spcAft>
                <a:spcPts val="0"/>
              </a:spcAft>
              <a:defRPr/>
            </a:pPr>
            <a:r>
              <a:rPr lang="zh-CN" altLang="en-US" spc="150" dirty="0">
                <a:solidFill>
                  <a:srgbClr val="FFFFFF"/>
                </a:solidFill>
                <a:sym typeface="+mn-ea"/>
              </a:rPr>
              <a:t>压缩机质量控制要点</a:t>
            </a:r>
            <a:endParaRPr lang="zh-CN" altLang="da-DK" spc="150" dirty="0" smtClean="0">
              <a:solidFill>
                <a:srgbClr val="FFFFFF"/>
              </a:solidFill>
            </a:endParaRPr>
          </a:p>
        </p:txBody>
      </p:sp>
      <p:cxnSp>
        <p:nvCxnSpPr>
          <p:cNvPr id="79" name="MH_Others_5"/>
          <p:cNvCxnSpPr/>
          <p:nvPr>
            <p:custDataLst>
              <p:tags r:id="rId16"/>
            </p:custDataLst>
          </p:nvPr>
        </p:nvCxnSpPr>
        <p:spPr>
          <a:xfrm>
            <a:off x="3174207" y="3871913"/>
            <a:ext cx="4110038" cy="0"/>
          </a:xfrm>
          <a:prstGeom prst="line">
            <a:avLst/>
          </a:prstGeom>
          <a:ln w="3175">
            <a:solidFill>
              <a:srgbClr val="DDDDDD"/>
            </a:solidFill>
          </a:ln>
        </p:spPr>
        <p:style>
          <a:lnRef idx="1">
            <a:schemeClr val="accent1"/>
          </a:lnRef>
          <a:fillRef idx="0">
            <a:schemeClr val="accent1"/>
          </a:fillRef>
          <a:effectRef idx="0">
            <a:schemeClr val="accent1"/>
          </a:effectRef>
          <a:fontRef idx="minor">
            <a:schemeClr val="tx1"/>
          </a:fontRef>
        </p:style>
      </p:cxnSp>
      <p:sp>
        <p:nvSpPr>
          <p:cNvPr id="6164" name="MH_Others_3"/>
          <p:cNvSpPr txBox="1"/>
          <p:nvPr>
            <p:custDataLst>
              <p:tags r:id="rId17"/>
            </p:custDataLst>
          </p:nvPr>
        </p:nvSpPr>
        <p:spPr>
          <a:xfrm>
            <a:off x="974884" y="791291"/>
            <a:ext cx="1472804" cy="772715"/>
          </a:xfrm>
          <a:prstGeom prst="rect">
            <a:avLst/>
          </a:prstGeom>
          <a:noFill/>
          <a:ln w="9525">
            <a:noFill/>
            <a:miter/>
          </a:ln>
        </p:spPr>
        <p:txBody>
          <a:bodyPr lIns="0" tIns="0" rIns="0" bIns="0" anchor="ctr"/>
          <a:lstStyle/>
          <a:p>
            <a:pPr lvl="0" algn="ctr" eaLnBrk="1" hangingPunct="1"/>
            <a:r>
              <a:rPr lang="zh-CN" altLang="en-US" sz="4000" dirty="0"/>
              <a:t>目录</a:t>
            </a:r>
            <a:r>
              <a:rPr lang="zh-CN" altLang="en-US" sz="2700" dirty="0">
                <a:solidFill>
                  <a:srgbClr val="109F83"/>
                </a:solidFill>
              </a:rPr>
              <a:t> </a:t>
            </a:r>
            <a:endParaRPr lang="en-US" altLang="zh-CN" sz="2700" dirty="0">
              <a:solidFill>
                <a:srgbClr val="109F83"/>
              </a:solidFill>
            </a:endParaRPr>
          </a:p>
          <a:p>
            <a:pPr lvl="0" algn="ctr" eaLnBrk="1" hangingPunct="1"/>
            <a:r>
              <a:rPr lang="en-US" altLang="zh-CN" dirty="0">
                <a:solidFill>
                  <a:srgbClr val="B2B2B2"/>
                </a:solidFill>
                <a:latin typeface="Arial" panose="020B0604020202020204" pitchFamily="34" charset="0"/>
                <a:ea typeface="黑体" panose="02010609060101010101" pitchFamily="49" charset="-122"/>
              </a:rPr>
              <a:t> CONTENTS</a:t>
            </a:r>
            <a:endParaRPr lang="zh-CN" altLang="en-US" dirty="0">
              <a:solidFill>
                <a:srgbClr val="B2B2B2"/>
              </a:solidFill>
              <a:latin typeface="Arial" panose="020B0604020202020204" pitchFamily="34" charset="0"/>
              <a:ea typeface="黑体" panose="02010609060101010101" pitchFamily="49" charset="-122"/>
            </a:endParaRPr>
          </a:p>
        </p:txBody>
      </p:sp>
      <p:sp>
        <p:nvSpPr>
          <p:cNvPr id="23" name="灯片编号占位符 22"/>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ustDataLst>
      <p:tags r:id="rId18"/>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51402" y="568406"/>
            <a:ext cx="8215313" cy="596503"/>
          </a:xfrm>
        </p:spPr>
        <p:txBody>
          <a:bodyPr>
            <a:normAutofit/>
          </a:bodyPr>
          <a:lstStyle/>
          <a:p>
            <a:r>
              <a:rPr lang="zh-CN" altLang="en-US" b="1" spc="150" dirty="0" smtClean="0">
                <a:latin typeface="楷体" panose="02010609060101010101" charset="-122"/>
                <a:ea typeface="楷体" panose="02010609060101010101" charset="-122"/>
                <a:cs typeface="+mn-cs"/>
                <a:sym typeface="+mn-ea"/>
              </a:rPr>
              <a:t>涡旋压缩机主要结构特点</a:t>
            </a:r>
            <a:endParaRPr lang="zh-CN" altLang="en-US" b="1" spc="150" dirty="0" smtClean="0">
              <a:latin typeface="楷体" panose="02010609060101010101" charset="-122"/>
              <a:ea typeface="楷体" panose="02010609060101010101" charset="-122"/>
              <a:cs typeface="+mn-cs"/>
              <a:sym typeface="+mn-ea"/>
            </a:endParaRPr>
          </a:p>
        </p:txBody>
      </p:sp>
      <p:sp>
        <p:nvSpPr>
          <p:cNvPr id="5" name="灯片编号占位符 4"/>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pic>
        <p:nvPicPr>
          <p:cNvPr id="6" name="内容占位符 5" descr="1211"/>
          <p:cNvPicPr>
            <a:picLocks noChangeAspect="1"/>
          </p:cNvPicPr>
          <p:nvPr>
            <p:ph idx="1"/>
          </p:nvPr>
        </p:nvPicPr>
        <p:blipFill>
          <a:blip r:embed="rId1"/>
          <a:stretch>
            <a:fillRect/>
          </a:stretch>
        </p:blipFill>
        <p:spPr>
          <a:xfrm>
            <a:off x="2274570" y="1195705"/>
            <a:ext cx="4081145" cy="3281045"/>
          </a:xfrm>
          <a:prstGeom prst="rect">
            <a:avLst/>
          </a:prstGeom>
        </p:spPr>
      </p:pic>
      <p:cxnSp>
        <p:nvCxnSpPr>
          <p:cNvPr id="7" name="直接箭头连接符 6"/>
          <p:cNvCxnSpPr>
            <a:stCxn id="12" idx="2"/>
          </p:cNvCxnSpPr>
          <p:nvPr/>
        </p:nvCxnSpPr>
        <p:spPr>
          <a:xfrm flipH="1">
            <a:off x="4953000" y="1580515"/>
            <a:ext cx="1773555" cy="123888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a:stCxn id="10" idx="2"/>
          </p:cNvCxnSpPr>
          <p:nvPr/>
        </p:nvCxnSpPr>
        <p:spPr>
          <a:xfrm flipH="1">
            <a:off x="3453130" y="1580515"/>
            <a:ext cx="1344930" cy="1439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9" name="直接箭头连接符 8"/>
          <p:cNvCxnSpPr>
            <a:stCxn id="11" idx="2"/>
          </p:cNvCxnSpPr>
          <p:nvPr/>
        </p:nvCxnSpPr>
        <p:spPr>
          <a:xfrm flipH="1">
            <a:off x="5417185" y="1580515"/>
            <a:ext cx="518795" cy="49466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0" name="文本框 9"/>
          <p:cNvSpPr txBox="1"/>
          <p:nvPr/>
        </p:nvSpPr>
        <p:spPr>
          <a:xfrm>
            <a:off x="4262120" y="1212215"/>
            <a:ext cx="1071880" cy="3683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动静涡旋盘</a:t>
            </a:r>
            <a:endParaRPr lang="zh-CN" altLang="en-US" sz="1400" dirty="0" smtClean="0">
              <a:latin typeface="Arial" panose="020B0604020202020204" pitchFamily="34" charset="0"/>
              <a:ea typeface="微软雅黑" panose="020B0503020204020204" pitchFamily="34" charset="-122"/>
            </a:endParaRPr>
          </a:p>
        </p:txBody>
      </p:sp>
      <p:sp>
        <p:nvSpPr>
          <p:cNvPr id="11" name="文本框 10"/>
          <p:cNvSpPr txBox="1"/>
          <p:nvPr/>
        </p:nvSpPr>
        <p:spPr>
          <a:xfrm>
            <a:off x="5577840" y="1212215"/>
            <a:ext cx="716280" cy="3683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控制器</a:t>
            </a:r>
            <a:endParaRPr lang="zh-CN" altLang="en-US" sz="1400" dirty="0" smtClean="0">
              <a:latin typeface="Arial" panose="020B0604020202020204" pitchFamily="34" charset="0"/>
              <a:ea typeface="微软雅黑" panose="020B0503020204020204" pitchFamily="34" charset="-122"/>
            </a:endParaRPr>
          </a:p>
        </p:txBody>
      </p:sp>
      <p:sp>
        <p:nvSpPr>
          <p:cNvPr id="12" name="文本框 11"/>
          <p:cNvSpPr txBox="1"/>
          <p:nvPr/>
        </p:nvSpPr>
        <p:spPr>
          <a:xfrm>
            <a:off x="6457315" y="1212215"/>
            <a:ext cx="538480" cy="3683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电机</a:t>
            </a:r>
            <a:endParaRPr lang="zh-CN" altLang="en-US" sz="1400" dirty="0" smtClean="0">
              <a:latin typeface="Arial" panose="020B0604020202020204" pitchFamily="34" charset="0"/>
              <a:ea typeface="微软雅黑" panose="020B0503020204020204" pitchFamily="34" charset="-122"/>
            </a:endParaRPr>
          </a:p>
        </p:txBody>
      </p:sp>
      <p:sp>
        <p:nvSpPr>
          <p:cNvPr id="13" name="文本框 12"/>
          <p:cNvSpPr txBox="1"/>
          <p:nvPr/>
        </p:nvSpPr>
        <p:spPr>
          <a:xfrm>
            <a:off x="6541135" y="2499360"/>
            <a:ext cx="360680" cy="3683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轴</a:t>
            </a:r>
            <a:endParaRPr lang="zh-CN" altLang="en-US" sz="1400" dirty="0" smtClean="0">
              <a:latin typeface="Arial" panose="020B0604020202020204" pitchFamily="34" charset="0"/>
              <a:ea typeface="微软雅黑" panose="020B0503020204020204" pitchFamily="34" charset="-122"/>
            </a:endParaRPr>
          </a:p>
        </p:txBody>
      </p:sp>
      <p:cxnSp>
        <p:nvCxnSpPr>
          <p:cNvPr id="14" name="直接箭头连接符 13"/>
          <p:cNvCxnSpPr>
            <a:stCxn id="13" idx="1"/>
          </p:cNvCxnSpPr>
          <p:nvPr/>
        </p:nvCxnSpPr>
        <p:spPr>
          <a:xfrm flipH="1">
            <a:off x="5742305" y="2683510"/>
            <a:ext cx="798830" cy="55054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15" name="直接箭头连接符 14"/>
          <p:cNvCxnSpPr>
            <a:stCxn id="16" idx="0"/>
          </p:cNvCxnSpPr>
          <p:nvPr/>
        </p:nvCxnSpPr>
        <p:spPr>
          <a:xfrm flipH="1" flipV="1">
            <a:off x="5862320" y="3644265"/>
            <a:ext cx="755015" cy="828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6" name="文本框 15"/>
          <p:cNvSpPr txBox="1"/>
          <p:nvPr/>
        </p:nvSpPr>
        <p:spPr>
          <a:xfrm>
            <a:off x="6259195" y="4472940"/>
            <a:ext cx="716280" cy="3683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低压腔</a:t>
            </a:r>
            <a:endParaRPr lang="zh-CN" altLang="en-US" sz="1400" dirty="0" smtClean="0">
              <a:latin typeface="Arial" panose="020B0604020202020204" pitchFamily="34" charset="0"/>
              <a:ea typeface="微软雅黑" panose="020B0503020204020204" pitchFamily="34" charset="-122"/>
            </a:endParaRPr>
          </a:p>
        </p:txBody>
      </p:sp>
      <p:sp>
        <p:nvSpPr>
          <p:cNvPr id="17" name="文本框 16"/>
          <p:cNvSpPr txBox="1"/>
          <p:nvPr/>
        </p:nvSpPr>
        <p:spPr>
          <a:xfrm>
            <a:off x="2165985" y="4476750"/>
            <a:ext cx="716280" cy="368300"/>
          </a:xfrm>
          <a:prstGeom prst="rect">
            <a:avLst/>
          </a:prstGeom>
        </p:spPr>
        <p:style>
          <a:lnRef idx="2">
            <a:schemeClr val="dk1"/>
          </a:lnRef>
          <a:fillRef idx="1">
            <a:schemeClr val="lt1"/>
          </a:fillRef>
          <a:effectRef idx="0">
            <a:schemeClr val="dk1"/>
          </a:effectRef>
          <a:fontRef idx="minor">
            <a:schemeClr val="dk1"/>
          </a:fontRef>
        </p:style>
        <p:txBody>
          <a:bodyPr wrap="none" rtlCol="0">
            <a:spAutoFit/>
          </a:bodyPr>
          <a:p>
            <a:pPr>
              <a:lnSpc>
                <a:spcPct val="130000"/>
              </a:lnSpc>
            </a:pPr>
            <a:r>
              <a:rPr lang="zh-CN" altLang="en-US" sz="1400" dirty="0" smtClean="0">
                <a:latin typeface="Arial" panose="020B0604020202020204" pitchFamily="34" charset="0"/>
                <a:ea typeface="微软雅黑" panose="020B0503020204020204" pitchFamily="34" charset="-122"/>
              </a:rPr>
              <a:t>高压腔</a:t>
            </a:r>
            <a:endParaRPr lang="zh-CN" altLang="en-US" sz="1400" dirty="0" smtClean="0">
              <a:latin typeface="Arial" panose="020B0604020202020204" pitchFamily="34" charset="0"/>
              <a:ea typeface="微软雅黑" panose="020B0503020204020204" pitchFamily="34" charset="-122"/>
            </a:endParaRPr>
          </a:p>
        </p:txBody>
      </p:sp>
      <p:cxnSp>
        <p:nvCxnSpPr>
          <p:cNvPr id="18" name="直接箭头连接符 17"/>
          <p:cNvCxnSpPr/>
          <p:nvPr/>
        </p:nvCxnSpPr>
        <p:spPr>
          <a:xfrm flipV="1">
            <a:off x="2543810" y="3648075"/>
            <a:ext cx="338455" cy="828675"/>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标题 1"/>
          <p:cNvSpPr>
            <a:spLocks noGrp="1"/>
          </p:cNvSpPr>
          <p:nvPr>
            <p:ph type="title"/>
          </p:nvPr>
        </p:nvSpPr>
        <p:spPr>
          <a:xfrm>
            <a:off x="1054418" y="560548"/>
            <a:ext cx="4473893" cy="589121"/>
          </a:xfrm>
          <a:noFill/>
        </p:spPr>
        <p:txBody>
          <a:bodyPr vert="horz" wrap="square" lIns="68579" tIns="34289" rIns="68579" bIns="34289" anchor="ctr">
            <a:normAutofit/>
          </a:bodyPr>
          <a:lstStyle/>
          <a:p>
            <a:pPr algn="l"/>
            <a:r>
              <a:rPr lang="zh-CN" altLang="en-US" b="1" spc="150" dirty="0" smtClean="0">
                <a:latin typeface="楷体" panose="02010609060101010101" charset="-122"/>
                <a:ea typeface="楷体" panose="02010609060101010101" charset="-122"/>
                <a:cs typeface="+mn-cs"/>
                <a:sym typeface="+mn-ea"/>
              </a:rPr>
              <a:t>涡旋压缩机主要结构特点</a:t>
            </a:r>
            <a:endParaRPr lang="zh-CN" altLang="en-US" b="1" spc="150" dirty="0" smtClean="0">
              <a:latin typeface="楷体" panose="02010609060101010101" charset="-122"/>
              <a:ea typeface="楷体" panose="02010609060101010101" charset="-122"/>
              <a:cs typeface="+mn-cs"/>
              <a:sym typeface="+mn-ea"/>
            </a:endParaRPr>
          </a:p>
        </p:txBody>
      </p:sp>
      <p:sp>
        <p:nvSpPr>
          <p:cNvPr id="19459" name="内容占位符 2"/>
          <p:cNvSpPr>
            <a:spLocks noGrp="1"/>
          </p:cNvSpPr>
          <p:nvPr>
            <p:ph idx="1"/>
          </p:nvPr>
        </p:nvSpPr>
        <p:spPr>
          <a:xfrm>
            <a:off x="1054735" y="1149985"/>
            <a:ext cx="7396480" cy="3292475"/>
          </a:xfrm>
          <a:ln>
            <a:noFill/>
          </a:ln>
        </p:spPr>
        <p:style>
          <a:lnRef idx="2">
            <a:schemeClr val="accent6"/>
          </a:lnRef>
          <a:fillRef idx="1">
            <a:schemeClr val="lt1"/>
          </a:fillRef>
          <a:effectRef idx="0">
            <a:schemeClr val="accent6"/>
          </a:effectRef>
          <a:fontRef idx="minor">
            <a:schemeClr val="dk1"/>
          </a:fontRef>
        </p:style>
        <p:txBody>
          <a:bodyPr vert="horz" wrap="square" lIns="68579" tIns="34289" rIns="68579" bIns="34289" anchor="t">
            <a:noAutofit/>
          </a:bodyPr>
          <a:lstStyle/>
          <a:p>
            <a:pPr marL="0">
              <a:lnSpc>
                <a:spcPct val="150000"/>
              </a:lnSpc>
              <a:spcBef>
                <a:spcPts val="0"/>
              </a:spcBef>
              <a:buNone/>
            </a:pPr>
            <a:r>
              <a:rPr lang="en-US" altLang="zh-CN" sz="2400" dirty="0" smtClean="0">
                <a:latin typeface="楷体" panose="02010609060101010101" charset="-122"/>
                <a:ea typeface="楷体" panose="02010609060101010101" charset="-122"/>
                <a:sym typeface="+mn-ea"/>
              </a:rPr>
              <a:t>1.</a:t>
            </a:r>
            <a:r>
              <a:rPr sz="2400" dirty="0" smtClean="0">
                <a:latin typeface="楷体" panose="02010609060101010101" charset="-122"/>
                <a:ea typeface="楷体" panose="02010609060101010101" charset="-122"/>
                <a:sym typeface="+mn-ea"/>
              </a:rPr>
              <a:t>压缩机</a:t>
            </a:r>
            <a:r>
              <a:rPr lang="zh-CN" altLang="en-US" sz="2400" dirty="0" smtClean="0">
                <a:latin typeface="楷体" panose="02010609060101010101" charset="-122"/>
                <a:ea typeface="楷体" panose="02010609060101010101" charset="-122"/>
                <a:sym typeface="+mn-ea"/>
              </a:rPr>
              <a:t>结构：</a:t>
            </a:r>
            <a:r>
              <a:rPr lang="zh-CN" altLang="zh-CN" sz="2400" dirty="0" smtClean="0">
                <a:latin typeface="楷体" panose="02010609060101010101" charset="-122"/>
                <a:ea typeface="楷体" panose="02010609060101010101" charset="-122"/>
                <a:sym typeface="+mn-ea"/>
              </a:rPr>
              <a:t>一体式电动半封闭卧式涡旋压缩机</a:t>
            </a:r>
            <a:endParaRPr lang="zh-CN" altLang="zh-CN" sz="2400" dirty="0" smtClean="0">
              <a:latin typeface="楷体" panose="02010609060101010101" charset="-122"/>
              <a:ea typeface="楷体" panose="02010609060101010101" charset="-122"/>
              <a:sym typeface="+mn-ea"/>
            </a:endParaRPr>
          </a:p>
          <a:p>
            <a:pPr>
              <a:lnSpc>
                <a:spcPct val="150000"/>
              </a:lnSpc>
              <a:spcBef>
                <a:spcPts val="0"/>
              </a:spcBef>
              <a:buNone/>
            </a:pPr>
            <a:r>
              <a:rPr lang="en-US" altLang="zh-CN" sz="2400" dirty="0" smtClean="0">
                <a:latin typeface="楷体" panose="02010609060101010101" charset="-122"/>
                <a:ea typeface="楷体" panose="02010609060101010101" charset="-122"/>
                <a:sym typeface="+mn-ea"/>
              </a:rPr>
              <a:t>2.</a:t>
            </a:r>
            <a:r>
              <a:rPr sz="2400" dirty="0" smtClean="0">
                <a:latin typeface="楷体" panose="02010609060101010101" charset="-122"/>
                <a:ea typeface="楷体" panose="02010609060101010101" charset="-122"/>
                <a:sym typeface="+mn-ea"/>
              </a:rPr>
              <a:t>驱动</a:t>
            </a:r>
            <a:r>
              <a:rPr sz="2400">
                <a:latin typeface="楷体" panose="02010609060101010101" charset="-122"/>
                <a:ea typeface="楷体" panose="02010609060101010101" charset="-122"/>
                <a:sym typeface="+mn-ea"/>
              </a:rPr>
              <a:t>电机：无刷直流电机</a:t>
            </a:r>
            <a:endParaRPr sz="2400">
              <a:latin typeface="楷体" panose="02010609060101010101" charset="-122"/>
              <a:ea typeface="楷体" panose="02010609060101010101" charset="-122"/>
              <a:sym typeface="+mn-ea"/>
            </a:endParaRPr>
          </a:p>
          <a:p>
            <a:pPr>
              <a:lnSpc>
                <a:spcPct val="150000"/>
              </a:lnSpc>
              <a:spcBef>
                <a:spcPts val="0"/>
              </a:spcBef>
              <a:buNone/>
            </a:pPr>
            <a:r>
              <a:rPr lang="en-US" altLang="zh-CN" sz="2400" dirty="0" smtClean="0">
                <a:latin typeface="楷体" panose="02010609060101010101" charset="-122"/>
                <a:ea typeface="楷体" panose="02010609060101010101" charset="-122"/>
                <a:sym typeface="+mn-ea"/>
              </a:rPr>
              <a:t>3.</a:t>
            </a:r>
            <a:r>
              <a:rPr sz="2400">
                <a:latin typeface="楷体" panose="02010609060101010101" charset="-122"/>
                <a:ea typeface="楷体" panose="02010609060101010101" charset="-122"/>
                <a:sym typeface="+mn-ea"/>
              </a:rPr>
              <a:t>涡旋防自转机构：十字滑环式</a:t>
            </a:r>
            <a:endParaRPr lang="en-US" altLang="zh-CN" sz="2400" dirty="0" smtClean="0">
              <a:latin typeface="楷体" panose="02010609060101010101" charset="-122"/>
              <a:ea typeface="楷体" panose="02010609060101010101" charset="-122"/>
              <a:sym typeface="+mn-ea"/>
            </a:endParaRPr>
          </a:p>
          <a:p>
            <a:pPr>
              <a:lnSpc>
                <a:spcPct val="150000"/>
              </a:lnSpc>
              <a:spcBef>
                <a:spcPts val="0"/>
              </a:spcBef>
              <a:buNone/>
            </a:pPr>
            <a:r>
              <a:rPr lang="en-US" altLang="zh-CN" sz="2400" dirty="0" smtClean="0">
                <a:latin typeface="楷体" panose="02010609060101010101" charset="-122"/>
                <a:ea typeface="楷体" panose="02010609060101010101" charset="-122"/>
                <a:sym typeface="+mn-ea"/>
              </a:rPr>
              <a:t>4.</a:t>
            </a:r>
            <a:r>
              <a:rPr sz="2400" dirty="0" smtClean="0">
                <a:latin typeface="楷体" panose="02010609060101010101" charset="-122"/>
                <a:ea typeface="楷体" panose="02010609060101010101" charset="-122"/>
                <a:sym typeface="+mn-ea"/>
              </a:rPr>
              <a:t>动静涡旋盘端面由密封条密封</a:t>
            </a:r>
            <a:endParaRPr sz="2400" dirty="0" smtClean="0">
              <a:latin typeface="楷体" panose="02010609060101010101" charset="-122"/>
              <a:ea typeface="楷体" panose="02010609060101010101" charset="-122"/>
              <a:sym typeface="+mn-ea"/>
            </a:endParaRPr>
          </a:p>
          <a:p>
            <a:pPr>
              <a:lnSpc>
                <a:spcPct val="150000"/>
              </a:lnSpc>
              <a:spcBef>
                <a:spcPts val="0"/>
              </a:spcBef>
              <a:buNone/>
            </a:pPr>
            <a:r>
              <a:rPr lang="en-US" altLang="zh-CN" sz="2400" dirty="0" smtClean="0">
                <a:latin typeface="楷体" panose="02010609060101010101" charset="-122"/>
                <a:ea typeface="楷体" panose="02010609060101010101" charset="-122"/>
                <a:sym typeface="+mn-ea"/>
              </a:rPr>
              <a:t>5.</a:t>
            </a:r>
            <a:r>
              <a:rPr sz="2400" dirty="0" smtClean="0">
                <a:latin typeface="楷体" panose="02010609060101010101" charset="-122"/>
                <a:ea typeface="楷体" panose="02010609060101010101" charset="-122"/>
                <a:sym typeface="+mn-ea"/>
              </a:rPr>
              <a:t>轴与动涡旋盘间设置由柔性补偿机构</a:t>
            </a:r>
            <a:endParaRPr sz="2400" dirty="0" smtClean="0">
              <a:latin typeface="楷体" panose="02010609060101010101" charset="-122"/>
              <a:ea typeface="楷体" panose="02010609060101010101" charset="-122"/>
              <a:sym typeface="+mn-ea"/>
            </a:endParaRPr>
          </a:p>
          <a:p>
            <a:pPr>
              <a:lnSpc>
                <a:spcPct val="150000"/>
              </a:lnSpc>
              <a:spcBef>
                <a:spcPts val="0"/>
              </a:spcBef>
              <a:buNone/>
            </a:pPr>
            <a:endParaRPr lang="zh-CN" altLang="en-US" sz="2400" dirty="0" smtClean="0">
              <a:latin typeface="楷体" panose="02010609060101010101" charset="-122"/>
              <a:ea typeface="楷体" panose="02010609060101010101" charset="-122"/>
              <a:sym typeface="+mn-ea"/>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87805" y="787957"/>
            <a:ext cx="8215313" cy="596503"/>
          </a:xfrm>
        </p:spPr>
        <p:txBody>
          <a:bodyPr/>
          <a:lstStyle/>
          <a:p>
            <a:r>
              <a:rPr lang="zh-CN" altLang="en-US">
                <a:latin typeface="楷体" panose="02010609060101010101" charset="-122"/>
                <a:ea typeface="楷体" panose="02010609060101010101" charset="-122"/>
              </a:rPr>
              <a:t>电动涡旋压缩机主要零部件介绍</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487806" y="1470183"/>
            <a:ext cx="7332345" cy="2814638"/>
          </a:xfrm>
        </p:spPr>
        <p:txBody>
          <a:bodyPr/>
          <a:lstStyle/>
          <a:p>
            <a:r>
              <a:rPr lang="en-US" altLang="zh-CN"/>
              <a:t>1</a:t>
            </a:r>
            <a:r>
              <a:t>、</a:t>
            </a:r>
            <a:r>
              <a:rPr lang="zh-CN" altLang="en-US"/>
              <a:t>电器部件</a:t>
            </a:r>
            <a:endParaRPr lang="zh-CN" altLang="en-US"/>
          </a:p>
        </p:txBody>
      </p:sp>
      <p:pic>
        <p:nvPicPr>
          <p:cNvPr id="4" name="图片 3" descr="P60708-111134"/>
          <p:cNvPicPr>
            <a:picLocks noChangeAspect="1"/>
          </p:cNvPicPr>
          <p:nvPr/>
        </p:nvPicPr>
        <p:blipFill>
          <a:blip r:embed="rId1" cstate="print"/>
          <a:stretch>
            <a:fillRect/>
          </a:stretch>
        </p:blipFill>
        <p:spPr>
          <a:xfrm rot="16200000">
            <a:off x="1686402" y="1684021"/>
            <a:ext cx="2224088" cy="2965609"/>
          </a:xfrm>
          <a:prstGeom prst="rect">
            <a:avLst/>
          </a:prstGeom>
        </p:spPr>
      </p:pic>
      <p:pic>
        <p:nvPicPr>
          <p:cNvPr id="5" name="图片 4" descr="P60708-111408"/>
          <p:cNvPicPr>
            <a:picLocks noChangeAspect="1"/>
          </p:cNvPicPr>
          <p:nvPr/>
        </p:nvPicPr>
        <p:blipFill>
          <a:blip r:embed="rId2" cstate="print"/>
          <a:srcRect l="20548"/>
          <a:stretch>
            <a:fillRect/>
          </a:stretch>
        </p:blipFill>
        <p:spPr>
          <a:xfrm>
            <a:off x="4281487" y="2060735"/>
            <a:ext cx="2349818" cy="2218373"/>
          </a:xfrm>
          <a:prstGeom prst="rect">
            <a:avLst/>
          </a:prstGeom>
        </p:spPr>
      </p:pic>
      <p:pic>
        <p:nvPicPr>
          <p:cNvPr id="6" name="图片 5" descr="P60708-111544"/>
          <p:cNvPicPr>
            <a:picLocks noChangeAspect="1"/>
          </p:cNvPicPr>
          <p:nvPr/>
        </p:nvPicPr>
        <p:blipFill>
          <a:blip r:embed="rId3" cstate="print"/>
          <a:srcRect l="26742" t="24465" r="16002" b="28316"/>
          <a:stretch>
            <a:fillRect/>
          </a:stretch>
        </p:blipFill>
        <p:spPr>
          <a:xfrm>
            <a:off x="6631306" y="2060735"/>
            <a:ext cx="2017395" cy="2218849"/>
          </a:xfrm>
          <a:prstGeom prst="rect">
            <a:avLst/>
          </a:prstGeom>
        </p:spPr>
      </p:pic>
      <p:sp>
        <p:nvSpPr>
          <p:cNvPr id="7" name="文本框 6"/>
          <p:cNvSpPr txBox="1"/>
          <p:nvPr/>
        </p:nvSpPr>
        <p:spPr>
          <a:xfrm>
            <a:off x="2783206" y="4514850"/>
            <a:ext cx="561690"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控制器</a:t>
            </a:r>
            <a:endParaRPr lang="zh-CN" altLang="en-US" sz="1100" dirty="0" smtClean="0">
              <a:ea typeface="微软雅黑" panose="020B0503020204020204" pitchFamily="34" charset="-122"/>
            </a:endParaRPr>
          </a:p>
        </p:txBody>
      </p:sp>
      <p:sp>
        <p:nvSpPr>
          <p:cNvPr id="8" name="文本框 7"/>
          <p:cNvSpPr txBox="1"/>
          <p:nvPr/>
        </p:nvSpPr>
        <p:spPr>
          <a:xfrm>
            <a:off x="5260182" y="4514850"/>
            <a:ext cx="702754"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电机定子</a:t>
            </a:r>
            <a:endParaRPr lang="zh-CN" altLang="en-US" sz="1100" dirty="0" smtClean="0">
              <a:ea typeface="微软雅黑" panose="020B0503020204020204" pitchFamily="34" charset="-122"/>
            </a:endParaRPr>
          </a:p>
        </p:txBody>
      </p:sp>
      <p:sp>
        <p:nvSpPr>
          <p:cNvPr id="10" name="文本框 9"/>
          <p:cNvSpPr txBox="1"/>
          <p:nvPr/>
        </p:nvSpPr>
        <p:spPr>
          <a:xfrm>
            <a:off x="7507129" y="4514850"/>
            <a:ext cx="702754"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电机转子</a:t>
            </a:r>
            <a:endParaRPr lang="zh-CN" altLang="en-US" sz="1100" dirty="0" smtClean="0">
              <a:ea typeface="微软雅黑" panose="020B0503020204020204" pitchFamily="34" charset="-122"/>
            </a:endParaRPr>
          </a:p>
        </p:txBody>
      </p:sp>
      <p:sp>
        <p:nvSpPr>
          <p:cNvPr id="11" name="灯片编号占位符 10"/>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87793" y="737475"/>
            <a:ext cx="8215313" cy="596503"/>
          </a:xfrm>
        </p:spPr>
        <p:txBody>
          <a:bodyPr>
            <a:normAutofit/>
          </a:bodyPr>
          <a:lstStyle/>
          <a:p>
            <a:r>
              <a:rPr lang="zh-CN" altLang="en-US">
                <a:latin typeface="楷体" panose="02010609060101010101" charset="-122"/>
                <a:ea typeface="楷体" panose="02010609060101010101" charset="-122"/>
                <a:sym typeface="+mn-ea"/>
              </a:rPr>
              <a:t>电动涡旋压缩机主要零部件介绍</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387793" y="1333977"/>
            <a:ext cx="7332345" cy="2814638"/>
          </a:xfrm>
        </p:spPr>
        <p:txBody>
          <a:bodyPr/>
          <a:lstStyle/>
          <a:p>
            <a:r>
              <a:rPr lang="en-US" altLang="zh-CN"/>
              <a:t>2</a:t>
            </a:r>
            <a:r>
              <a:t>、</a:t>
            </a:r>
            <a:r>
              <a:rPr lang="zh-CN" altLang="en-US"/>
              <a:t>结构件</a:t>
            </a:r>
            <a:endParaRPr lang="zh-CN" altLang="en-US"/>
          </a:p>
        </p:txBody>
      </p:sp>
      <p:pic>
        <p:nvPicPr>
          <p:cNvPr id="4" name="图片 3" descr="P60708-111755"/>
          <p:cNvPicPr>
            <a:picLocks noChangeAspect="1"/>
          </p:cNvPicPr>
          <p:nvPr/>
        </p:nvPicPr>
        <p:blipFill>
          <a:blip r:embed="rId1" cstate="print"/>
          <a:srcRect l="16286" t="13326" r="13390"/>
          <a:stretch>
            <a:fillRect/>
          </a:stretch>
        </p:blipFill>
        <p:spPr>
          <a:xfrm>
            <a:off x="641985" y="1787368"/>
            <a:ext cx="2598420" cy="2402681"/>
          </a:xfrm>
          <a:prstGeom prst="rect">
            <a:avLst/>
          </a:prstGeom>
        </p:spPr>
      </p:pic>
      <p:pic>
        <p:nvPicPr>
          <p:cNvPr id="5" name="图片 4" descr="P60708-111801"/>
          <p:cNvPicPr>
            <a:picLocks noChangeAspect="1"/>
          </p:cNvPicPr>
          <p:nvPr/>
        </p:nvPicPr>
        <p:blipFill>
          <a:blip r:embed="rId2" cstate="print"/>
          <a:srcRect l="21535" t="10766" r="4079" b="5960"/>
          <a:stretch>
            <a:fillRect/>
          </a:stretch>
        </p:blipFill>
        <p:spPr>
          <a:xfrm>
            <a:off x="3240406" y="1787368"/>
            <a:ext cx="2860358" cy="2402681"/>
          </a:xfrm>
          <a:prstGeom prst="rect">
            <a:avLst/>
          </a:prstGeom>
        </p:spPr>
      </p:pic>
      <p:pic>
        <p:nvPicPr>
          <p:cNvPr id="6" name="图片 5" descr="P60708-111805"/>
          <p:cNvPicPr>
            <a:picLocks noChangeAspect="1"/>
          </p:cNvPicPr>
          <p:nvPr/>
        </p:nvPicPr>
        <p:blipFill>
          <a:blip r:embed="rId3" cstate="print"/>
          <a:srcRect l="19237" t="18106" r="13448" b="6208"/>
          <a:stretch>
            <a:fillRect/>
          </a:stretch>
        </p:blipFill>
        <p:spPr>
          <a:xfrm>
            <a:off x="6100762" y="1787367"/>
            <a:ext cx="2848928" cy="2403158"/>
          </a:xfrm>
          <a:prstGeom prst="rect">
            <a:avLst/>
          </a:prstGeom>
        </p:spPr>
      </p:pic>
      <p:sp>
        <p:nvSpPr>
          <p:cNvPr id="7" name="文本框 6"/>
          <p:cNvSpPr txBox="1"/>
          <p:nvPr/>
        </p:nvSpPr>
        <p:spPr>
          <a:xfrm>
            <a:off x="1503047" y="4421029"/>
            <a:ext cx="977741" cy="289308"/>
          </a:xfrm>
          <a:prstGeom prst="rect">
            <a:avLst/>
          </a:prstGeom>
          <a:noFill/>
        </p:spPr>
        <p:txBody>
          <a:bodyPr wrap="square" lIns="68579" tIns="34289" rIns="68579" bIns="34289" rtlCol="0">
            <a:spAutoFit/>
          </a:bodyPr>
          <a:lstStyle/>
          <a:p>
            <a:pPr>
              <a:lnSpc>
                <a:spcPct val="130000"/>
              </a:lnSpc>
            </a:pPr>
            <a:r>
              <a:rPr lang="zh-CN" altLang="en-US" sz="1100" dirty="0" smtClean="0">
                <a:ea typeface="微软雅黑" panose="020B0503020204020204" pitchFamily="34" charset="-122"/>
              </a:rPr>
              <a:t>电机机壳</a:t>
            </a:r>
            <a:endParaRPr lang="zh-CN" altLang="en-US" sz="1100" dirty="0" smtClean="0">
              <a:ea typeface="微软雅黑" panose="020B0503020204020204" pitchFamily="34" charset="-122"/>
            </a:endParaRPr>
          </a:p>
        </p:txBody>
      </p:sp>
      <p:sp>
        <p:nvSpPr>
          <p:cNvPr id="8" name="文本框 7"/>
          <p:cNvSpPr txBox="1"/>
          <p:nvPr/>
        </p:nvSpPr>
        <p:spPr>
          <a:xfrm>
            <a:off x="4303396" y="4421029"/>
            <a:ext cx="561690"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轴承座</a:t>
            </a:r>
            <a:endParaRPr lang="zh-CN" altLang="en-US" sz="1100" dirty="0" smtClean="0">
              <a:ea typeface="微软雅黑" panose="020B0503020204020204" pitchFamily="34" charset="-122"/>
            </a:endParaRPr>
          </a:p>
        </p:txBody>
      </p:sp>
      <p:sp>
        <p:nvSpPr>
          <p:cNvPr id="9" name="文本框 8"/>
          <p:cNvSpPr txBox="1"/>
          <p:nvPr/>
        </p:nvSpPr>
        <p:spPr>
          <a:xfrm>
            <a:off x="7323297" y="4421029"/>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端盖</a:t>
            </a:r>
            <a:endParaRPr lang="zh-CN" altLang="en-US" sz="1100" dirty="0" smtClean="0">
              <a:ea typeface="微软雅黑" panose="020B0503020204020204" pitchFamily="34" charset="-122"/>
            </a:endParaRPr>
          </a:p>
        </p:txBody>
      </p:sp>
      <p:sp>
        <p:nvSpPr>
          <p:cNvPr id="10" name="灯片编号占位符 9"/>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87793" y="810341"/>
            <a:ext cx="8215313" cy="596503"/>
          </a:xfrm>
        </p:spPr>
        <p:txBody>
          <a:bodyPr>
            <a:normAutofit/>
          </a:bodyPr>
          <a:lstStyle/>
          <a:p>
            <a:r>
              <a:rPr lang="zh-CN" altLang="en-US">
                <a:latin typeface="楷体" panose="02010609060101010101" charset="-122"/>
                <a:ea typeface="楷体" panose="02010609060101010101" charset="-122"/>
                <a:sym typeface="+mn-ea"/>
              </a:rPr>
              <a:t>电动涡旋压缩机主要零部件介绍</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387793" y="1361599"/>
            <a:ext cx="7332345" cy="2814638"/>
          </a:xfrm>
        </p:spPr>
        <p:txBody>
          <a:bodyPr/>
          <a:lstStyle/>
          <a:p>
            <a:r>
              <a:rPr lang="en-US" altLang="zh-CN"/>
              <a:t>3</a:t>
            </a:r>
            <a:r>
              <a:t>、</a:t>
            </a:r>
            <a:r>
              <a:rPr lang="zh-CN" altLang="en-US"/>
              <a:t>工作部件</a:t>
            </a:r>
            <a:endParaRPr lang="zh-CN" altLang="en-US"/>
          </a:p>
        </p:txBody>
      </p:sp>
      <p:pic>
        <p:nvPicPr>
          <p:cNvPr id="4" name="图片 3" descr="P60708-144621"/>
          <p:cNvPicPr>
            <a:picLocks noChangeAspect="1"/>
          </p:cNvPicPr>
          <p:nvPr/>
        </p:nvPicPr>
        <p:blipFill>
          <a:blip r:embed="rId1" cstate="print"/>
          <a:srcRect l="15893" t="7846" r="8573" b="9407"/>
          <a:stretch>
            <a:fillRect/>
          </a:stretch>
        </p:blipFill>
        <p:spPr>
          <a:xfrm>
            <a:off x="1223645" y="1812925"/>
            <a:ext cx="2430145" cy="1997710"/>
          </a:xfrm>
          <a:prstGeom prst="rect">
            <a:avLst/>
          </a:prstGeom>
        </p:spPr>
      </p:pic>
      <p:sp>
        <p:nvSpPr>
          <p:cNvPr id="6" name="文本框 5"/>
          <p:cNvSpPr txBox="1"/>
          <p:nvPr/>
        </p:nvSpPr>
        <p:spPr>
          <a:xfrm>
            <a:off x="2087246" y="4028599"/>
            <a:ext cx="702754"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十字滑环</a:t>
            </a:r>
            <a:endParaRPr lang="zh-CN" altLang="en-US" sz="1100" dirty="0" smtClean="0">
              <a:ea typeface="微软雅黑" panose="020B0503020204020204" pitchFamily="34" charset="-122"/>
            </a:endParaRPr>
          </a:p>
        </p:txBody>
      </p:sp>
      <p:sp>
        <p:nvSpPr>
          <p:cNvPr id="7" name="文本框 6"/>
          <p:cNvSpPr txBox="1"/>
          <p:nvPr/>
        </p:nvSpPr>
        <p:spPr>
          <a:xfrm>
            <a:off x="4342131" y="4028599"/>
            <a:ext cx="702754"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动涡旋盘</a:t>
            </a:r>
            <a:endParaRPr lang="zh-CN" altLang="en-US" sz="1100" dirty="0" smtClean="0">
              <a:ea typeface="微软雅黑" panose="020B0503020204020204" pitchFamily="34" charset="-122"/>
            </a:endParaRPr>
          </a:p>
        </p:txBody>
      </p:sp>
      <p:sp>
        <p:nvSpPr>
          <p:cNvPr id="8" name="文本框 7"/>
          <p:cNvSpPr txBox="1"/>
          <p:nvPr/>
        </p:nvSpPr>
        <p:spPr>
          <a:xfrm>
            <a:off x="6390006" y="4028599"/>
            <a:ext cx="702754"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静涡旋盘</a:t>
            </a:r>
            <a:endParaRPr lang="zh-CN" altLang="en-US" sz="1100" dirty="0" smtClean="0">
              <a:ea typeface="微软雅黑" panose="020B0503020204020204" pitchFamily="34" charset="-122"/>
            </a:endParaRPr>
          </a:p>
        </p:txBody>
      </p:sp>
      <p:sp>
        <p:nvSpPr>
          <p:cNvPr id="9" name="灯片编号占位符 8"/>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pic>
        <p:nvPicPr>
          <p:cNvPr id="10" name="图片 9" descr="P60803-083337"/>
          <p:cNvPicPr>
            <a:picLocks noChangeAspect="1"/>
          </p:cNvPicPr>
          <p:nvPr/>
        </p:nvPicPr>
        <p:blipFill>
          <a:blip r:embed="rId2"/>
          <a:srcRect l="4340" t="17771" r="8483" b="16637"/>
          <a:stretch>
            <a:fillRect/>
          </a:stretch>
        </p:blipFill>
        <p:spPr>
          <a:xfrm>
            <a:off x="5749290" y="1812925"/>
            <a:ext cx="1985010" cy="1991995"/>
          </a:xfrm>
          <a:prstGeom prst="rect">
            <a:avLst/>
          </a:prstGeom>
        </p:spPr>
      </p:pic>
      <p:pic>
        <p:nvPicPr>
          <p:cNvPr id="11" name="图片 10" descr="P60803-083353"/>
          <p:cNvPicPr>
            <a:picLocks noChangeAspect="1"/>
          </p:cNvPicPr>
          <p:nvPr/>
        </p:nvPicPr>
        <p:blipFill>
          <a:blip r:embed="rId3"/>
          <a:srcRect l="16433" t="31627" r="13908" b="17724"/>
          <a:stretch>
            <a:fillRect/>
          </a:stretch>
        </p:blipFill>
        <p:spPr>
          <a:xfrm>
            <a:off x="3663315" y="1812925"/>
            <a:ext cx="2059940" cy="19977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53955" y="753191"/>
            <a:ext cx="8215313" cy="596503"/>
          </a:xfrm>
        </p:spPr>
        <p:txBody>
          <a:bodyPr>
            <a:normAutofit/>
          </a:bodyPr>
          <a:lstStyle/>
          <a:p>
            <a:r>
              <a:rPr lang="zh-CN" altLang="en-US">
                <a:latin typeface="楷体" panose="02010609060101010101" charset="-122"/>
                <a:ea typeface="楷体" panose="02010609060101010101" charset="-122"/>
                <a:sym typeface="+mn-ea"/>
              </a:rPr>
              <a:t>电动涡旋压缩机主要零部件介绍</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153955" y="1349692"/>
            <a:ext cx="7332345" cy="2814638"/>
          </a:xfrm>
        </p:spPr>
        <p:txBody>
          <a:bodyPr/>
          <a:lstStyle/>
          <a:p>
            <a:r>
              <a:rPr lang="en-US" altLang="zh-CN"/>
              <a:t>4</a:t>
            </a:r>
            <a:r>
              <a:t>、</a:t>
            </a:r>
            <a:r>
              <a:rPr lang="zh-CN" altLang="en-US"/>
              <a:t>轴承及轴等零部件</a:t>
            </a:r>
            <a:endParaRPr lang="zh-CN" altLang="en-US"/>
          </a:p>
        </p:txBody>
      </p:sp>
      <p:pic>
        <p:nvPicPr>
          <p:cNvPr id="4" name="图片 3" descr="P60708-144936"/>
          <p:cNvPicPr>
            <a:picLocks noChangeAspect="1"/>
          </p:cNvPicPr>
          <p:nvPr/>
        </p:nvPicPr>
        <p:blipFill>
          <a:blip r:embed="rId1" cstate="print"/>
          <a:srcRect l="37477" t="22795"/>
          <a:stretch>
            <a:fillRect/>
          </a:stretch>
        </p:blipFill>
        <p:spPr>
          <a:xfrm>
            <a:off x="1136333" y="1973581"/>
            <a:ext cx="1691640" cy="1566863"/>
          </a:xfrm>
          <a:prstGeom prst="rect">
            <a:avLst/>
          </a:prstGeom>
        </p:spPr>
      </p:pic>
      <p:pic>
        <p:nvPicPr>
          <p:cNvPr id="5" name="图片 4" descr="P60708-144648"/>
          <p:cNvPicPr>
            <a:picLocks noChangeAspect="1"/>
          </p:cNvPicPr>
          <p:nvPr/>
        </p:nvPicPr>
        <p:blipFill>
          <a:blip r:embed="rId2" cstate="print"/>
          <a:srcRect l="9691" t="47466" r="6339" b="21237"/>
          <a:stretch>
            <a:fillRect/>
          </a:stretch>
        </p:blipFill>
        <p:spPr>
          <a:xfrm>
            <a:off x="2827973" y="3912395"/>
            <a:ext cx="3357563" cy="938689"/>
          </a:xfrm>
          <a:prstGeom prst="rect">
            <a:avLst/>
          </a:prstGeom>
        </p:spPr>
      </p:pic>
      <p:pic>
        <p:nvPicPr>
          <p:cNvPr id="6" name="图片 5" descr="P60708-144611"/>
          <p:cNvPicPr>
            <a:picLocks noChangeAspect="1"/>
          </p:cNvPicPr>
          <p:nvPr/>
        </p:nvPicPr>
        <p:blipFill>
          <a:blip r:embed="rId3" cstate="print"/>
          <a:srcRect l="41991" t="46599" r="33152" b="15429"/>
          <a:stretch>
            <a:fillRect/>
          </a:stretch>
        </p:blipFill>
        <p:spPr>
          <a:xfrm>
            <a:off x="3960019" y="1973581"/>
            <a:ext cx="1367314" cy="1566863"/>
          </a:xfrm>
          <a:prstGeom prst="rect">
            <a:avLst/>
          </a:prstGeom>
        </p:spPr>
      </p:pic>
      <p:pic>
        <p:nvPicPr>
          <p:cNvPr id="7" name="图片 6" descr="P60708-144629"/>
          <p:cNvPicPr>
            <a:picLocks noChangeAspect="1"/>
          </p:cNvPicPr>
          <p:nvPr/>
        </p:nvPicPr>
        <p:blipFill>
          <a:blip r:embed="rId4" cstate="print"/>
          <a:srcRect l="12810" t="14444" r="9256" b="18300"/>
          <a:stretch>
            <a:fillRect/>
          </a:stretch>
        </p:blipFill>
        <p:spPr>
          <a:xfrm>
            <a:off x="6060282" y="1970248"/>
            <a:ext cx="2426018" cy="1570196"/>
          </a:xfrm>
          <a:prstGeom prst="rect">
            <a:avLst/>
          </a:prstGeom>
        </p:spPr>
      </p:pic>
      <p:sp>
        <p:nvSpPr>
          <p:cNvPr id="8" name="文本框 7"/>
          <p:cNvSpPr txBox="1"/>
          <p:nvPr/>
        </p:nvSpPr>
        <p:spPr>
          <a:xfrm>
            <a:off x="1578294" y="3617119"/>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轴承</a:t>
            </a:r>
            <a:endParaRPr lang="zh-CN" altLang="en-US" sz="1100" dirty="0" smtClean="0">
              <a:ea typeface="微软雅黑" panose="020B0503020204020204" pitchFamily="34" charset="-122"/>
            </a:endParaRPr>
          </a:p>
        </p:txBody>
      </p:sp>
      <p:sp>
        <p:nvSpPr>
          <p:cNvPr id="9" name="文本框 8"/>
          <p:cNvSpPr txBox="1"/>
          <p:nvPr/>
        </p:nvSpPr>
        <p:spPr>
          <a:xfrm>
            <a:off x="6414611" y="4413885"/>
            <a:ext cx="279562"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轴</a:t>
            </a:r>
            <a:endParaRPr lang="zh-CN" altLang="en-US" sz="1100" dirty="0" smtClean="0">
              <a:ea typeface="微软雅黑" panose="020B0503020204020204" pitchFamily="34" charset="-122"/>
            </a:endParaRPr>
          </a:p>
        </p:txBody>
      </p:sp>
      <p:sp>
        <p:nvSpPr>
          <p:cNvPr id="10" name="文本框 9"/>
          <p:cNvSpPr txBox="1"/>
          <p:nvPr/>
        </p:nvSpPr>
        <p:spPr>
          <a:xfrm>
            <a:off x="4370071" y="3617119"/>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关节</a:t>
            </a:r>
            <a:endParaRPr lang="zh-CN" altLang="en-US" sz="1100" dirty="0" smtClean="0">
              <a:ea typeface="微软雅黑" panose="020B0503020204020204" pitchFamily="34" charset="-122"/>
            </a:endParaRPr>
          </a:p>
        </p:txBody>
      </p:sp>
      <p:sp>
        <p:nvSpPr>
          <p:cNvPr id="11" name="文本框 10"/>
          <p:cNvSpPr txBox="1"/>
          <p:nvPr/>
        </p:nvSpPr>
        <p:spPr>
          <a:xfrm>
            <a:off x="7004686" y="3617119"/>
            <a:ext cx="561690"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平衡块</a:t>
            </a:r>
            <a:endParaRPr lang="zh-CN" altLang="en-US" sz="1100" dirty="0" smtClean="0">
              <a:ea typeface="微软雅黑" panose="020B0503020204020204" pitchFamily="34" charset="-122"/>
            </a:endParaRPr>
          </a:p>
        </p:txBody>
      </p:sp>
      <p:sp>
        <p:nvSpPr>
          <p:cNvPr id="12" name="灯片编号占位符 11"/>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37323" y="759382"/>
            <a:ext cx="8215313" cy="596503"/>
          </a:xfrm>
        </p:spPr>
        <p:txBody>
          <a:bodyPr>
            <a:normAutofit/>
          </a:bodyPr>
          <a:lstStyle/>
          <a:p>
            <a:r>
              <a:rPr lang="zh-CN" altLang="en-US">
                <a:latin typeface="楷体" panose="02010609060101010101" charset="-122"/>
                <a:ea typeface="楷体" panose="02010609060101010101" charset="-122"/>
                <a:sym typeface="+mn-ea"/>
              </a:rPr>
              <a:t>电动涡旋压缩机主要零部件介绍</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437322" y="1355884"/>
            <a:ext cx="7332345" cy="2814638"/>
          </a:xfrm>
        </p:spPr>
        <p:txBody>
          <a:bodyPr/>
          <a:lstStyle/>
          <a:p>
            <a:r>
              <a:rPr lang="en-US" altLang="zh-CN"/>
              <a:t>5</a:t>
            </a:r>
            <a:r>
              <a:t>、</a:t>
            </a:r>
            <a:r>
              <a:rPr lang="zh-CN" altLang="en-US"/>
              <a:t>密封件</a:t>
            </a:r>
            <a:endParaRPr lang="zh-CN" altLang="en-US"/>
          </a:p>
        </p:txBody>
      </p:sp>
      <p:pic>
        <p:nvPicPr>
          <p:cNvPr id="4" name="图片 3" descr="P60712-152211"/>
          <p:cNvPicPr>
            <a:picLocks noChangeAspect="1"/>
          </p:cNvPicPr>
          <p:nvPr/>
        </p:nvPicPr>
        <p:blipFill>
          <a:blip r:embed="rId1" cstate="print"/>
          <a:srcRect l="26066" t="11058" r="17521" b="14521"/>
          <a:stretch>
            <a:fillRect/>
          </a:stretch>
        </p:blipFill>
        <p:spPr>
          <a:xfrm>
            <a:off x="925355" y="1772126"/>
            <a:ext cx="1792129" cy="1773555"/>
          </a:xfrm>
          <a:prstGeom prst="rect">
            <a:avLst/>
          </a:prstGeom>
        </p:spPr>
      </p:pic>
      <p:pic>
        <p:nvPicPr>
          <p:cNvPr id="5" name="图片 4" descr="P60712-152218"/>
          <p:cNvPicPr>
            <a:picLocks noChangeAspect="1"/>
          </p:cNvPicPr>
          <p:nvPr/>
        </p:nvPicPr>
        <p:blipFill>
          <a:blip r:embed="rId2" cstate="print"/>
          <a:srcRect l="7467" t="-1735" r="19479" b="1735"/>
          <a:stretch>
            <a:fillRect/>
          </a:stretch>
        </p:blipFill>
        <p:spPr>
          <a:xfrm>
            <a:off x="6512244" y="1727835"/>
            <a:ext cx="1770221" cy="1817846"/>
          </a:xfrm>
          <a:prstGeom prst="rect">
            <a:avLst/>
          </a:prstGeom>
        </p:spPr>
      </p:pic>
      <p:pic>
        <p:nvPicPr>
          <p:cNvPr id="6" name="图片 5" descr="P60712-152226"/>
          <p:cNvPicPr>
            <a:picLocks noChangeAspect="1"/>
          </p:cNvPicPr>
          <p:nvPr/>
        </p:nvPicPr>
        <p:blipFill>
          <a:blip r:embed="rId3" cstate="print"/>
          <a:srcRect l="18730" t="29063" r="16080" b="31542"/>
          <a:stretch>
            <a:fillRect/>
          </a:stretch>
        </p:blipFill>
        <p:spPr>
          <a:xfrm>
            <a:off x="2717483" y="1772128"/>
            <a:ext cx="2005965" cy="998696"/>
          </a:xfrm>
          <a:prstGeom prst="rect">
            <a:avLst/>
          </a:prstGeom>
        </p:spPr>
      </p:pic>
      <p:pic>
        <p:nvPicPr>
          <p:cNvPr id="7" name="图片 6" descr="P60712-152233"/>
          <p:cNvPicPr>
            <a:picLocks noChangeAspect="1"/>
          </p:cNvPicPr>
          <p:nvPr/>
        </p:nvPicPr>
        <p:blipFill>
          <a:blip r:embed="rId4" cstate="print"/>
          <a:srcRect l="20384" t="23331" r="19895" b="21643"/>
          <a:stretch>
            <a:fillRect/>
          </a:stretch>
        </p:blipFill>
        <p:spPr>
          <a:xfrm>
            <a:off x="4723448" y="1772126"/>
            <a:ext cx="1788795" cy="1230154"/>
          </a:xfrm>
          <a:prstGeom prst="rect">
            <a:avLst/>
          </a:prstGeom>
        </p:spPr>
      </p:pic>
      <p:sp>
        <p:nvSpPr>
          <p:cNvPr id="8" name="文本框 7"/>
          <p:cNvSpPr txBox="1"/>
          <p:nvPr/>
        </p:nvSpPr>
        <p:spPr>
          <a:xfrm>
            <a:off x="1390651" y="3978117"/>
            <a:ext cx="561690"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密封条</a:t>
            </a:r>
            <a:endParaRPr lang="zh-CN" altLang="en-US" sz="1100" dirty="0" smtClean="0">
              <a:ea typeface="微软雅黑" panose="020B0503020204020204" pitchFamily="34" charset="-122"/>
            </a:endParaRPr>
          </a:p>
        </p:txBody>
      </p:sp>
      <p:sp>
        <p:nvSpPr>
          <p:cNvPr id="9" name="文本框 8"/>
          <p:cNvSpPr txBox="1"/>
          <p:nvPr/>
        </p:nvSpPr>
        <p:spPr>
          <a:xfrm>
            <a:off x="3222785" y="3978117"/>
            <a:ext cx="811759"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长孔</a:t>
            </a:r>
            <a:r>
              <a:rPr lang="en-US" altLang="zh-CN" sz="1100" dirty="0" smtClean="0">
                <a:ea typeface="微软雅黑" panose="020B0503020204020204" pitchFamily="34" charset="-122"/>
              </a:rPr>
              <a:t>O</a:t>
            </a:r>
            <a:r>
              <a:rPr lang="zh-CN" altLang="en-US" sz="1100" dirty="0" smtClean="0">
                <a:ea typeface="微软雅黑" panose="020B0503020204020204" pitchFamily="34" charset="-122"/>
              </a:rPr>
              <a:t>型圈</a:t>
            </a:r>
            <a:endParaRPr lang="zh-CN" altLang="en-US" sz="1100" dirty="0" smtClean="0">
              <a:ea typeface="微软雅黑" panose="020B0503020204020204" pitchFamily="34" charset="-122"/>
            </a:endParaRPr>
          </a:p>
        </p:txBody>
      </p:sp>
      <p:sp>
        <p:nvSpPr>
          <p:cNvPr id="10" name="文本框 9"/>
          <p:cNvSpPr txBox="1"/>
          <p:nvPr/>
        </p:nvSpPr>
        <p:spPr>
          <a:xfrm>
            <a:off x="5343050" y="3978117"/>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堵头</a:t>
            </a:r>
            <a:endParaRPr lang="zh-CN" altLang="en-US" sz="1100" dirty="0" smtClean="0">
              <a:ea typeface="微软雅黑" panose="020B0503020204020204" pitchFamily="34" charset="-122"/>
            </a:endParaRPr>
          </a:p>
        </p:txBody>
      </p:sp>
      <p:sp>
        <p:nvSpPr>
          <p:cNvPr id="11" name="文本框 10"/>
          <p:cNvSpPr txBox="1"/>
          <p:nvPr/>
        </p:nvSpPr>
        <p:spPr>
          <a:xfrm>
            <a:off x="7245667" y="3978117"/>
            <a:ext cx="529630" cy="289308"/>
          </a:xfrm>
          <a:prstGeom prst="rect">
            <a:avLst/>
          </a:prstGeom>
          <a:noFill/>
        </p:spPr>
        <p:txBody>
          <a:bodyPr wrap="none" lIns="68579" tIns="34289" rIns="68579" bIns="34289" rtlCol="0">
            <a:spAutoFit/>
          </a:bodyPr>
          <a:lstStyle/>
          <a:p>
            <a:pPr>
              <a:lnSpc>
                <a:spcPct val="130000"/>
              </a:lnSpc>
            </a:pPr>
            <a:r>
              <a:rPr lang="en-US" altLang="zh-CN" sz="1100" dirty="0" smtClean="0">
                <a:ea typeface="微软雅黑" panose="020B0503020204020204" pitchFamily="34" charset="-122"/>
              </a:rPr>
              <a:t>O</a:t>
            </a:r>
            <a:r>
              <a:rPr lang="zh-CN" altLang="en-US" sz="1100" dirty="0" smtClean="0">
                <a:ea typeface="微软雅黑" panose="020B0503020204020204" pitchFamily="34" charset="-122"/>
              </a:rPr>
              <a:t>型圈</a:t>
            </a:r>
            <a:endParaRPr lang="zh-CN" altLang="en-US" sz="1100" dirty="0" smtClean="0">
              <a:ea typeface="微软雅黑" panose="020B0503020204020204" pitchFamily="34" charset="-122"/>
            </a:endParaRPr>
          </a:p>
        </p:txBody>
      </p:sp>
      <p:sp>
        <p:nvSpPr>
          <p:cNvPr id="12" name="灯片编号占位符 11"/>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05878" y="837964"/>
            <a:ext cx="8215313" cy="596503"/>
          </a:xfrm>
        </p:spPr>
        <p:txBody>
          <a:bodyPr>
            <a:normAutofit/>
          </a:bodyPr>
          <a:lstStyle/>
          <a:p>
            <a:r>
              <a:rPr lang="zh-CN" altLang="en-US">
                <a:latin typeface="楷体" panose="02010609060101010101" charset="-122"/>
                <a:ea typeface="楷体" panose="02010609060101010101" charset="-122"/>
                <a:sym typeface="+mn-ea"/>
              </a:rPr>
              <a:t>电动涡旋压缩机主要零部件介绍</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305877" y="1434466"/>
            <a:ext cx="7332345" cy="2814638"/>
          </a:xfrm>
        </p:spPr>
        <p:txBody>
          <a:bodyPr/>
          <a:lstStyle/>
          <a:p>
            <a:r>
              <a:rPr lang="en-US" altLang="zh-CN"/>
              <a:t>6</a:t>
            </a:r>
            <a:r>
              <a:t>、紧固件及其它配件</a:t>
            </a:r>
          </a:p>
        </p:txBody>
      </p:sp>
      <p:pic>
        <p:nvPicPr>
          <p:cNvPr id="4" name="图片 3" descr="P60712-152459-01"/>
          <p:cNvPicPr>
            <a:picLocks noChangeAspect="1"/>
          </p:cNvPicPr>
          <p:nvPr/>
        </p:nvPicPr>
        <p:blipFill>
          <a:blip r:embed="rId1" cstate="print"/>
          <a:srcRect l="12039" t="32846" r="15678" b="30921"/>
          <a:stretch>
            <a:fillRect/>
          </a:stretch>
        </p:blipFill>
        <p:spPr>
          <a:xfrm>
            <a:off x="2242185" y="1977391"/>
            <a:ext cx="2586514" cy="1728788"/>
          </a:xfrm>
          <a:prstGeom prst="rect">
            <a:avLst/>
          </a:prstGeom>
        </p:spPr>
      </p:pic>
      <p:pic>
        <p:nvPicPr>
          <p:cNvPr id="5" name="图片 4" descr="P60712-152508"/>
          <p:cNvPicPr>
            <a:picLocks noChangeAspect="1"/>
          </p:cNvPicPr>
          <p:nvPr/>
        </p:nvPicPr>
        <p:blipFill>
          <a:blip r:embed="rId2" cstate="print"/>
          <a:srcRect l="19945" t="32659" r="26304" b="26295"/>
          <a:stretch>
            <a:fillRect/>
          </a:stretch>
        </p:blipFill>
        <p:spPr>
          <a:xfrm>
            <a:off x="4828699" y="1997394"/>
            <a:ext cx="1654016" cy="1684496"/>
          </a:xfrm>
          <a:prstGeom prst="rect">
            <a:avLst/>
          </a:prstGeom>
        </p:spPr>
      </p:pic>
      <p:pic>
        <p:nvPicPr>
          <p:cNvPr id="6" name="图片 5" descr="P60712-152515"/>
          <p:cNvPicPr>
            <a:picLocks noChangeAspect="1"/>
          </p:cNvPicPr>
          <p:nvPr/>
        </p:nvPicPr>
        <p:blipFill>
          <a:blip r:embed="rId3" cstate="print"/>
          <a:srcRect l="25536" t="28911" r="19055" b="24379"/>
          <a:stretch>
            <a:fillRect/>
          </a:stretch>
        </p:blipFill>
        <p:spPr>
          <a:xfrm>
            <a:off x="741522" y="1995011"/>
            <a:ext cx="1500664" cy="1686878"/>
          </a:xfrm>
          <a:prstGeom prst="rect">
            <a:avLst/>
          </a:prstGeom>
        </p:spPr>
      </p:pic>
      <p:pic>
        <p:nvPicPr>
          <p:cNvPr id="7" name="图片 6" descr="P60712-152601"/>
          <p:cNvPicPr>
            <a:picLocks noChangeAspect="1"/>
          </p:cNvPicPr>
          <p:nvPr/>
        </p:nvPicPr>
        <p:blipFill>
          <a:blip r:embed="rId4" cstate="print"/>
          <a:srcRect l="20943" t="8592" r="21418" b="11808"/>
          <a:stretch>
            <a:fillRect/>
          </a:stretch>
        </p:blipFill>
        <p:spPr>
          <a:xfrm>
            <a:off x="6482716" y="1831181"/>
            <a:ext cx="1951196" cy="2021205"/>
          </a:xfrm>
          <a:prstGeom prst="rect">
            <a:avLst/>
          </a:prstGeom>
        </p:spPr>
      </p:pic>
      <p:sp>
        <p:nvSpPr>
          <p:cNvPr id="8" name="文本框 7"/>
          <p:cNvSpPr txBox="1"/>
          <p:nvPr/>
        </p:nvSpPr>
        <p:spPr>
          <a:xfrm>
            <a:off x="1139191" y="4110514"/>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挡圈</a:t>
            </a:r>
            <a:endParaRPr lang="zh-CN" altLang="en-US" sz="1100" dirty="0" smtClean="0">
              <a:ea typeface="微软雅黑" panose="020B0503020204020204" pitchFamily="34" charset="-122"/>
            </a:endParaRPr>
          </a:p>
        </p:txBody>
      </p:sp>
      <p:sp>
        <p:nvSpPr>
          <p:cNvPr id="9" name="文本框 8"/>
          <p:cNvSpPr txBox="1"/>
          <p:nvPr/>
        </p:nvSpPr>
        <p:spPr>
          <a:xfrm>
            <a:off x="3122296" y="4110514"/>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螺栓</a:t>
            </a:r>
            <a:endParaRPr lang="zh-CN" altLang="en-US" sz="1100" dirty="0" smtClean="0">
              <a:ea typeface="微软雅黑" panose="020B0503020204020204" pitchFamily="34" charset="-122"/>
            </a:endParaRPr>
          </a:p>
        </p:txBody>
      </p:sp>
      <p:sp>
        <p:nvSpPr>
          <p:cNvPr id="10" name="文本框 9"/>
          <p:cNvSpPr txBox="1"/>
          <p:nvPr/>
        </p:nvSpPr>
        <p:spPr>
          <a:xfrm>
            <a:off x="5356861" y="4110514"/>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螺钉</a:t>
            </a:r>
            <a:endParaRPr lang="zh-CN" altLang="en-US" sz="1100" dirty="0" smtClean="0">
              <a:ea typeface="微软雅黑" panose="020B0503020204020204" pitchFamily="34" charset="-122"/>
            </a:endParaRPr>
          </a:p>
        </p:txBody>
      </p:sp>
      <p:sp>
        <p:nvSpPr>
          <p:cNvPr id="11" name="文本框 10"/>
          <p:cNvSpPr txBox="1"/>
          <p:nvPr/>
        </p:nvSpPr>
        <p:spPr>
          <a:xfrm>
            <a:off x="7256622" y="4110514"/>
            <a:ext cx="420626" cy="289308"/>
          </a:xfrm>
          <a:prstGeom prst="rect">
            <a:avLst/>
          </a:prstGeom>
          <a:noFill/>
        </p:spPr>
        <p:txBody>
          <a:bodyPr wrap="none" lIns="68579" tIns="34289" rIns="68579" bIns="34289" rtlCol="0">
            <a:spAutoFit/>
          </a:bodyPr>
          <a:lstStyle/>
          <a:p>
            <a:pPr>
              <a:lnSpc>
                <a:spcPct val="130000"/>
              </a:lnSpc>
            </a:pPr>
            <a:r>
              <a:rPr lang="zh-CN" altLang="en-US" sz="1100" dirty="0" smtClean="0">
                <a:ea typeface="微软雅黑" panose="020B0503020204020204" pitchFamily="34" charset="-122"/>
              </a:rPr>
              <a:t>垫片</a:t>
            </a:r>
            <a:endParaRPr lang="zh-CN" altLang="en-US" sz="1100" dirty="0" smtClean="0">
              <a:ea typeface="微软雅黑" panose="020B0503020204020204" pitchFamily="34" charset="-122"/>
            </a:endParaRPr>
          </a:p>
        </p:txBody>
      </p:sp>
      <p:sp>
        <p:nvSpPr>
          <p:cNvPr id="12" name="灯片编号占位符 11"/>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8068" y="553642"/>
            <a:ext cx="8215313" cy="596503"/>
          </a:xfrm>
        </p:spPr>
        <p:txBody>
          <a:bodyPr/>
          <a:lstStyle/>
          <a:p>
            <a:r>
              <a:rPr lang="zh-CN" altLang="en-US">
                <a:latin typeface="楷体" panose="02010609060101010101" charset="-122"/>
                <a:ea typeface="楷体" panose="02010609060101010101" charset="-122"/>
              </a:rPr>
              <a:t>电动涡旋压缩机装配工艺注意事项</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048385" y="1149985"/>
            <a:ext cx="7332345" cy="3803650"/>
          </a:xfrm>
        </p:spPr>
        <p:txBody>
          <a:bodyPr>
            <a:normAutofit fontScale="87500"/>
          </a:bodyPr>
          <a:lstStyle/>
          <a:p>
            <a:r>
              <a:rPr lang="en-US" altLang="zh-CN">
                <a:latin typeface="楷体" panose="02010609060101010101" charset="-122"/>
                <a:ea typeface="楷体" panose="02010609060101010101" charset="-122"/>
              </a:rPr>
              <a:t>1</a:t>
            </a:r>
            <a:r>
              <a:rPr>
                <a:latin typeface="楷体" panose="02010609060101010101" charset="-122"/>
                <a:ea typeface="楷体" panose="02010609060101010101" charset="-122"/>
              </a:rPr>
              <a:t>、清洁度</a:t>
            </a:r>
            <a:endParaRPr>
              <a:latin typeface="楷体" panose="02010609060101010101" charset="-122"/>
              <a:ea typeface="楷体" panose="02010609060101010101" charset="-122"/>
            </a:endParaRPr>
          </a:p>
          <a:p>
            <a:pPr>
              <a:lnSpc>
                <a:spcPct val="120000"/>
              </a:lnSpc>
            </a:pPr>
            <a:r>
              <a:rPr b="0">
                <a:latin typeface="楷体" panose="02010609060101010101" charset="-122"/>
                <a:ea typeface="楷体" panose="02010609060101010101" charset="-122"/>
              </a:rPr>
              <a:t>       清洁度是指零件、总成和整机被杂质污染的程度。用规定的方法从规定的特征部位采集到杂质微粒的质量、大小和数量来表示。这里所说的“规定部位”是指危及产品可靠性的特征部位。这里说的“杂质”，包括产品设计制造运输使用和维修过程中，本身残留的、外界混入的和系统生成的全部杂质。</a:t>
            </a:r>
            <a:endParaRPr b="0">
              <a:latin typeface="楷体" panose="02010609060101010101" charset="-122"/>
              <a:ea typeface="楷体" panose="02010609060101010101" charset="-122"/>
            </a:endParaRPr>
          </a:p>
          <a:p>
            <a:pPr>
              <a:lnSpc>
                <a:spcPct val="120000"/>
              </a:lnSpc>
            </a:pPr>
            <a:r>
              <a:rPr b="0">
                <a:latin typeface="楷体" panose="02010609060101010101" charset="-122"/>
                <a:ea typeface="楷体" panose="02010609060101010101" charset="-122"/>
              </a:rPr>
              <a:t>       保证清洁度的目的是使产品达到规定的寿命，不使产品在制造、使用、维修过程中因污染而缩短使用寿命。</a:t>
            </a:r>
            <a:endParaRPr b="0">
              <a:latin typeface="楷体" panose="02010609060101010101" charset="-122"/>
              <a:ea typeface="楷体" panose="02010609060101010101" charset="-122"/>
            </a:endParaRPr>
          </a:p>
          <a:p>
            <a:pPr>
              <a:lnSpc>
                <a:spcPct val="120000"/>
              </a:lnSpc>
            </a:pPr>
            <a:r>
              <a:rPr b="0">
                <a:latin typeface="楷体" panose="02010609060101010101" charset="-122"/>
                <a:ea typeface="楷体" panose="02010609060101010101" charset="-122"/>
              </a:rPr>
              <a:t>　　通过清洁度检测并规定其限值，方可大大减轻颗粒磨损造成的损害，提高整机运行寿命和可靠性；防止和减少零部件的杂质对整机的危害；回路中由于沉淀物造成流量的减小；摩擦付由于沉积物造成工作不良等</a:t>
            </a:r>
            <a:r>
              <a:rPr b="0">
                <a:latin typeface="楷体" panose="02010609060101010101" charset="-122"/>
                <a:ea typeface="楷体" panose="02010609060101010101" charset="-122"/>
                <a:sym typeface="+mn-ea"/>
              </a:rPr>
              <a:t>损伤或腐蚀</a:t>
            </a:r>
            <a:r>
              <a:rPr b="0">
                <a:latin typeface="楷体" panose="02010609060101010101" charset="-122"/>
                <a:ea typeface="楷体" panose="02010609060101010101" charset="-122"/>
              </a:rPr>
              <a:t>；密封材料、隔膜的异常磨损与报损，具有特别重要的意义。</a:t>
            </a:r>
            <a:endParaRPr b="0">
              <a:latin typeface="楷体" panose="02010609060101010101" charset="-122"/>
              <a:ea typeface="楷体" panose="02010609060101010101" charset="-122"/>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1718" y="556817"/>
            <a:ext cx="8215313" cy="596503"/>
          </a:xfrm>
        </p:spPr>
        <p:txBody>
          <a:bodyPr/>
          <a:lstStyle/>
          <a:p>
            <a:r>
              <a:rPr lang="zh-CN" altLang="en-US">
                <a:latin typeface="楷体" panose="02010609060101010101" charset="-122"/>
                <a:ea typeface="楷体" panose="02010609060101010101" charset="-122"/>
              </a:rPr>
              <a:t>压缩机内部常见杂质</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041718" y="954565"/>
            <a:ext cx="7332345" cy="3560445"/>
          </a:xfrm>
        </p:spPr>
        <p:txBody>
          <a:bodyPr>
            <a:normAutofit lnSpcReduction="20000"/>
          </a:bodyPr>
          <a:lstStyle/>
          <a:p>
            <a:r>
              <a:rPr lang="zh-CN" altLang="en-US"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金属碎屑</a:t>
            </a:r>
            <a:endParaRPr lang="zh-CN" altLang="en-US"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主要来自机加工残留的铝屑、铁屑及抛丸后残留钢丸。</a:t>
            </a:r>
            <a:endParaRPr lang="zh-CN" altLang="en-US" sz="1600" b="0" dirty="0">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预防措施：加工完成后清除毛刺、锐边，</a:t>
            </a:r>
            <a:endParaRPr lang="zh-CN" altLang="en-US" sz="1600" b="0" dirty="0">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                  装机前清洗零部件。</a:t>
            </a:r>
            <a:endParaRPr lang="zh-CN" altLang="en-US" sz="1600" b="0" dirty="0">
              <a:latin typeface="楷体" panose="02010609060101010101" charset="-122"/>
              <a:ea typeface="楷体" panose="02010609060101010101" charset="-122"/>
            </a:endParaRPr>
          </a:p>
          <a:p>
            <a:r>
              <a:rPr lang="zh-CN" altLang="en-US"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环境粉尘</a:t>
            </a:r>
            <a:endParaRPr lang="zh-CN" altLang="en-US"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主要来自环境中的粉尘、颗粒。</a:t>
            </a:r>
            <a:endParaRPr lang="zh-CN" altLang="en-US" sz="1600" b="0" dirty="0">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预防措施：装机前清洗零部件。</a:t>
            </a:r>
            <a:endParaRPr lang="zh-CN" altLang="en-US" sz="1600" b="0" dirty="0">
              <a:latin typeface="楷体" panose="02010609060101010101" charset="-122"/>
              <a:ea typeface="楷体" panose="02010609060101010101" charset="-122"/>
            </a:endParaRPr>
          </a:p>
          <a:p>
            <a:r>
              <a:rPr lang="zh-CN" altLang="en-US"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除冷冻油外的其余油类</a:t>
            </a:r>
            <a:endParaRPr lang="zh-CN" altLang="en-US"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主要来自零部件防锈油。</a:t>
            </a:r>
            <a:endParaRPr lang="zh-CN" altLang="en-US" sz="1600" b="0" dirty="0">
              <a:latin typeface="楷体" panose="02010609060101010101" charset="-122"/>
              <a:ea typeface="楷体" panose="02010609060101010101" charset="-122"/>
            </a:endParaRPr>
          </a:p>
          <a:p>
            <a:r>
              <a:rPr lang="zh-CN" altLang="en-US" sz="1600" b="0" dirty="0">
                <a:latin typeface="楷体" panose="02010609060101010101" charset="-122"/>
                <a:ea typeface="楷体" panose="02010609060101010101" charset="-122"/>
              </a:rPr>
              <a:t>预防措施：</a:t>
            </a:r>
            <a:r>
              <a:rPr sz="1600" b="0" dirty="0" err="1">
                <a:latin typeface="楷体" panose="02010609060101010101" charset="-122"/>
                <a:ea typeface="楷体" panose="02010609060101010101" charset="-122"/>
                <a:sym typeface="+mn-ea"/>
              </a:rPr>
              <a:t>装机前清洗零部件</a:t>
            </a:r>
            <a:r>
              <a:rPr sz="1600" b="0" dirty="0">
                <a:latin typeface="楷体" panose="02010609060101010101" charset="-122"/>
                <a:ea typeface="楷体" panose="02010609060101010101" charset="-122"/>
                <a:sym typeface="+mn-ea"/>
              </a:rPr>
              <a:t>。</a:t>
            </a:r>
            <a:endParaRPr lang="zh-CN" altLang="en-US" sz="1600" b="0" dirty="0">
              <a:latin typeface="楷体" panose="02010609060101010101" charset="-122"/>
              <a:ea typeface="楷体" panose="02010609060101010101" charset="-122"/>
            </a:endParaRPr>
          </a:p>
          <a:p>
            <a:pPr marL="0" indent="0">
              <a:buNone/>
            </a:pPr>
            <a:endParaRPr lang="zh-CN" altLang="en-US" sz="1600" b="0" dirty="0">
              <a:latin typeface="楷体" panose="02010609060101010101" charset="-122"/>
              <a:ea typeface="楷体" panose="02010609060101010101" charset="-122"/>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8068" y="540942"/>
            <a:ext cx="8215313" cy="596503"/>
          </a:xfrm>
        </p:spPr>
        <p:txBody>
          <a:bodyPr>
            <a:normAutofit/>
          </a:bodyPr>
          <a:lstStyle/>
          <a:p>
            <a:r>
              <a:rPr lang="zh-CN" altLang="en-US">
                <a:latin typeface="楷体" panose="02010609060101010101" charset="-122"/>
                <a:ea typeface="楷体" panose="02010609060101010101" charset="-122"/>
                <a:sym typeface="+mn-ea"/>
              </a:rPr>
              <a:t>电动涡旋压缩机装配工艺注意事项</a:t>
            </a:r>
            <a:endParaRPr lang="zh-CN" altLang="en-US">
              <a:latin typeface="楷体" panose="02010609060101010101" charset="-122"/>
              <a:ea typeface="楷体" panose="02010609060101010101" charset="-122"/>
            </a:endParaRPr>
          </a:p>
        </p:txBody>
      </p:sp>
      <p:sp>
        <p:nvSpPr>
          <p:cNvPr id="3" name="内容占位符 2"/>
          <p:cNvSpPr>
            <a:spLocks noGrp="1"/>
          </p:cNvSpPr>
          <p:nvPr>
            <p:ph idx="1"/>
          </p:nvPr>
        </p:nvSpPr>
        <p:spPr>
          <a:xfrm>
            <a:off x="1048385" y="1137285"/>
            <a:ext cx="7332345" cy="3282950"/>
          </a:xfrm>
        </p:spPr>
        <p:txBody>
          <a:bodyPr/>
          <a:lstStyle/>
          <a:p>
            <a:r>
              <a:rPr lang="en-US" altLang="zh-CN" dirty="0">
                <a:latin typeface="楷体" panose="02010609060101010101" charset="-122"/>
                <a:ea typeface="楷体" panose="02010609060101010101" charset="-122"/>
              </a:rPr>
              <a:t>2</a:t>
            </a:r>
            <a:r>
              <a:rPr dirty="0">
                <a:latin typeface="楷体" panose="02010609060101010101" charset="-122"/>
                <a:ea typeface="楷体" panose="02010609060101010101" charset="-122"/>
              </a:rPr>
              <a:t>、压缩机的</a:t>
            </a:r>
            <a:r>
              <a:rPr lang="zh-CN" altLang="en-US" dirty="0">
                <a:latin typeface="楷体" panose="02010609060101010101" charset="-122"/>
                <a:ea typeface="楷体" panose="02010609060101010101" charset="-122"/>
              </a:rPr>
              <a:t>润滑</a:t>
            </a:r>
            <a:endParaRPr lang="zh-CN" altLang="en-US" dirty="0">
              <a:latin typeface="楷体" panose="02010609060101010101" charset="-122"/>
              <a:ea typeface="楷体" panose="02010609060101010101" charset="-122"/>
            </a:endParaRPr>
          </a:p>
          <a:p>
            <a:pPr>
              <a:lnSpc>
                <a:spcPct val="150000"/>
              </a:lnSpc>
            </a:pPr>
            <a:r>
              <a:rPr lang="zh-CN" altLang="en-US" sz="1400" b="0" dirty="0">
                <a:latin typeface="楷体" panose="02010609060101010101" charset="-122"/>
                <a:ea typeface="楷体" panose="02010609060101010101" charset="-122"/>
              </a:rPr>
              <a:t>      润滑的定义： 把一种具有润滑性能的物质, 加到压缩机机体摩擦副上,使摩擦副脱离直接接触, 达到降低摩擦和减少磨损的手段称为润滑 。</a:t>
            </a:r>
            <a:endParaRPr lang="zh-CN" altLang="en-US" sz="1400" b="0" dirty="0">
              <a:latin typeface="楷体" panose="02010609060101010101" charset="-122"/>
              <a:ea typeface="楷体" panose="02010609060101010101" charset="-122"/>
            </a:endParaRPr>
          </a:p>
          <a:p>
            <a:pPr>
              <a:lnSpc>
                <a:spcPct val="150000"/>
              </a:lnSpc>
            </a:pPr>
            <a:r>
              <a:rPr lang="zh-CN" altLang="en-US" sz="1400" b="0" dirty="0">
                <a:latin typeface="楷体" panose="02010609060101010101" charset="-122"/>
                <a:ea typeface="楷体" panose="02010609060101010101" charset="-122"/>
              </a:rPr>
              <a:t>      润滑油能够牢固地附在机件摩擦副上,形成一层油膜,这种油膜和机件的摩擦面接合力很强, 两个摩擦面被润滑剂分开,使机件间的摩擦变为润滑剂本身分子间的摩擦,从而起到減少摩擦降低磨损的作用</a:t>
            </a:r>
            <a:endParaRPr lang="zh-CN" altLang="en-US" sz="1400" b="0" dirty="0">
              <a:latin typeface="楷体" panose="02010609060101010101" charset="-122"/>
              <a:ea typeface="楷体" panose="02010609060101010101" charset="-122"/>
            </a:endParaRPr>
          </a:p>
          <a:p>
            <a:pPr>
              <a:lnSpc>
                <a:spcPct val="150000"/>
              </a:lnSpc>
            </a:pPr>
            <a:r>
              <a:rPr lang="zh-CN" altLang="en-US" sz="1400" b="0" dirty="0">
                <a:latin typeface="楷体" panose="02010609060101010101" charset="-122"/>
                <a:ea typeface="楷体" panose="02010609060101010101" charset="-122"/>
              </a:rPr>
              <a:t>主要润滑部位：轴承的润滑、十字滑环摩擦副润滑、轴承垫润滑、动静涡旋盘间的润滑</a:t>
            </a:r>
            <a:endParaRPr lang="zh-CN" altLang="en-US" sz="1400" b="0" dirty="0">
              <a:latin typeface="楷体" panose="02010609060101010101" charset="-122"/>
              <a:ea typeface="楷体" panose="02010609060101010101" charset="-122"/>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1718" y="546181"/>
            <a:ext cx="8215313" cy="596503"/>
          </a:xfrm>
        </p:spPr>
        <p:txBody>
          <a:bodyPr>
            <a:normAutofit/>
          </a:bodyPr>
          <a:lstStyle/>
          <a:p>
            <a:r>
              <a:rPr lang="zh-CN" altLang="en-US">
                <a:latin typeface="楷体" panose="02010609060101010101" charset="-122"/>
                <a:ea typeface="楷体" panose="02010609060101010101" charset="-122"/>
                <a:sym typeface="+mn-ea"/>
              </a:rPr>
              <a:t>电动涡旋压缩机装配工艺注意事项</a:t>
            </a:r>
            <a:endParaRPr lang="zh-CN" altLang="en-US"/>
          </a:p>
        </p:txBody>
      </p:sp>
      <p:sp>
        <p:nvSpPr>
          <p:cNvPr id="3" name="内容占位符 2"/>
          <p:cNvSpPr>
            <a:spLocks noGrp="1"/>
          </p:cNvSpPr>
          <p:nvPr>
            <p:ph idx="1"/>
          </p:nvPr>
        </p:nvSpPr>
        <p:spPr>
          <a:xfrm>
            <a:off x="1042035" y="1142365"/>
            <a:ext cx="7332345" cy="3380105"/>
          </a:xfrm>
        </p:spPr>
        <p:txBody>
          <a:bodyPr>
            <a:noAutofit/>
          </a:bodyPr>
          <a:lstStyle/>
          <a:p>
            <a:r>
              <a:rPr lang="en-US" altLang="zh-CN" sz="1700" dirty="0">
                <a:latin typeface="楷体" panose="02010609060101010101" charset="-122"/>
                <a:ea typeface="楷体" panose="02010609060101010101" charset="-122"/>
              </a:rPr>
              <a:t>3</a:t>
            </a:r>
            <a:r>
              <a:rPr sz="1700" dirty="0">
                <a:latin typeface="楷体" panose="02010609060101010101" charset="-122"/>
                <a:ea typeface="楷体" panose="02010609060101010101" charset="-122"/>
              </a:rPr>
              <a:t>、</a:t>
            </a:r>
            <a:r>
              <a:rPr lang="zh-CN" altLang="en-US" sz="1700" dirty="0">
                <a:latin typeface="楷体" panose="02010609060101010101" charset="-122"/>
                <a:ea typeface="楷体" panose="02010609060101010101" charset="-122"/>
              </a:rPr>
              <a:t>压缩机装配要求</a:t>
            </a:r>
            <a:endParaRPr lang="zh-CN" altLang="en-US" sz="1700" dirty="0">
              <a:latin typeface="楷体" panose="02010609060101010101" charset="-122"/>
              <a:ea typeface="楷体" panose="02010609060101010101" charset="-122"/>
            </a:endParaRPr>
          </a:p>
          <a:p>
            <a:pPr>
              <a:lnSpc>
                <a:spcPct val="160000"/>
              </a:lnSpc>
            </a:pPr>
            <a:r>
              <a:rPr lang="zh-CN" altLang="en-US" sz="1700" dirty="0">
                <a:latin typeface="楷体" panose="02010609060101010101" charset="-122"/>
                <a:ea typeface="楷体" panose="02010609060101010101" charset="-122"/>
              </a:rPr>
              <a:t>    </a:t>
            </a:r>
            <a:r>
              <a:rPr lang="zh-CN" altLang="en-US" sz="1400" b="0" dirty="0">
                <a:latin typeface="楷体" panose="02010609060101010101" charset="-122"/>
                <a:ea typeface="楷体" panose="02010609060101010101" charset="-122"/>
              </a:rPr>
              <a:t> </a:t>
            </a:r>
            <a:r>
              <a:rPr sz="1400" b="0">
                <a:latin typeface="楷体" panose="02010609060101010101" charset="-122"/>
                <a:ea typeface="楷体" panose="02010609060101010101" charset="-122"/>
                <a:sym typeface="+mn-ea"/>
              </a:rPr>
              <a:t>压缩机</a:t>
            </a:r>
            <a:r>
              <a:rPr lang="zh-CN" altLang="en-US" sz="1400" b="0" dirty="0">
                <a:latin typeface="楷体" panose="02010609060101010101" charset="-122"/>
                <a:ea typeface="楷体" panose="02010609060101010101" charset="-122"/>
              </a:rPr>
              <a:t>装配是</a:t>
            </a:r>
            <a:r>
              <a:rPr sz="1400" b="0">
                <a:latin typeface="楷体" panose="02010609060101010101" charset="-122"/>
                <a:ea typeface="楷体" panose="02010609060101010101" charset="-122"/>
                <a:sym typeface="+mn-ea"/>
              </a:rPr>
              <a:t>压缩机</a:t>
            </a:r>
            <a:r>
              <a:rPr lang="zh-CN" altLang="en-US" sz="1400" b="0" dirty="0">
                <a:latin typeface="楷体" panose="02010609060101010101" charset="-122"/>
                <a:ea typeface="楷体" panose="02010609060101010101" charset="-122"/>
              </a:rPr>
              <a:t>制造中最后决定</a:t>
            </a:r>
            <a:r>
              <a:rPr sz="1400" b="0">
                <a:latin typeface="楷体" panose="02010609060101010101" charset="-122"/>
                <a:ea typeface="楷体" panose="02010609060101010101" charset="-122"/>
                <a:sym typeface="+mn-ea"/>
              </a:rPr>
              <a:t>压缩机</a:t>
            </a:r>
            <a:r>
              <a:rPr lang="zh-CN" altLang="en-US" sz="1400" b="0" dirty="0">
                <a:latin typeface="楷体" panose="02010609060101010101" charset="-122"/>
                <a:ea typeface="楷体" panose="02010609060101010101" charset="-122"/>
              </a:rPr>
              <a:t>产品质量的重要工艺过程。即使是全部合格的零件，如果装配不当，往往也不能形成质量合格的产品。简单的产品可由零件直接装配而成。复杂的产品则须先将若干零件装配成部件，称为部件装配；然后将若干部件和另外一些零件装配成完整的产品，称为总装配。产品装配完成后需要进行各种检验和试验，以保证其装配质量和使用性能；有些重要的部件装配完成后还要进行测试。</a:t>
            </a:r>
            <a:endParaRPr lang="zh-CN" altLang="en-US" sz="1400" b="0" dirty="0">
              <a:latin typeface="楷体" panose="02010609060101010101" charset="-122"/>
              <a:ea typeface="楷体" panose="02010609060101010101" charset="-122"/>
            </a:endParaRPr>
          </a:p>
          <a:p>
            <a:pPr>
              <a:lnSpc>
                <a:spcPct val="160000"/>
              </a:lnSpc>
            </a:pPr>
            <a:endParaRPr lang="zh-CN" altLang="en-US" sz="1400" b="0" dirty="0">
              <a:latin typeface="楷体" panose="02010609060101010101" charset="-122"/>
              <a:ea typeface="楷体" panose="02010609060101010101" charset="-122"/>
            </a:endParaRPr>
          </a:p>
          <a:p>
            <a:pPr>
              <a:lnSpc>
                <a:spcPct val="160000"/>
              </a:lnSpc>
            </a:pPr>
            <a:r>
              <a:rPr sz="1400" b="0" dirty="0">
                <a:latin typeface="楷体" panose="02010609060101010101" charset="-122"/>
                <a:ea typeface="楷体" panose="02010609060101010101" charset="-122"/>
                <a:sym typeface="+mn-ea"/>
              </a:rPr>
              <a:t>根据产品的装配要求和生产批量,零件的装配有修配、调整、互换和选配4种配合方法。</a:t>
            </a:r>
            <a:endParaRPr lang="zh-CN" altLang="en-US" sz="1400" b="0" dirty="0">
              <a:latin typeface="楷体" panose="02010609060101010101" charset="-122"/>
              <a:ea typeface="楷体" panose="02010609060101010101" charset="-122"/>
              <a:sym typeface="+mn-ea"/>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989330" y="537845"/>
            <a:ext cx="7726045" cy="4443095"/>
          </a:xfrm>
        </p:spPr>
        <p:txBody>
          <a:bodyPr>
            <a:noAutofit/>
          </a:bodyPr>
          <a:lstStyle/>
          <a:p>
            <a:r>
              <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修配法</a:t>
            </a:r>
            <a:endPar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400" b="0" dirty="0">
                <a:latin typeface="楷体" panose="02010609060101010101" charset="-122"/>
                <a:ea typeface="楷体" panose="02010609060101010101" charset="-122"/>
              </a:rPr>
              <a:t>装配中应用锉、磨和刮削等工艺方法改变个别零件的尺寸、形状和位置，使配合达到规定的精度，装配效率低，适用于单件小批生产，在大型、重型和精密机械装配中应用较多。修配法依靠手工操作，要求装配工人具有较高的技术水平和熟练程度。</a:t>
            </a:r>
            <a:endParaRPr lang="zh-CN" altLang="en-US" sz="1400" b="0" dirty="0">
              <a:latin typeface="楷体" panose="02010609060101010101" charset="-122"/>
              <a:ea typeface="楷体" panose="02010609060101010101" charset="-122"/>
            </a:endParaRPr>
          </a:p>
          <a:p>
            <a:r>
              <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调整法</a:t>
            </a:r>
            <a:endPar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400" b="0" dirty="0">
                <a:latin typeface="楷体" panose="02010609060101010101" charset="-122"/>
                <a:ea typeface="楷体" panose="02010609060101010101" charset="-122"/>
              </a:rPr>
              <a:t>装配中调整个别零件的位置或加入补偿件，以达到装配精度。常用的调整件有螺纹件、斜面件和偏心件等；补偿件有垫片和定位圈等。这种方法适用于单件和中小批生产的结构较复杂的产品，成批生产中也少量应用。</a:t>
            </a:r>
            <a:endParaRPr lang="zh-CN" altLang="en-US" sz="1400" b="0" dirty="0">
              <a:latin typeface="楷体" panose="02010609060101010101" charset="-122"/>
              <a:ea typeface="楷体" panose="02010609060101010101" charset="-122"/>
            </a:endParaRPr>
          </a:p>
          <a:p>
            <a:r>
              <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互换法</a:t>
            </a:r>
            <a:endPar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400" b="0" dirty="0">
                <a:latin typeface="楷体" panose="02010609060101010101" charset="-122"/>
                <a:ea typeface="楷体" panose="02010609060101010101" charset="-122"/>
              </a:rPr>
              <a:t>所装配的同一种零件能互换装入，装配时可以不加选择，不进行调整和修配。这类零件的加工公差要求严格，它与配合件公差之和应符合装配精度要求。这种配合方法主要适用于生产批量大的产品。</a:t>
            </a:r>
            <a:endParaRPr lang="zh-CN" altLang="en-US" sz="1400" b="0" dirty="0">
              <a:latin typeface="楷体" panose="02010609060101010101" charset="-122"/>
              <a:ea typeface="楷体" panose="02010609060101010101" charset="-122"/>
            </a:endParaRPr>
          </a:p>
          <a:p>
            <a:r>
              <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rPr>
              <a:t>选配法</a:t>
            </a:r>
            <a:endParaRPr lang="zh-CN" altLang="en-US" sz="1400" dirty="0">
              <a:ln/>
              <a:solidFill>
                <a:schemeClr val="accent1"/>
              </a:solidFill>
              <a:effectLst>
                <a:outerShdw blurRad="38100" dist="25400" dir="5400000" algn="ctr" rotWithShape="0">
                  <a:srgbClr val="6E747A">
                    <a:alpha val="43000"/>
                  </a:srgbClr>
                </a:outerShdw>
              </a:effectLst>
              <a:latin typeface="楷体" panose="02010609060101010101" charset="-122"/>
              <a:ea typeface="楷体" panose="02010609060101010101" charset="-122"/>
            </a:endParaRPr>
          </a:p>
          <a:p>
            <a:r>
              <a:rPr lang="zh-CN" altLang="en-US" sz="1400" b="0" dirty="0">
                <a:latin typeface="楷体" panose="02010609060101010101" charset="-122"/>
                <a:ea typeface="楷体" panose="02010609060101010101" charset="-122"/>
              </a:rPr>
              <a:t>对于成批、大量生产的高精度部件如滚动轴承等，为了提高加工经济性，通常将精度高的零件的加工公差放宽,然后按照实际尺寸的大小分成若干组,使各对应的组内相互配合的零件仍能按配合要求实现互换装配。</a:t>
            </a:r>
            <a:endParaRPr lang="zh-CN" altLang="en-US" sz="1400" b="0" dirty="0">
              <a:latin typeface="楷体" panose="02010609060101010101" charset="-122"/>
              <a:ea typeface="楷体" panose="02010609060101010101" charset="-122"/>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038066" y="560388"/>
            <a:ext cx="7332345" cy="4161473"/>
          </a:xfrm>
        </p:spPr>
        <p:txBody>
          <a:bodyPr>
            <a:noAutofit/>
          </a:bodyPr>
          <a:lstStyle/>
          <a:p>
            <a:pPr>
              <a:lnSpc>
                <a:spcPct val="90000"/>
              </a:lnSpc>
            </a:pPr>
            <a:r>
              <a:rPr lang="zh-CN" altLang="en-US" sz="1600" b="0">
                <a:latin typeface="楷体" panose="02010609060101010101" charset="-122"/>
                <a:ea typeface="楷体" panose="02010609060101010101" charset="-122"/>
              </a:rPr>
              <a:t>分组选配法：</a:t>
            </a:r>
            <a:endParaRPr lang="zh-CN" altLang="en-US" sz="1600" b="0">
              <a:latin typeface="楷体" panose="02010609060101010101" charset="-122"/>
              <a:ea typeface="楷体" panose="02010609060101010101" charset="-122"/>
            </a:endParaRPr>
          </a:p>
          <a:p>
            <a:pPr>
              <a:lnSpc>
                <a:spcPct val="90000"/>
              </a:lnSpc>
            </a:pPr>
            <a:r>
              <a:rPr lang="zh-CN" altLang="en-US" sz="1600" b="0">
                <a:latin typeface="楷体" panose="02010609060101010101" charset="-122"/>
                <a:ea typeface="楷体" panose="02010609060101010101" charset="-122"/>
              </a:rPr>
              <a:t>（1）定义：将各组成环的公差相对完全互换法所求数值放大数倍，使其能按经济精度加工，再按实际测量尺寸将零件分组，按对应的组分别进行装配，以达到装配精度要求的选择装配法，称为分组选配法。</a:t>
            </a:r>
            <a:endParaRPr lang="zh-CN" altLang="en-US" sz="1600" b="0">
              <a:latin typeface="楷体" panose="02010609060101010101" charset="-122"/>
              <a:ea typeface="楷体" panose="02010609060101010101" charset="-122"/>
            </a:endParaRPr>
          </a:p>
          <a:p>
            <a:pPr>
              <a:lnSpc>
                <a:spcPct val="90000"/>
              </a:lnSpc>
            </a:pPr>
            <a:r>
              <a:rPr lang="zh-CN" altLang="en-US" sz="1600" b="0">
                <a:latin typeface="楷体" panose="02010609060101010101" charset="-122"/>
                <a:ea typeface="楷体" panose="02010609060101010101" charset="-122"/>
              </a:rPr>
              <a:t>（2）应用：在大批大量生产中，装配那些精度要求特别高同时又不便于采用调整装置的部件，若用互换装配法装配，组成环的制造公差过小，加工很困难或很不经济，此时可以采用分组选配法装配。</a:t>
            </a:r>
            <a:endParaRPr lang="zh-CN" altLang="en-US" sz="1600" b="0">
              <a:latin typeface="楷体" panose="02010609060101010101" charset="-122"/>
              <a:ea typeface="楷体" panose="02010609060101010101" charset="-122"/>
            </a:endParaRPr>
          </a:p>
          <a:p>
            <a:pPr>
              <a:lnSpc>
                <a:spcPct val="90000"/>
              </a:lnSpc>
            </a:pPr>
            <a:r>
              <a:rPr lang="zh-CN" altLang="en-US" sz="1600" b="0">
                <a:latin typeface="楷体" panose="02010609060101010101" charset="-122"/>
                <a:ea typeface="楷体" panose="02010609060101010101" charset="-122"/>
              </a:rPr>
              <a:t>（3）一般要求：</a:t>
            </a:r>
            <a:endParaRPr lang="zh-CN" altLang="en-US" sz="1600" b="0">
              <a:latin typeface="楷体" panose="02010609060101010101" charset="-122"/>
              <a:ea typeface="楷体" panose="02010609060101010101" charset="-122"/>
            </a:endParaRPr>
          </a:p>
          <a:p>
            <a:pPr>
              <a:lnSpc>
                <a:spcPct val="90000"/>
              </a:lnSpc>
            </a:pPr>
            <a:r>
              <a:rPr lang="zh-CN" altLang="en-US" sz="1600" b="0">
                <a:latin typeface="楷体" panose="02010609060101010101" charset="-122"/>
                <a:ea typeface="楷体" panose="02010609060101010101" charset="-122"/>
              </a:rPr>
              <a:t>1）采用分组法装配最好能使两相配件的尺寸分布曲线具有完全相同的对称分布曲线，如果尺寸分布曲线不相同或不对称，则将造成各组相配零件数不等而不能完全配套，造成浪费。</a:t>
            </a:r>
            <a:endParaRPr lang="zh-CN" altLang="en-US" sz="1600" b="0">
              <a:latin typeface="楷体" panose="02010609060101010101" charset="-122"/>
              <a:ea typeface="楷体" panose="02010609060101010101" charset="-122"/>
            </a:endParaRPr>
          </a:p>
          <a:p>
            <a:pPr>
              <a:lnSpc>
                <a:spcPct val="90000"/>
              </a:lnSpc>
            </a:pPr>
            <a:r>
              <a:rPr lang="zh-CN" altLang="en-US" sz="1600" b="0">
                <a:latin typeface="楷体" panose="02010609060101010101" charset="-122"/>
                <a:ea typeface="楷体" panose="02010609060101010101" charset="-122"/>
              </a:rPr>
              <a:t>2）采用分组法装配时，零件的分组数不宜太多，否则会因零件测量、分类、保管、运输工作量的增大而使生产组织工作变得相当复杂。</a:t>
            </a:r>
            <a:endParaRPr lang="zh-CN" altLang="en-US" sz="1600" b="0">
              <a:latin typeface="楷体" panose="02010609060101010101" charset="-122"/>
              <a:ea typeface="楷体" panose="02010609060101010101" charset="-122"/>
            </a:endParaRPr>
          </a:p>
          <a:p>
            <a:pPr>
              <a:lnSpc>
                <a:spcPct val="90000"/>
              </a:lnSpc>
            </a:pPr>
            <a:r>
              <a:rPr lang="zh-CN" altLang="en-US" sz="1600" b="0">
                <a:latin typeface="楷体" panose="02010609060101010101" charset="-122"/>
                <a:ea typeface="楷体" panose="02010609060101010101" charset="-122"/>
              </a:rPr>
              <a:t>（4）特点：主要优点是：零件的制造精度不高，但却可获得很高的装配精度；组内零件可以互换，装配效率高。不足之处是：增加了零件测量、分组、存贮、运输的工作量。分组装配法适用于在大批大量生产中装配那些组成环数少而装配精度又要求特别高的机器结构。</a:t>
            </a:r>
            <a:endParaRPr lang="zh-CN" altLang="en-US" sz="1600" b="0">
              <a:latin typeface="楷体" panose="02010609060101010101" charset="-122"/>
              <a:ea typeface="楷体" panose="02010609060101010101" charset="-122"/>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50608" y="568406"/>
            <a:ext cx="8215313" cy="596503"/>
          </a:xfrm>
        </p:spPr>
        <p:txBody>
          <a:bodyPr/>
          <a:lstStyle/>
          <a:p>
            <a:r>
              <a:rPr lang="zh-CN" altLang="en-US" spc="150" dirty="0" smtClean="0">
                <a:solidFill>
                  <a:schemeClr val="accent1"/>
                </a:solidFill>
                <a:latin typeface="楷体" panose="02010609060101010101" charset="-122"/>
                <a:ea typeface="楷体" panose="02010609060101010101" charset="-122"/>
                <a:sym typeface="+mn-ea"/>
              </a:rPr>
              <a:t>各零部件装配要求及注意事项</a:t>
            </a:r>
            <a:endParaRPr lang="zh-CN" altLang="en-US" b="1" spc="150" dirty="0" smtClean="0">
              <a:solidFill>
                <a:schemeClr val="accent1"/>
              </a:solidFill>
              <a:latin typeface="楷体" panose="02010609060101010101" charset="-122"/>
              <a:ea typeface="楷体" panose="02010609060101010101" charset="-122"/>
              <a:sym typeface="+mn-ea"/>
            </a:endParaRPr>
          </a:p>
        </p:txBody>
      </p:sp>
      <p:sp>
        <p:nvSpPr>
          <p:cNvPr id="3" name="内容占位符 2"/>
          <p:cNvSpPr>
            <a:spLocks noGrp="1"/>
          </p:cNvSpPr>
          <p:nvPr>
            <p:ph idx="1"/>
          </p:nvPr>
        </p:nvSpPr>
        <p:spPr>
          <a:xfrm>
            <a:off x="1050925" y="1163955"/>
            <a:ext cx="7282180" cy="3526155"/>
          </a:xfrm>
        </p:spPr>
        <p:txBody>
          <a:bodyPr>
            <a:normAutofit lnSpcReduction="10000"/>
          </a:bodyPr>
          <a:lstStyle/>
          <a:p>
            <a:pPr marL="0">
              <a:lnSpc>
                <a:spcPct val="100000"/>
              </a:lnSpc>
              <a:spcBef>
                <a:spcPts val="0"/>
              </a:spcBef>
              <a:buNone/>
            </a:pPr>
            <a:r>
              <a:rPr lang="en-US" altLang="zh-CN" sz="2400" dirty="0">
                <a:latin typeface="楷体" panose="02010609060101010101" charset="-122"/>
                <a:ea typeface="楷体" panose="02010609060101010101" charset="-122"/>
              </a:rPr>
              <a:t>1</a:t>
            </a:r>
            <a:r>
              <a:rPr sz="2400" dirty="0">
                <a:latin typeface="楷体" panose="02010609060101010101" charset="-122"/>
                <a:ea typeface="楷体" panose="02010609060101010101" charset="-122"/>
              </a:rPr>
              <a:t>、安装电机定子</a:t>
            </a:r>
            <a:endParaRPr sz="2400" dirty="0">
              <a:latin typeface="楷体" panose="02010609060101010101" charset="-122"/>
              <a:ea typeface="楷体" panose="02010609060101010101" charset="-122"/>
            </a:endParaRPr>
          </a:p>
          <a:p>
            <a:pPr marL="0">
              <a:lnSpc>
                <a:spcPct val="130000"/>
              </a:lnSpc>
              <a:spcBef>
                <a:spcPts val="0"/>
              </a:spcBef>
              <a:buNone/>
            </a:pPr>
            <a:r>
              <a:rPr sz="2400" b="0" dirty="0">
                <a:latin typeface="楷体" panose="02010609060101010101" charset="-122"/>
                <a:ea typeface="楷体" panose="02010609060101010101" charset="-122"/>
              </a:rPr>
              <a:t>   电机机壳需加热到</a:t>
            </a:r>
            <a:r>
              <a:rPr lang="en-US" altLang="zh-CN" sz="2400" b="0" dirty="0">
                <a:latin typeface="楷体" panose="02010609060101010101" charset="-122"/>
                <a:ea typeface="楷体" panose="02010609060101010101" charset="-122"/>
              </a:rPr>
              <a:t>170</a:t>
            </a:r>
            <a:r>
              <a:rPr lang="en-US" altLang="zh-CN" sz="2400" b="0" dirty="0">
                <a:latin typeface="楷体" panose="02010609060101010101" charset="-122"/>
                <a:ea typeface="楷体" panose="02010609060101010101" charset="-122"/>
                <a:cs typeface="宋体" panose="02010600030101010101" pitchFamily="2" charset="-122"/>
              </a:rPr>
              <a:t>℃</a:t>
            </a:r>
            <a:r>
              <a:rPr sz="2400" b="0" dirty="0">
                <a:latin typeface="楷体" panose="02010609060101010101" charset="-122"/>
                <a:ea typeface="楷体" panose="02010609060101010101" charset="-122"/>
                <a:cs typeface="宋体" panose="02010600030101010101" pitchFamily="2" charset="-122"/>
              </a:rPr>
              <a:t>以上。</a:t>
            </a:r>
            <a:endParaRPr sz="2400" b="0" dirty="0">
              <a:latin typeface="楷体" panose="02010609060101010101" charset="-122"/>
              <a:ea typeface="楷体" panose="02010609060101010101" charset="-122"/>
              <a:cs typeface="宋体" panose="02010600030101010101" pitchFamily="2" charset="-122"/>
            </a:endParaRPr>
          </a:p>
          <a:p>
            <a:pPr marL="0">
              <a:lnSpc>
                <a:spcPct val="130000"/>
              </a:lnSpc>
              <a:spcBef>
                <a:spcPts val="0"/>
              </a:spcBef>
              <a:buNone/>
            </a:pPr>
            <a:r>
              <a:rPr sz="2400" b="0" dirty="0">
                <a:latin typeface="楷体" panose="02010609060101010101" charset="-122"/>
                <a:ea typeface="楷体" panose="02010609060101010101" charset="-122"/>
                <a:cs typeface="宋体" panose="02010600030101010101" pitchFamily="2" charset="-122"/>
              </a:rPr>
              <a:t>   此时电机定子能很顺利的一次性放入电机机壳</a:t>
            </a:r>
            <a:endParaRPr sz="2400" b="0" dirty="0">
              <a:latin typeface="楷体" panose="02010609060101010101" charset="-122"/>
              <a:ea typeface="楷体" panose="02010609060101010101" charset="-122"/>
              <a:cs typeface="宋体" panose="02010600030101010101" pitchFamily="2" charset="-122"/>
            </a:endParaRPr>
          </a:p>
          <a:p>
            <a:pPr marL="0">
              <a:lnSpc>
                <a:spcPct val="130000"/>
              </a:lnSpc>
              <a:spcBef>
                <a:spcPts val="0"/>
              </a:spcBef>
              <a:buNone/>
            </a:pPr>
            <a:r>
              <a:rPr sz="2400" b="0" dirty="0">
                <a:latin typeface="楷体" panose="02010609060101010101" charset="-122"/>
                <a:ea typeface="楷体" panose="02010609060101010101" charset="-122"/>
                <a:cs typeface="宋体" panose="02010600030101010101" pitchFamily="2" charset="-122"/>
              </a:rPr>
              <a:t>   无需压装，不会产生铝屑</a:t>
            </a:r>
            <a:endParaRPr sz="2400" b="0" dirty="0">
              <a:latin typeface="楷体" panose="02010609060101010101" charset="-122"/>
              <a:ea typeface="楷体" panose="02010609060101010101" charset="-122"/>
              <a:cs typeface="宋体" panose="02010600030101010101" pitchFamily="2" charset="-122"/>
            </a:endParaRPr>
          </a:p>
          <a:p>
            <a:pPr marL="0">
              <a:lnSpc>
                <a:spcPct val="130000"/>
              </a:lnSpc>
              <a:spcBef>
                <a:spcPts val="0"/>
              </a:spcBef>
              <a:buNone/>
            </a:pPr>
            <a:r>
              <a:rPr sz="2400" b="0" dirty="0">
                <a:latin typeface="楷体" panose="02010609060101010101" charset="-122"/>
                <a:ea typeface="楷体" panose="02010609060101010101" charset="-122"/>
                <a:cs typeface="宋体" panose="02010600030101010101" pitchFamily="2" charset="-122"/>
              </a:rPr>
              <a:t>   若加热不足，则有可能一次性无法安装到位并产生铝屑，影响压缩机质量</a:t>
            </a:r>
            <a:endParaRPr sz="2400" b="0" dirty="0">
              <a:latin typeface="楷体" panose="02010609060101010101" charset="-122"/>
              <a:ea typeface="楷体" panose="02010609060101010101" charset="-122"/>
              <a:cs typeface="宋体" panose="02010600030101010101" pitchFamily="2" charset="-122"/>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043940" y="567771"/>
            <a:ext cx="8215313" cy="596503"/>
          </a:xfrm>
        </p:spPr>
        <p:txBody>
          <a:bodyPr>
            <a:normAutofit/>
          </a:bodyPr>
          <a:lstStyle/>
          <a:p>
            <a:r>
              <a:rPr lang="zh-CN" altLang="en-US" spc="150" dirty="0" smtClean="0">
                <a:latin typeface="楷体" panose="02010609060101010101" charset="-122"/>
                <a:ea typeface="楷体" panose="02010609060101010101" charset="-122"/>
                <a:sym typeface="+mn-ea"/>
              </a:rPr>
              <a:t>各零部件装配要求及注意事项</a:t>
            </a:r>
            <a:endParaRPr lang="zh-CN" altLang="en-US" b="1" dirty="0">
              <a:latin typeface="楷体" panose="02010609060101010101" charset="-122"/>
              <a:ea typeface="楷体" panose="02010609060101010101" charset="-122"/>
            </a:endParaRPr>
          </a:p>
        </p:txBody>
      </p:sp>
      <p:sp>
        <p:nvSpPr>
          <p:cNvPr id="5" name="灯片编号占位符 4"/>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
        <p:nvSpPr>
          <p:cNvPr id="3" name="内容占位符 2"/>
          <p:cNvSpPr/>
          <p:nvPr>
            <p:ph idx="1"/>
          </p:nvPr>
        </p:nvSpPr>
        <p:spPr>
          <a:xfrm>
            <a:off x="1043623" y="1163956"/>
            <a:ext cx="7332345" cy="2814638"/>
          </a:xfrm>
        </p:spPr>
        <p:txBody>
          <a:bodyPr/>
          <a:p>
            <a:pPr marL="0" indent="0">
              <a:buNone/>
            </a:pPr>
            <a:r>
              <a:rPr lang="en-US" altLang="zh-CN" sz="2400">
                <a:latin typeface="楷体" panose="02010609060101010101" charset="-122"/>
                <a:ea typeface="楷体" panose="02010609060101010101" charset="-122"/>
              </a:rPr>
              <a:t>2</a:t>
            </a:r>
            <a:r>
              <a:rPr sz="2400">
                <a:latin typeface="楷体" panose="02010609060101010101" charset="-122"/>
                <a:ea typeface="楷体" panose="02010609060101010101" charset="-122"/>
              </a:rPr>
              <a:t>、电机转子压入轴</a:t>
            </a:r>
            <a:endParaRPr sz="2400">
              <a:latin typeface="楷体" panose="02010609060101010101" charset="-122"/>
              <a:ea typeface="楷体" panose="02010609060101010101" charset="-122"/>
            </a:endParaRPr>
          </a:p>
          <a:p>
            <a:pPr marL="0" indent="0">
              <a:buNone/>
            </a:pPr>
            <a:r>
              <a:rPr sz="2400" b="0">
                <a:latin typeface="楷体" panose="02010609060101010101" charset="-122"/>
                <a:ea typeface="楷体" panose="02010609060101010101" charset="-122"/>
              </a:rPr>
              <a:t>   工装方向正确</a:t>
            </a:r>
            <a:endParaRPr sz="2400" b="0">
              <a:latin typeface="楷体" panose="02010609060101010101" charset="-122"/>
              <a:ea typeface="楷体" panose="02010609060101010101" charset="-122"/>
            </a:endParaRPr>
          </a:p>
          <a:p>
            <a:pPr marL="0" indent="0">
              <a:buNone/>
            </a:pPr>
            <a:r>
              <a:rPr sz="2400" b="0">
                <a:latin typeface="楷体" panose="02010609060101010101" charset="-122"/>
                <a:ea typeface="楷体" panose="02010609060101010101" charset="-122"/>
              </a:rPr>
              <a:t>   电机转子压入到位</a:t>
            </a:r>
            <a:endParaRPr sz="2400" b="0">
              <a:latin typeface="楷体" panose="02010609060101010101" charset="-122"/>
              <a:ea typeface="楷体" panose="02010609060101010101" charset="-122"/>
            </a:endParaRPr>
          </a:p>
          <a:p>
            <a:pPr marL="0" indent="0">
              <a:buNone/>
            </a:pPr>
            <a:r>
              <a:rPr sz="2400" b="0">
                <a:latin typeface="楷体" panose="02010609060101010101" charset="-122"/>
                <a:ea typeface="楷体" panose="02010609060101010101" charset="-122"/>
              </a:rPr>
              <a:t>   电机转子有磁性，易吸附异物及吸住铁质工装造成碰伤</a:t>
            </a:r>
            <a:endParaRPr sz="2400" b="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
        <p:nvSpPr>
          <p:cNvPr id="4" name="标题 1"/>
          <p:cNvSpPr>
            <a:spLocks noGrp="1"/>
          </p:cNvSpPr>
          <p:nvPr>
            <p:ph type="title"/>
          </p:nvPr>
        </p:nvSpPr>
        <p:spPr>
          <a:xfrm>
            <a:off x="1058545" y="576026"/>
            <a:ext cx="8215313" cy="596503"/>
          </a:xfrm>
        </p:spPr>
        <p:txBody>
          <a:bodyPr/>
          <a:lstStyle/>
          <a:p>
            <a:r>
              <a:rPr lang="zh-CN" altLang="en-US" spc="150" dirty="0" smtClean="0">
                <a:latin typeface="楷体" panose="02010609060101010101" charset="-122"/>
                <a:ea typeface="楷体" panose="02010609060101010101" charset="-122"/>
                <a:sym typeface="+mn-ea"/>
              </a:rPr>
              <a:t>各零部件装配要求及注意事项</a:t>
            </a:r>
            <a:endParaRPr lang="zh-CN" altLang="en-US" b="1" dirty="0">
              <a:latin typeface="楷体" panose="02010609060101010101" charset="-122"/>
              <a:ea typeface="楷体" panose="02010609060101010101" charset="-122"/>
            </a:endParaRPr>
          </a:p>
        </p:txBody>
      </p:sp>
      <p:sp>
        <p:nvSpPr>
          <p:cNvPr id="2" name="内容占位符 1"/>
          <p:cNvSpPr/>
          <p:nvPr>
            <p:ph idx="1"/>
          </p:nvPr>
        </p:nvSpPr>
        <p:spPr>
          <a:xfrm>
            <a:off x="1058545" y="1163955"/>
            <a:ext cx="7332345" cy="3599180"/>
          </a:xfrm>
        </p:spPr>
        <p:txBody>
          <a:bodyPr/>
          <a:p>
            <a:pPr marL="0" indent="0">
              <a:buNone/>
            </a:pPr>
            <a:r>
              <a:rPr lang="en-US" altLang="zh-CN" sz="2400">
                <a:latin typeface="楷体" panose="02010609060101010101" charset="-122"/>
                <a:ea typeface="楷体" panose="02010609060101010101" charset="-122"/>
              </a:rPr>
              <a:t>3</a:t>
            </a:r>
            <a:r>
              <a:rPr sz="2400">
                <a:latin typeface="楷体" panose="02010609060101010101" charset="-122"/>
                <a:ea typeface="楷体" panose="02010609060101010101" charset="-122"/>
              </a:rPr>
              <a:t>、轴承装配</a:t>
            </a:r>
            <a:endParaRPr sz="2400">
              <a:latin typeface="楷体" panose="02010609060101010101" charset="-122"/>
              <a:ea typeface="楷体" panose="02010609060101010101" charset="-122"/>
            </a:endParaRPr>
          </a:p>
          <a:p>
            <a:pPr marL="0" indent="0">
              <a:buNone/>
            </a:pPr>
            <a:r>
              <a:rPr sz="2400">
                <a:latin typeface="楷体" panose="02010609060101010101" charset="-122"/>
                <a:ea typeface="楷体" panose="02010609060101010101" charset="-122"/>
              </a:rPr>
              <a:t>   </a:t>
            </a:r>
            <a:r>
              <a:rPr sz="2400" b="0">
                <a:latin typeface="楷体" panose="02010609060101010101" charset="-122"/>
                <a:ea typeface="楷体" panose="02010609060101010101" charset="-122"/>
              </a:rPr>
              <a:t>轴承装配前不需进行清洗</a:t>
            </a:r>
            <a:endParaRPr sz="2400" b="0">
              <a:latin typeface="楷体" panose="02010609060101010101" charset="-122"/>
              <a:ea typeface="楷体" panose="02010609060101010101" charset="-122"/>
            </a:endParaRPr>
          </a:p>
          <a:p>
            <a:pPr marL="0" indent="0">
              <a:buNone/>
            </a:pPr>
            <a:r>
              <a:rPr sz="2400" b="0">
                <a:latin typeface="楷体" panose="02010609060101010101" charset="-122"/>
                <a:ea typeface="楷体" panose="02010609060101010101" charset="-122"/>
              </a:rPr>
              <a:t>   轴承装配前需注意工装表面是否有异物</a:t>
            </a:r>
            <a:endParaRPr sz="2400" b="0">
              <a:latin typeface="楷体" panose="02010609060101010101" charset="-122"/>
              <a:ea typeface="楷体" panose="02010609060101010101" charset="-122"/>
            </a:endParaRPr>
          </a:p>
          <a:p>
            <a:pPr marL="0" indent="0">
              <a:buNone/>
            </a:pPr>
            <a:r>
              <a:rPr sz="2400" b="0">
                <a:latin typeface="楷体" panose="02010609060101010101" charset="-122"/>
                <a:ea typeface="楷体" panose="02010609060101010101" charset="-122"/>
              </a:rPr>
              <a:t>   轴承安装时有字面向上</a:t>
            </a:r>
            <a:endParaRPr sz="2400" b="0">
              <a:latin typeface="楷体" panose="02010609060101010101" charset="-122"/>
              <a:ea typeface="楷体" panose="02010609060101010101" charset="-122"/>
            </a:endParaRPr>
          </a:p>
          <a:p>
            <a:pPr marL="0" indent="0">
              <a:buNone/>
            </a:pPr>
            <a:r>
              <a:rPr sz="2400" b="0">
                <a:latin typeface="楷体" panose="02010609060101010101" charset="-122"/>
                <a:ea typeface="楷体" panose="02010609060101010101" charset="-122"/>
              </a:rPr>
              <a:t>   对于有生锈、碰伤、变形等不良的轴承，不应进行安装使用</a:t>
            </a:r>
            <a:endParaRPr sz="2400" b="0">
              <a:latin typeface="楷体" panose="02010609060101010101" charset="-122"/>
              <a:ea typeface="楷体" panose="02010609060101010101" charset="-122"/>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36955" y="540307"/>
            <a:ext cx="8215313" cy="596503"/>
          </a:xfrm>
        </p:spPr>
        <p:txBody>
          <a:bodyPr/>
          <a:p>
            <a:r>
              <a:rPr lang="zh-CN" altLang="en-US" spc="150" dirty="0" smtClean="0">
                <a:latin typeface="楷体" panose="02010609060101010101" charset="-122"/>
                <a:ea typeface="楷体" panose="02010609060101010101" charset="-122"/>
                <a:sym typeface="+mn-ea"/>
              </a:rPr>
              <a:t>各零部件装配要求及注意事项</a:t>
            </a:r>
            <a:endParaRPr lang="zh-CN" altLang="en-US"/>
          </a:p>
        </p:txBody>
      </p:sp>
      <p:sp>
        <p:nvSpPr>
          <p:cNvPr id="4" name="内容占位符 3"/>
          <p:cNvSpPr>
            <a:spLocks noGrp="1"/>
          </p:cNvSpPr>
          <p:nvPr>
            <p:ph idx="1"/>
          </p:nvPr>
        </p:nvSpPr>
        <p:spPr>
          <a:xfrm>
            <a:off x="1036638" y="1136651"/>
            <a:ext cx="7332345" cy="2814638"/>
          </a:xfrm>
        </p:spPr>
        <p:txBody>
          <a:bodyPr/>
          <a:p>
            <a:pPr marL="0" indent="0">
              <a:buNone/>
            </a:pPr>
            <a:r>
              <a:rPr lang="en-US" altLang="zh-CN">
                <a:latin typeface="楷体" panose="02010609060101010101" charset="-122"/>
                <a:ea typeface="楷体" panose="02010609060101010101" charset="-122"/>
              </a:rPr>
              <a:t>4</a:t>
            </a:r>
            <a:r>
              <a:rPr>
                <a:latin typeface="楷体" panose="02010609060101010101" charset="-122"/>
                <a:ea typeface="楷体" panose="02010609060101010101" charset="-122"/>
              </a:rPr>
              <a:t>、十字滑环、轴承垫安装</a:t>
            </a:r>
            <a:endParaRPr>
              <a:latin typeface="楷体" panose="02010609060101010101" charset="-122"/>
              <a:ea typeface="楷体" panose="02010609060101010101" charset="-122"/>
            </a:endParaRPr>
          </a:p>
          <a:p>
            <a:pPr marL="0" indent="0">
              <a:buNone/>
            </a:pPr>
            <a:r>
              <a:t>      </a:t>
            </a:r>
            <a:r>
              <a:rPr b="0">
                <a:latin typeface="楷体" panose="02010609060101010101" charset="-122"/>
                <a:ea typeface="楷体" panose="02010609060101010101" charset="-122"/>
              </a:rPr>
              <a:t>十字滑环安装到位后应运动顺畅，无卡阻。</a:t>
            </a:r>
            <a:endParaRPr b="0">
              <a:latin typeface="楷体" panose="02010609060101010101" charset="-122"/>
              <a:ea typeface="楷体" panose="02010609060101010101" charset="-122"/>
            </a:endParaRPr>
          </a:p>
          <a:p>
            <a:pPr marL="0" indent="0">
              <a:buNone/>
            </a:pPr>
            <a:r>
              <a:rPr b="0">
                <a:latin typeface="楷体" panose="02010609060101010101" charset="-122"/>
                <a:ea typeface="楷体" panose="02010609060101010101" charset="-122"/>
              </a:rPr>
              <a:t>   十字滑环与轴承座配合间隙合适，不得有晃动。</a:t>
            </a:r>
            <a:endParaRPr b="0">
              <a:latin typeface="楷体" panose="02010609060101010101" charset="-122"/>
              <a:ea typeface="楷体" panose="02010609060101010101" charset="-122"/>
            </a:endParaRPr>
          </a:p>
          <a:p>
            <a:pPr marL="0" indent="0">
              <a:buNone/>
            </a:pPr>
            <a:r>
              <a:rPr b="0">
                <a:latin typeface="楷体" panose="02010609060101010101" charset="-122"/>
                <a:ea typeface="楷体" panose="02010609060101010101" charset="-122"/>
              </a:rPr>
              <a:t>   轴承垫安装前应注意是否有变形、压伤、等缺陷。</a:t>
            </a:r>
            <a:endParaRPr b="0">
              <a:latin typeface="楷体" panose="02010609060101010101" charset="-122"/>
              <a:ea typeface="楷体" panose="02010609060101010101" charset="-122"/>
            </a:endParaRPr>
          </a:p>
          <a:p>
            <a:pPr marL="0" indent="0">
              <a:buNone/>
            </a:pPr>
            <a:r>
              <a:rPr b="0">
                <a:latin typeface="楷体" panose="02010609060101010101" charset="-122"/>
                <a:ea typeface="楷体" panose="02010609060101010101" charset="-122"/>
              </a:rPr>
              <a:t>   轴承垫装配后应平整贴合轴承座。</a:t>
            </a:r>
            <a:endParaRPr lang="en-US" altLang="zh-CN" b="0">
              <a:latin typeface="楷体" panose="02010609060101010101" charset="-122"/>
              <a:ea typeface="楷体" panose="02010609060101010101" charset="-122"/>
            </a:endParaRPr>
          </a:p>
          <a:p>
            <a:pPr marL="0" indent="0">
              <a:buNone/>
            </a:pPr>
            <a:r>
              <a:rPr b="0">
                <a:latin typeface="楷体" panose="02010609060101010101" charset="-122"/>
                <a:ea typeface="楷体" panose="02010609060101010101" charset="-122"/>
              </a:rPr>
              <a:t>   </a:t>
            </a:r>
            <a:endParaRPr b="0">
              <a:latin typeface="楷体" panose="02010609060101010101" charset="-122"/>
              <a:ea typeface="楷体" panose="02010609060101010101" charset="-122"/>
            </a:endParaRPr>
          </a:p>
        </p:txBody>
      </p:sp>
      <p:sp>
        <p:nvSpPr>
          <p:cNvPr id="5" name="文本框 4"/>
          <p:cNvSpPr txBox="1"/>
          <p:nvPr/>
        </p:nvSpPr>
        <p:spPr>
          <a:xfrm>
            <a:off x="8737600" y="4731385"/>
            <a:ext cx="381000" cy="368300"/>
          </a:xfrm>
          <a:prstGeom prst="rect">
            <a:avLst/>
          </a:prstGeom>
          <a:noFill/>
          <a:ln>
            <a:noFill/>
          </a:ln>
        </p:spPr>
        <p:txBody>
          <a:bodyPr wrap="none" rtlCol="0">
            <a:spAutoFit/>
          </a:bodyPr>
          <a:p>
            <a:pPr>
              <a:lnSpc>
                <a:spcPct val="130000"/>
              </a:lnSpc>
            </a:pPr>
            <a:r>
              <a:rPr lang="en-US" altLang="zh-CN" sz="1400" dirty="0" smtClean="0">
                <a:solidFill>
                  <a:schemeClr val="bg1"/>
                </a:solidFill>
                <a:latin typeface="Arial" panose="020B0604020202020204" pitchFamily="34" charset="0"/>
                <a:ea typeface="微软雅黑" panose="020B0503020204020204" pitchFamily="34" charset="-122"/>
              </a:rPr>
              <a:t>21</a:t>
            </a:r>
            <a:endParaRPr lang="en-US" altLang="zh-CN" sz="1400" dirty="0" smtClean="0">
              <a:solidFill>
                <a:schemeClr val="bg1"/>
              </a:solidFill>
              <a:latin typeface="Arial" panose="020B0604020202020204" pitchFamily="34" charset="0"/>
              <a:ea typeface="微软雅黑" panose="020B0503020204020204" pitchFamily="34" charset="-122"/>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nvPr>
        </p:nvSpPr>
        <p:spPr>
          <a:xfrm>
            <a:off x="1036955" y="540307"/>
            <a:ext cx="8215313" cy="596503"/>
          </a:xfrm>
        </p:spPr>
        <p:txBody>
          <a:bodyPr/>
          <a:p>
            <a:r>
              <a:rPr lang="zh-CN" altLang="en-US" spc="150" dirty="0" smtClean="0">
                <a:latin typeface="楷体" panose="02010609060101010101" charset="-122"/>
                <a:ea typeface="楷体" panose="02010609060101010101" charset="-122"/>
                <a:sym typeface="+mn-ea"/>
              </a:rPr>
              <a:t>各零部件装配要求及注意事项</a:t>
            </a:r>
            <a:endParaRPr lang="zh-CN" altLang="en-US"/>
          </a:p>
        </p:txBody>
      </p:sp>
      <p:sp>
        <p:nvSpPr>
          <p:cNvPr id="4" name="内容占位符 3"/>
          <p:cNvSpPr>
            <a:spLocks noGrp="1"/>
          </p:cNvSpPr>
          <p:nvPr>
            <p:ph idx="1"/>
          </p:nvPr>
        </p:nvSpPr>
        <p:spPr>
          <a:xfrm>
            <a:off x="1036638" y="1136651"/>
            <a:ext cx="7332345" cy="2814638"/>
          </a:xfrm>
        </p:spPr>
        <p:txBody>
          <a:bodyPr/>
          <a:p>
            <a:pPr marL="0" indent="0">
              <a:buNone/>
            </a:pPr>
            <a:r>
              <a:rPr lang="en-US" altLang="zh-CN">
                <a:latin typeface="楷体" panose="02010609060101010101" charset="-122"/>
                <a:ea typeface="楷体" panose="02010609060101010101" charset="-122"/>
              </a:rPr>
              <a:t>5</a:t>
            </a:r>
            <a:r>
              <a:rPr>
                <a:latin typeface="楷体" panose="02010609060101010101" charset="-122"/>
                <a:ea typeface="楷体" panose="02010609060101010101" charset="-122"/>
              </a:rPr>
              <a:t>、合装</a:t>
            </a:r>
            <a:endParaRPr>
              <a:latin typeface="楷体" panose="02010609060101010101" charset="-122"/>
              <a:ea typeface="楷体" panose="02010609060101010101" charset="-122"/>
            </a:endParaRPr>
          </a:p>
          <a:p>
            <a:pPr marL="0" indent="0">
              <a:buNone/>
            </a:pPr>
            <a:r>
              <a:rPr>
                <a:latin typeface="楷体" panose="02010609060101010101" charset="-122"/>
                <a:ea typeface="楷体" panose="02010609060101010101" charset="-122"/>
              </a:rPr>
              <a:t>   </a:t>
            </a:r>
            <a:r>
              <a:rPr b="0">
                <a:latin typeface="楷体" panose="02010609060101010101" charset="-122"/>
                <a:ea typeface="楷体" panose="02010609060101010101" charset="-122"/>
              </a:rPr>
              <a:t>压缩机进行合装时需注意在</a:t>
            </a:r>
            <a:r>
              <a:rPr lang="en-US" altLang="zh-CN" b="0">
                <a:latin typeface="楷体" panose="02010609060101010101" charset="-122"/>
                <a:ea typeface="楷体" panose="02010609060101010101" charset="-122"/>
              </a:rPr>
              <a:t>O</a:t>
            </a:r>
            <a:r>
              <a:rPr b="0">
                <a:latin typeface="楷体" panose="02010609060101010101" charset="-122"/>
                <a:ea typeface="楷体" panose="02010609060101010101" charset="-122"/>
              </a:rPr>
              <a:t>型圈位刷冷冻油。</a:t>
            </a:r>
            <a:endParaRPr b="0">
              <a:latin typeface="楷体" panose="02010609060101010101" charset="-122"/>
              <a:ea typeface="楷体" panose="02010609060101010101" charset="-122"/>
            </a:endParaRPr>
          </a:p>
          <a:p>
            <a:pPr marL="0" indent="0">
              <a:buNone/>
            </a:pPr>
            <a:r>
              <a:rPr b="0">
                <a:latin typeface="楷体" panose="02010609060101010101" charset="-122"/>
                <a:ea typeface="楷体" panose="02010609060101010101" charset="-122"/>
              </a:rPr>
              <a:t>   合装时</a:t>
            </a:r>
            <a:r>
              <a:rPr lang="en-US" altLang="zh-CN" b="0">
                <a:latin typeface="楷体" panose="02010609060101010101" charset="-122"/>
                <a:ea typeface="楷体" panose="02010609060101010101" charset="-122"/>
              </a:rPr>
              <a:t>O</a:t>
            </a:r>
            <a:r>
              <a:rPr b="0">
                <a:latin typeface="楷体" panose="02010609060101010101" charset="-122"/>
                <a:ea typeface="楷体" panose="02010609060101010101" charset="-122"/>
              </a:rPr>
              <a:t>型圈不应有移位。</a:t>
            </a:r>
            <a:endParaRPr b="0">
              <a:latin typeface="楷体" panose="02010609060101010101" charset="-122"/>
              <a:ea typeface="楷体" panose="02010609060101010101" charset="-122"/>
            </a:endParaRPr>
          </a:p>
          <a:p>
            <a:pPr marL="0" indent="0">
              <a:buNone/>
            </a:pPr>
            <a:r>
              <a:rPr b="0">
                <a:latin typeface="楷体" panose="02010609060101010101" charset="-122"/>
                <a:ea typeface="楷体" panose="02010609060101010101" charset="-122"/>
              </a:rPr>
              <a:t>   螺栓应对角上紧，螺栓上紧后用扭力扳手进行检查。</a:t>
            </a:r>
            <a:endParaRPr b="0">
              <a:latin typeface="楷体" panose="02010609060101010101" charset="-122"/>
              <a:ea typeface="楷体" panose="02010609060101010101" charset="-122"/>
            </a:endParaRPr>
          </a:p>
          <a:p>
            <a:pPr marL="0" indent="0">
              <a:buNone/>
            </a:pPr>
            <a:endParaRPr b="0">
              <a:latin typeface="楷体" panose="02010609060101010101" charset="-122"/>
              <a:ea typeface="楷体" panose="02010609060101010101" charset="-122"/>
            </a:endParaRPr>
          </a:p>
        </p:txBody>
      </p:sp>
      <p:sp>
        <p:nvSpPr>
          <p:cNvPr id="3" name="灯片编号占位符 2"/>
          <p:cNvSpPr>
            <a:spLocks noGrp="1"/>
          </p:cNvSpPr>
          <p:nvPr>
            <p:ph type="sldNum" sz="quarter" idx="12"/>
          </p:nvPr>
        </p:nvSpPr>
        <p:spPr/>
        <p:txBody>
          <a:bodyPr/>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标题 9"/>
          <p:cNvSpPr>
            <a:spLocks noGrp="1"/>
          </p:cNvSpPr>
          <p:nvPr>
            <p:ph type="title"/>
          </p:nvPr>
        </p:nvSpPr>
        <p:spPr>
          <a:xfrm>
            <a:off x="1344930" y="576502"/>
            <a:ext cx="6275069" cy="596503"/>
          </a:xfrm>
        </p:spPr>
        <p:txBody>
          <a:bodyPr vert="horz" wrap="square" lIns="68579" tIns="34289" rIns="68579" bIns="34289" anchor="ctr"/>
          <a:lstStyle/>
          <a:p>
            <a:pPr algn="ctr"/>
            <a:r>
              <a:rPr lang="zh-CN" altLang="en-US" spc="150" dirty="0">
                <a:effectLst>
                  <a:outerShdw blurRad="38100" dist="25400" dir="5400000" algn="ctr" rotWithShape="0">
                    <a:srgbClr val="6E747A">
                      <a:alpha val="43000"/>
                    </a:srgbClr>
                  </a:outerShdw>
                </a:effectLst>
                <a:latin typeface="+mn-lt"/>
                <a:ea typeface="+mn-ea"/>
                <a:cs typeface="+mn-cs"/>
                <a:sym typeface="+mn-ea"/>
              </a:rPr>
              <a:t>压缩机质量控制要点</a:t>
            </a:r>
            <a:endParaRPr lang="zh-CN" altLang="en-US" spc="150" dirty="0">
              <a:effectLst>
                <a:outerShdw blurRad="38100" dist="25400" dir="5400000" algn="ctr" rotWithShape="0">
                  <a:srgbClr val="6E747A">
                    <a:alpha val="43000"/>
                  </a:srgbClr>
                </a:outerShdw>
              </a:effectLst>
              <a:latin typeface="+mn-lt"/>
              <a:ea typeface="+mn-ea"/>
              <a:cs typeface="+mn-cs"/>
              <a:sym typeface="+mn-ea"/>
            </a:endParaRPr>
          </a:p>
        </p:txBody>
      </p:sp>
      <p:sp>
        <p:nvSpPr>
          <p:cNvPr id="6" name="灯片编号占位符 5"/>
          <p:cNvSpPr>
            <a:spLocks noGrp="1"/>
          </p:cNvSpPr>
          <p:nvPr>
            <p:ph type="sldNum" sz="quarter" idx="12"/>
          </p:nvPr>
        </p:nvSpPr>
        <p:spPr>
          <a:prstGeom prst="rect">
            <a:avLst/>
          </a:prstGeom>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
        <p:nvSpPr>
          <p:cNvPr id="26627" name="AutoShape 31"/>
          <p:cNvSpPr/>
          <p:nvPr/>
        </p:nvSpPr>
        <p:spPr>
          <a:xfrm>
            <a:off x="1256349" y="1258254"/>
            <a:ext cx="6792754" cy="558641"/>
          </a:xfrm>
          <a:prstGeom prst="roundRect">
            <a:avLst>
              <a:gd name="adj" fmla="val 50000"/>
            </a:avLst>
          </a:prstGeom>
          <a:noFill/>
          <a:ln w="19050" cap="rnd" cmpd="sng">
            <a:solidFill>
              <a:schemeClr val="accent1"/>
            </a:solidFill>
            <a:prstDash val="sysDot"/>
            <a:headEnd type="none" w="med" len="med"/>
            <a:tailEnd type="none" w="med" len="med"/>
          </a:ln>
        </p:spPr>
        <p:txBody>
          <a:bodyPr wrap="none" lIns="68579" tIns="34289" rIns="68579" bIns="34289" anchor="ctr"/>
          <a:lstStyle/>
          <a:p>
            <a:pPr lvl="0" eaLnBrk="1" hangingPunct="1"/>
            <a:endParaRPr lang="zh-CN" altLang="en-US" sz="2400" dirty="0">
              <a:solidFill>
                <a:schemeClr val="accent1"/>
              </a:solidFill>
            </a:endParaRPr>
          </a:p>
        </p:txBody>
      </p:sp>
      <p:sp>
        <p:nvSpPr>
          <p:cNvPr id="26628" name="文本框 11"/>
          <p:cNvSpPr txBox="1"/>
          <p:nvPr/>
        </p:nvSpPr>
        <p:spPr>
          <a:xfrm>
            <a:off x="1772604" y="1258254"/>
            <a:ext cx="5598319" cy="558641"/>
          </a:xfrm>
          <a:prstGeom prst="rect">
            <a:avLst/>
          </a:prstGeom>
          <a:noFill/>
          <a:ln w="9525">
            <a:noFill/>
            <a:miter/>
          </a:ln>
        </p:spPr>
        <p:txBody>
          <a:bodyPr lIns="68579" tIns="34289" rIns="68579" bIns="34289" anchor="ctr"/>
          <a:lstStyle/>
          <a:p>
            <a:pPr lvl="0" algn="ctr" eaLnBrk="1" hangingPunct="1"/>
            <a:r>
              <a:rPr lang="en-US" altLang="zh-CN" sz="1800" dirty="0">
                <a:solidFill>
                  <a:schemeClr val="accent1"/>
                </a:solidFill>
              </a:rPr>
              <a:t>GB/T 22068-2000 </a:t>
            </a:r>
            <a:r>
              <a:rPr lang="zh-CN" altLang="en-US" sz="1800" dirty="0">
                <a:solidFill>
                  <a:schemeClr val="accent1"/>
                </a:solidFill>
                <a:sym typeface="+mn-ea"/>
              </a:rPr>
              <a:t>汽车空调用电动压缩机总成</a:t>
            </a:r>
            <a:endParaRPr lang="en-US" altLang="zh-CN" sz="1800" dirty="0">
              <a:solidFill>
                <a:schemeClr val="accent1"/>
              </a:solidFill>
            </a:endParaRPr>
          </a:p>
        </p:txBody>
      </p:sp>
      <p:sp>
        <p:nvSpPr>
          <p:cNvPr id="26629" name="文本框 12"/>
          <p:cNvSpPr txBox="1"/>
          <p:nvPr/>
        </p:nvSpPr>
        <p:spPr>
          <a:xfrm>
            <a:off x="1448277" y="1816895"/>
            <a:ext cx="6549866" cy="3060836"/>
          </a:xfrm>
          <a:prstGeom prst="rect">
            <a:avLst/>
          </a:prstGeom>
          <a:noFill/>
          <a:ln w="9525">
            <a:noFill/>
            <a:miter/>
          </a:ln>
        </p:spPr>
        <p:txBody>
          <a:bodyPr wrap="square" lIns="68579" tIns="34289" rIns="68579" bIns="34289">
            <a:spAutoFit/>
          </a:bodyPr>
          <a:lstStyle/>
          <a:p>
            <a:pPr lvl="0" algn="l" eaLnBrk="1" hangingPunct="1">
              <a:lnSpc>
                <a:spcPct val="120000"/>
              </a:lnSpc>
            </a:pPr>
            <a:r>
              <a:rPr lang="zh-CN" altLang="en-US" sz="1800" dirty="0">
                <a:solidFill>
                  <a:schemeClr val="accent1"/>
                </a:solidFill>
              </a:rPr>
              <a:t>主要要求：</a:t>
            </a:r>
            <a:endParaRPr lang="zh-CN" altLang="en-US" sz="1800" dirty="0">
              <a:solidFill>
                <a:schemeClr val="accent1"/>
              </a:solidFill>
            </a:endParaRPr>
          </a:p>
          <a:p>
            <a:pPr lvl="0" algn="l" eaLnBrk="1" hangingPunct="1">
              <a:lnSpc>
                <a:spcPct val="120000"/>
              </a:lnSpc>
            </a:pPr>
            <a:r>
              <a:rPr lang="en-US" altLang="zh-CN" sz="1800" dirty="0">
                <a:solidFill>
                  <a:schemeClr val="accent1"/>
                </a:solidFill>
              </a:rPr>
              <a:t>1</a:t>
            </a:r>
            <a:r>
              <a:rPr lang="zh-CN" altLang="en-US" sz="1800" dirty="0">
                <a:solidFill>
                  <a:schemeClr val="accent1"/>
                </a:solidFill>
              </a:rPr>
              <a:t>、能效比                                     </a:t>
            </a:r>
            <a:r>
              <a:rPr lang="en-US" altLang="zh-CN" sz="1800" dirty="0">
                <a:solidFill>
                  <a:schemeClr val="accent1"/>
                </a:solidFill>
              </a:rPr>
              <a:t>2</a:t>
            </a:r>
            <a:r>
              <a:rPr lang="zh-CN" altLang="en-US" sz="1800" dirty="0">
                <a:solidFill>
                  <a:schemeClr val="accent1"/>
                </a:solidFill>
              </a:rPr>
              <a:t>、噪声</a:t>
            </a:r>
            <a:endParaRPr lang="zh-CN" altLang="en-US" sz="1800" dirty="0">
              <a:solidFill>
                <a:schemeClr val="accent1"/>
              </a:solidFill>
            </a:endParaRPr>
          </a:p>
          <a:p>
            <a:pPr lvl="0" algn="l" eaLnBrk="1" hangingPunct="1">
              <a:lnSpc>
                <a:spcPct val="120000"/>
              </a:lnSpc>
            </a:pPr>
            <a:endParaRPr lang="zh-CN" altLang="en-US" sz="1800" dirty="0">
              <a:solidFill>
                <a:schemeClr val="accent1"/>
              </a:solidFill>
            </a:endParaRPr>
          </a:p>
          <a:p>
            <a:pPr lvl="0" algn="l" eaLnBrk="1" hangingPunct="1">
              <a:lnSpc>
                <a:spcPct val="120000"/>
              </a:lnSpc>
            </a:pPr>
            <a:r>
              <a:rPr lang="en-US" altLang="zh-CN" sz="1800" dirty="0">
                <a:solidFill>
                  <a:schemeClr val="accent1"/>
                </a:solidFill>
              </a:rPr>
              <a:t>3</a:t>
            </a:r>
            <a:r>
              <a:rPr lang="zh-CN" altLang="en-US" sz="1800" dirty="0">
                <a:solidFill>
                  <a:schemeClr val="accent1"/>
                </a:solidFill>
              </a:rPr>
              <a:t>、清洁度                                     </a:t>
            </a:r>
            <a:r>
              <a:rPr lang="en-US" altLang="zh-CN" sz="1800" dirty="0">
                <a:solidFill>
                  <a:schemeClr val="accent1"/>
                </a:solidFill>
              </a:rPr>
              <a:t>4</a:t>
            </a:r>
            <a:r>
              <a:rPr lang="zh-CN" altLang="en-US" sz="1800" dirty="0">
                <a:solidFill>
                  <a:schemeClr val="accent1"/>
                </a:solidFill>
              </a:rPr>
              <a:t>、含水率</a:t>
            </a:r>
            <a:endParaRPr lang="zh-CN" altLang="en-US" sz="1800" dirty="0">
              <a:solidFill>
                <a:schemeClr val="accent1"/>
              </a:solidFill>
            </a:endParaRPr>
          </a:p>
          <a:p>
            <a:pPr lvl="0" algn="l" eaLnBrk="1" hangingPunct="1">
              <a:lnSpc>
                <a:spcPct val="120000"/>
              </a:lnSpc>
            </a:pPr>
            <a:endParaRPr lang="en-US" altLang="zh-CN" sz="1800" dirty="0">
              <a:solidFill>
                <a:schemeClr val="accent1"/>
              </a:solidFill>
            </a:endParaRPr>
          </a:p>
          <a:p>
            <a:pPr lvl="0" algn="l" eaLnBrk="1" hangingPunct="1">
              <a:lnSpc>
                <a:spcPct val="120000"/>
              </a:lnSpc>
            </a:pPr>
            <a:r>
              <a:rPr lang="en-US" altLang="zh-CN" sz="1800" dirty="0">
                <a:solidFill>
                  <a:schemeClr val="accent1"/>
                </a:solidFill>
              </a:rPr>
              <a:t>5</a:t>
            </a:r>
            <a:r>
              <a:rPr lang="zh-CN" altLang="en-US" sz="1800" dirty="0">
                <a:solidFill>
                  <a:schemeClr val="accent1"/>
                </a:solidFill>
              </a:rPr>
              <a:t>、密封性                                     </a:t>
            </a:r>
            <a:r>
              <a:rPr lang="en-US" altLang="zh-CN" sz="1800" dirty="0">
                <a:solidFill>
                  <a:schemeClr val="accent1"/>
                </a:solidFill>
              </a:rPr>
              <a:t>6</a:t>
            </a:r>
            <a:r>
              <a:rPr lang="zh-CN" altLang="en-US" sz="1800" dirty="0">
                <a:solidFill>
                  <a:schemeClr val="accent1"/>
                </a:solidFill>
              </a:rPr>
              <a:t>、绝缘电阻</a:t>
            </a:r>
            <a:endParaRPr lang="zh-CN" altLang="en-US" sz="1800" dirty="0">
              <a:solidFill>
                <a:schemeClr val="accent1"/>
              </a:solidFill>
            </a:endParaRPr>
          </a:p>
          <a:p>
            <a:pPr lvl="0" algn="l" eaLnBrk="1" hangingPunct="1">
              <a:lnSpc>
                <a:spcPct val="120000"/>
              </a:lnSpc>
            </a:pPr>
            <a:endParaRPr lang="en-US" altLang="zh-CN" sz="1800" dirty="0">
              <a:solidFill>
                <a:schemeClr val="accent1"/>
              </a:solidFill>
            </a:endParaRPr>
          </a:p>
          <a:p>
            <a:pPr lvl="0" algn="l" eaLnBrk="1" hangingPunct="1">
              <a:lnSpc>
                <a:spcPct val="120000"/>
              </a:lnSpc>
            </a:pPr>
            <a:r>
              <a:rPr lang="en-US" altLang="zh-CN" sz="1800" dirty="0">
                <a:solidFill>
                  <a:schemeClr val="accent1"/>
                </a:solidFill>
              </a:rPr>
              <a:t>7</a:t>
            </a:r>
            <a:r>
              <a:rPr lang="zh-CN" altLang="en-US" sz="1800" dirty="0">
                <a:solidFill>
                  <a:schemeClr val="accent1"/>
                </a:solidFill>
              </a:rPr>
              <a:t>、耐腐蚀性                                 </a:t>
            </a:r>
            <a:r>
              <a:rPr lang="en-US" altLang="zh-CN" sz="1800" dirty="0">
                <a:solidFill>
                  <a:schemeClr val="accent1"/>
                </a:solidFill>
              </a:rPr>
              <a:t>8</a:t>
            </a:r>
            <a:r>
              <a:rPr lang="zh-CN" altLang="en-US" sz="1800" dirty="0">
                <a:solidFill>
                  <a:schemeClr val="accent1"/>
                </a:solidFill>
              </a:rPr>
              <a:t>、耐久性</a:t>
            </a:r>
            <a:endParaRPr lang="zh-CN" altLang="en-US" sz="1800" dirty="0">
              <a:solidFill>
                <a:schemeClr val="accent1"/>
              </a:solidFill>
            </a:endParaRPr>
          </a:p>
          <a:p>
            <a:pPr lvl="0" algn="l" eaLnBrk="1" hangingPunct="1">
              <a:lnSpc>
                <a:spcPct val="120000"/>
              </a:lnSpc>
            </a:pPr>
            <a:endParaRPr lang="zh-CN" altLang="en-US" sz="1800" dirty="0">
              <a:solidFill>
                <a:schemeClr val="accent1"/>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87793" y="1305402"/>
            <a:ext cx="7332345" cy="2814638"/>
          </a:xfrm>
        </p:spPr>
        <p:txBody>
          <a:bodyPr/>
          <a:lstStyle/>
          <a:p>
            <a:r>
              <a:rPr lang="zh-CN" altLang="en-US"/>
              <a:t>能效比</a:t>
            </a:r>
            <a:endParaRPr lang="zh-CN" altLang="en-US"/>
          </a:p>
          <a:p>
            <a:endParaRPr lang="zh-CN" altLang="en-US"/>
          </a:p>
          <a:p>
            <a:endParaRPr lang="zh-CN" altLang="en-US"/>
          </a:p>
          <a:p>
            <a:r>
              <a:rPr lang="zh-CN" altLang="en-US"/>
              <a:t>测试工况</a:t>
            </a:r>
            <a:endParaRPr lang="zh-CN" altLang="en-US"/>
          </a:p>
          <a:p>
            <a:endParaRPr lang="zh-CN" altLang="en-US"/>
          </a:p>
        </p:txBody>
      </p:sp>
      <p:graphicFrame>
        <p:nvGraphicFramePr>
          <p:cNvPr id="5" name="表格 4"/>
          <p:cNvGraphicFramePr/>
          <p:nvPr/>
        </p:nvGraphicFramePr>
        <p:xfrm>
          <a:off x="1372554" y="1808321"/>
          <a:ext cx="7302341" cy="571500"/>
        </p:xfrm>
        <a:graphic>
          <a:graphicData uri="http://schemas.openxmlformats.org/drawingml/2006/table">
            <a:tbl>
              <a:tblPr firstRow="1" bandRow="1">
                <a:tableStyleId>{5C22544A-7EE6-4342-B048-85BDC9FD1C3A}</a:tableStyleId>
              </a:tblPr>
              <a:tblGrid>
                <a:gridCol w="1825466"/>
                <a:gridCol w="1825943"/>
                <a:gridCol w="1825466"/>
                <a:gridCol w="1825466"/>
              </a:tblGrid>
              <a:tr h="285750">
                <a:tc>
                  <a:txBody>
                    <a:bodyPr/>
                    <a:lstStyle/>
                    <a:p>
                      <a:pPr algn="ctr">
                        <a:buNone/>
                      </a:pPr>
                      <a:r>
                        <a:rPr lang="zh-CN" altLang="en-US" sz="800"/>
                        <a:t>转速</a:t>
                      </a:r>
                      <a:r>
                        <a:rPr lang="en-US" altLang="zh-CN" sz="800"/>
                        <a:t>/</a:t>
                      </a:r>
                      <a:r>
                        <a:rPr lang="zh-CN" altLang="en-US" sz="800"/>
                        <a:t>（</a:t>
                      </a:r>
                      <a:r>
                        <a:rPr lang="en-US" altLang="zh-CN" sz="800"/>
                        <a:t>r/min</a:t>
                      </a:r>
                      <a:r>
                        <a:rPr lang="zh-CN" altLang="en-US" sz="800"/>
                        <a:t>）</a:t>
                      </a:r>
                      <a:endParaRPr lang="zh-CN" altLang="en-US" sz="800"/>
                    </a:p>
                  </a:txBody>
                  <a:tcPr marL="68580" marR="68580" marT="34290" marB="34290" anchor="ctr"/>
                </a:tc>
                <a:tc>
                  <a:txBody>
                    <a:bodyPr/>
                    <a:lstStyle/>
                    <a:p>
                      <a:pPr algn="ctr">
                        <a:buNone/>
                      </a:pPr>
                      <a:r>
                        <a:rPr lang="en-US" altLang="zh-CN" sz="800"/>
                        <a:t>3000</a:t>
                      </a:r>
                      <a:r>
                        <a:rPr lang="en-US" altLang="zh-CN" sz="800">
                          <a:cs typeface="Arial" panose="020B0604020202020204" pitchFamily="34" charset="0"/>
                        </a:rPr>
                        <a:t>×</a:t>
                      </a:r>
                      <a:r>
                        <a:rPr lang="zh-CN" altLang="en-US" sz="800">
                          <a:cs typeface="Arial" panose="020B0604020202020204" pitchFamily="34" charset="0"/>
                        </a:rPr>
                        <a:t>（</a:t>
                      </a:r>
                      <a:r>
                        <a:rPr lang="en-US" altLang="zh-CN" sz="800">
                          <a:cs typeface="Arial" panose="020B0604020202020204" pitchFamily="34" charset="0"/>
                        </a:rPr>
                        <a:t>1</a:t>
                      </a:r>
                      <a:r>
                        <a:rPr lang="en-US" altLang="zh-CN" sz="800">
                          <a:cs typeface="宋体" panose="02010600030101010101" pitchFamily="2" charset="-122"/>
                        </a:rPr>
                        <a:t>±</a:t>
                      </a:r>
                      <a:r>
                        <a:rPr lang="en-US" altLang="zh-CN" sz="800">
                          <a:cs typeface="Arial" panose="020B0604020202020204" pitchFamily="34" charset="0"/>
                        </a:rPr>
                        <a:t>1%</a:t>
                      </a:r>
                      <a:r>
                        <a:rPr lang="zh-CN" altLang="en-US" sz="800">
                          <a:cs typeface="Arial" panose="020B0604020202020204" pitchFamily="34" charset="0"/>
                        </a:rPr>
                        <a:t>）</a:t>
                      </a:r>
                      <a:endParaRPr lang="zh-CN" altLang="en-US" sz="800">
                        <a:cs typeface="Arial" panose="020B0604020202020204" pitchFamily="34" charset="0"/>
                      </a:endParaRPr>
                    </a:p>
                  </a:txBody>
                  <a:tcPr marL="68580" marR="68580" marT="34290" marB="34290" anchor="ctr"/>
                </a:tc>
                <a:tc>
                  <a:txBody>
                    <a:bodyPr/>
                    <a:lstStyle/>
                    <a:p>
                      <a:pPr algn="ctr">
                        <a:buNone/>
                      </a:pPr>
                      <a:r>
                        <a:rPr lang="en-US" altLang="zh-CN" sz="800"/>
                        <a:t>4000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en-US" altLang="zh-CN" sz="800"/>
                    </a:p>
                  </a:txBody>
                  <a:tcPr marL="68580" marR="68580" marT="34290" marB="34290" anchor="ctr"/>
                </a:tc>
                <a:tc>
                  <a:txBody>
                    <a:bodyPr/>
                    <a:lstStyle/>
                    <a:p>
                      <a:pPr algn="ctr">
                        <a:buNone/>
                      </a:pPr>
                      <a:r>
                        <a:rPr lang="en-US" altLang="zh-CN" sz="800"/>
                        <a:t>6000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en-US" altLang="zh-CN" sz="800"/>
                    </a:p>
                  </a:txBody>
                  <a:tcPr marL="68580" marR="68580" marT="34290" marB="34290" anchor="ctr"/>
                </a:tc>
              </a:tr>
              <a:tr h="285750">
                <a:tc>
                  <a:txBody>
                    <a:bodyPr/>
                    <a:lstStyle/>
                    <a:p>
                      <a:pPr algn="ctr">
                        <a:buNone/>
                      </a:pPr>
                      <a:r>
                        <a:rPr lang="zh-CN" altLang="en-US" sz="800"/>
                        <a:t>能效比</a:t>
                      </a:r>
                      <a:endParaRPr lang="zh-CN" altLang="en-US" sz="800"/>
                    </a:p>
                  </a:txBody>
                  <a:tcPr marL="68580" marR="68580" marT="34290" marB="34290" anchor="ctr"/>
                </a:tc>
                <a:tc>
                  <a:txBody>
                    <a:bodyPr/>
                    <a:lstStyle/>
                    <a:p>
                      <a:pPr algn="ctr">
                        <a:buNone/>
                      </a:pPr>
                      <a:r>
                        <a:rPr lang="zh-CN" altLang="en-US" sz="800">
                          <a:latin typeface="宋体" panose="02010600030101010101" pitchFamily="2" charset="-122"/>
                          <a:ea typeface="宋体" panose="02010600030101010101" pitchFamily="2" charset="-122"/>
                        </a:rPr>
                        <a:t>≥</a:t>
                      </a:r>
                      <a:r>
                        <a:rPr lang="en-US" altLang="zh-CN" sz="800">
                          <a:latin typeface="宋体" panose="02010600030101010101" pitchFamily="2" charset="-122"/>
                          <a:ea typeface="宋体" panose="02010600030101010101" pitchFamily="2" charset="-122"/>
                        </a:rPr>
                        <a:t>1.0</a:t>
                      </a:r>
                      <a:endParaRPr lang="en-US" altLang="zh-CN" sz="800">
                        <a:latin typeface="宋体" panose="02010600030101010101" pitchFamily="2" charset="-122"/>
                        <a:ea typeface="宋体" panose="02010600030101010101" pitchFamily="2" charset="-122"/>
                      </a:endParaRPr>
                    </a:p>
                  </a:txBody>
                  <a:tcPr marL="68580" marR="68580" marT="34290" marB="34290" anchor="ctr"/>
                </a:tc>
                <a:tc>
                  <a:txBody>
                    <a:bodyPr/>
                    <a:lstStyle/>
                    <a:p>
                      <a:pPr algn="ctr">
                        <a:buNone/>
                      </a:pPr>
                      <a:r>
                        <a:rPr lang="zh-CN" altLang="en-US" sz="1000">
                          <a:latin typeface="宋体" panose="02010600030101010101" pitchFamily="2" charset="-122"/>
                          <a:ea typeface="宋体" panose="02010600030101010101" pitchFamily="2" charset="-122"/>
                          <a:sym typeface="+mn-ea"/>
                        </a:rPr>
                        <a:t>≥</a:t>
                      </a:r>
                      <a:r>
                        <a:rPr lang="en-US" altLang="zh-CN" sz="1000">
                          <a:latin typeface="宋体" panose="02010600030101010101" pitchFamily="2" charset="-122"/>
                          <a:ea typeface="宋体" panose="02010600030101010101" pitchFamily="2" charset="-122"/>
                          <a:sym typeface="+mn-ea"/>
                        </a:rPr>
                        <a:t>1.4</a:t>
                      </a:r>
                      <a:endParaRPr lang="zh-CN" altLang="en-US" sz="800"/>
                    </a:p>
                  </a:txBody>
                  <a:tcPr marL="68580" marR="68580" marT="34290" marB="34290" anchor="ctr"/>
                </a:tc>
                <a:tc>
                  <a:txBody>
                    <a:bodyPr/>
                    <a:lstStyle/>
                    <a:p>
                      <a:pPr algn="ctr">
                        <a:buNone/>
                      </a:pPr>
                      <a:r>
                        <a:rPr lang="zh-CN" altLang="en-US" sz="1000">
                          <a:latin typeface="宋体" panose="02010600030101010101" pitchFamily="2" charset="-122"/>
                          <a:ea typeface="宋体" panose="02010600030101010101" pitchFamily="2" charset="-122"/>
                          <a:sym typeface="+mn-ea"/>
                        </a:rPr>
                        <a:t>≥</a:t>
                      </a:r>
                      <a:r>
                        <a:rPr lang="en-US" altLang="zh-CN" sz="1000">
                          <a:latin typeface="宋体" panose="02010600030101010101" pitchFamily="2" charset="-122"/>
                          <a:ea typeface="宋体" panose="02010600030101010101" pitchFamily="2" charset="-122"/>
                          <a:sym typeface="+mn-ea"/>
                        </a:rPr>
                        <a:t>1.3</a:t>
                      </a:r>
                      <a:endParaRPr lang="zh-CN" altLang="en-US" sz="800"/>
                    </a:p>
                  </a:txBody>
                  <a:tcPr marL="68580" marR="68580" marT="34290" marB="34290" anchor="ctr"/>
                </a:tc>
              </a:tr>
            </a:tbl>
          </a:graphicData>
        </a:graphic>
      </p:graphicFrame>
      <p:graphicFrame>
        <p:nvGraphicFramePr>
          <p:cNvPr id="7" name="表格 6"/>
          <p:cNvGraphicFramePr/>
          <p:nvPr/>
        </p:nvGraphicFramePr>
        <p:xfrm>
          <a:off x="1372554" y="2943225"/>
          <a:ext cx="7302342" cy="1428750"/>
        </p:xfrm>
        <a:graphic>
          <a:graphicData uri="http://schemas.openxmlformats.org/drawingml/2006/table">
            <a:tbl>
              <a:tblPr firstRow="1" bandRow="1">
                <a:tableStyleId>{5C22544A-7EE6-4342-B048-85BDC9FD1C3A}</a:tableStyleId>
              </a:tblPr>
              <a:tblGrid>
                <a:gridCol w="1217295"/>
                <a:gridCol w="1216819"/>
                <a:gridCol w="1217295"/>
                <a:gridCol w="1216819"/>
                <a:gridCol w="1217295"/>
                <a:gridCol w="1216819"/>
              </a:tblGrid>
              <a:tr h="285750">
                <a:tc>
                  <a:txBody>
                    <a:bodyPr/>
                    <a:lstStyle/>
                    <a:p>
                      <a:pPr algn="ctr">
                        <a:buNone/>
                      </a:pPr>
                      <a:r>
                        <a:rPr lang="zh-CN" altLang="en-US" sz="1000">
                          <a:sym typeface="+mn-ea"/>
                        </a:rPr>
                        <a:t>转速</a:t>
                      </a:r>
                      <a:r>
                        <a:rPr lang="en-US" altLang="zh-CN" sz="1000">
                          <a:sym typeface="+mn-ea"/>
                        </a:rPr>
                        <a:t>/</a:t>
                      </a:r>
                      <a:r>
                        <a:rPr lang="zh-CN" altLang="en-US" sz="1000">
                          <a:sym typeface="+mn-ea"/>
                        </a:rPr>
                        <a:t>（</a:t>
                      </a:r>
                      <a:r>
                        <a:rPr lang="en-US" altLang="zh-CN" sz="1000">
                          <a:sym typeface="+mn-ea"/>
                        </a:rPr>
                        <a:t>r/min</a:t>
                      </a:r>
                      <a:r>
                        <a:rPr lang="zh-CN" altLang="en-US" sz="1000">
                          <a:sym typeface="+mn-ea"/>
                        </a:rPr>
                        <a:t>）</a:t>
                      </a:r>
                      <a:endParaRPr lang="zh-CN" altLang="en-US" sz="800"/>
                    </a:p>
                  </a:txBody>
                  <a:tcPr marL="68580" marR="68580" marT="34290" marB="34290" anchor="ctr"/>
                </a:tc>
                <a:tc>
                  <a:txBody>
                    <a:bodyPr/>
                    <a:lstStyle/>
                    <a:p>
                      <a:pPr algn="ctr">
                        <a:buNone/>
                      </a:pPr>
                      <a:r>
                        <a:rPr lang="zh-CN" altLang="en-US" sz="800"/>
                        <a:t>电压</a:t>
                      </a:r>
                      <a:r>
                        <a:rPr lang="en-US" altLang="zh-CN" sz="800"/>
                        <a:t>/V</a:t>
                      </a:r>
                      <a:endParaRPr lang="en-US" altLang="zh-CN" sz="800"/>
                    </a:p>
                  </a:txBody>
                  <a:tcPr marL="68580" marR="68580" marT="34290" marB="34290" anchor="ctr"/>
                </a:tc>
                <a:tc>
                  <a:txBody>
                    <a:bodyPr/>
                    <a:lstStyle/>
                    <a:p>
                      <a:pPr algn="ctr">
                        <a:buNone/>
                      </a:pPr>
                      <a:r>
                        <a:rPr lang="zh-CN" altLang="en-US" sz="800"/>
                        <a:t>排气压力</a:t>
                      </a:r>
                      <a:r>
                        <a:rPr lang="en-US" altLang="zh-CN" sz="800"/>
                        <a:t>/MPa</a:t>
                      </a:r>
                      <a:endParaRPr lang="en-US" altLang="zh-CN" sz="800"/>
                    </a:p>
                  </a:txBody>
                  <a:tcPr marL="68580" marR="68580" marT="34290" marB="34290" anchor="ctr"/>
                </a:tc>
                <a:tc>
                  <a:txBody>
                    <a:bodyPr/>
                    <a:lstStyle/>
                    <a:p>
                      <a:pPr algn="ctr">
                        <a:buNone/>
                      </a:pPr>
                      <a:r>
                        <a:rPr lang="zh-CN" altLang="en-US" sz="800"/>
                        <a:t>吸气压力</a:t>
                      </a:r>
                      <a:r>
                        <a:rPr lang="en-US" altLang="zh-CN" sz="800"/>
                        <a:t>/</a:t>
                      </a:r>
                      <a:r>
                        <a:rPr lang="en-US" altLang="zh-CN" sz="1000">
                          <a:sym typeface="+mn-ea"/>
                        </a:rPr>
                        <a:t>MPa</a:t>
                      </a:r>
                      <a:endParaRPr lang="en-US" altLang="zh-CN" sz="800"/>
                    </a:p>
                  </a:txBody>
                  <a:tcPr marL="68580" marR="68580" marT="34290" marB="34290" anchor="ctr"/>
                </a:tc>
                <a:tc>
                  <a:txBody>
                    <a:bodyPr/>
                    <a:lstStyle/>
                    <a:p>
                      <a:pPr algn="ctr">
                        <a:buNone/>
                      </a:pPr>
                      <a:r>
                        <a:rPr lang="zh-CN" altLang="en-US" sz="800"/>
                        <a:t>过热度</a:t>
                      </a:r>
                      <a:r>
                        <a:rPr lang="en-US" altLang="zh-CN" sz="800"/>
                        <a:t>/</a:t>
                      </a:r>
                      <a:r>
                        <a:rPr lang="en-US" altLang="zh-CN" sz="800">
                          <a:latin typeface="宋体" panose="02010600030101010101" pitchFamily="2" charset="-122"/>
                          <a:cs typeface="宋体" panose="02010600030101010101" pitchFamily="2" charset="-122"/>
                        </a:rPr>
                        <a:t>℃</a:t>
                      </a:r>
                      <a:endParaRPr lang="en-US" altLang="zh-CN" sz="800">
                        <a:latin typeface="宋体" panose="02010600030101010101" pitchFamily="2" charset="-122"/>
                        <a:cs typeface="宋体" panose="02010600030101010101" pitchFamily="2" charset="-122"/>
                      </a:endParaRPr>
                    </a:p>
                  </a:txBody>
                  <a:tcPr marL="68580" marR="68580" marT="34290" marB="34290" anchor="ctr"/>
                </a:tc>
                <a:tc>
                  <a:txBody>
                    <a:bodyPr/>
                    <a:lstStyle/>
                    <a:p>
                      <a:pPr algn="ctr">
                        <a:buNone/>
                      </a:pPr>
                      <a:r>
                        <a:rPr lang="zh-CN" altLang="en-US" sz="800"/>
                        <a:t>过冷度</a:t>
                      </a:r>
                      <a:r>
                        <a:rPr lang="en-US" altLang="zh-CN" sz="800"/>
                        <a:t>/</a:t>
                      </a:r>
                      <a:r>
                        <a:rPr lang="en-US" altLang="zh-CN" sz="800">
                          <a:latin typeface="宋体" panose="02010600030101010101" pitchFamily="2" charset="-122"/>
                          <a:cs typeface="宋体" panose="02010600030101010101" pitchFamily="2" charset="-122"/>
                        </a:rPr>
                        <a:t>℃</a:t>
                      </a:r>
                      <a:endParaRPr lang="en-US" altLang="zh-CN" sz="800">
                        <a:latin typeface="宋体" panose="02010600030101010101" pitchFamily="2" charset="-122"/>
                        <a:cs typeface="宋体" panose="02010600030101010101" pitchFamily="2" charset="-122"/>
                      </a:endParaRPr>
                    </a:p>
                  </a:txBody>
                  <a:tcPr marL="68580" marR="68580" marT="34290" marB="34290" anchor="ctr"/>
                </a:tc>
              </a:tr>
              <a:tr h="285750">
                <a:tc>
                  <a:txBody>
                    <a:bodyPr/>
                    <a:lstStyle/>
                    <a:p>
                      <a:pPr algn="ctr">
                        <a:buNone/>
                      </a:pPr>
                      <a:r>
                        <a:rPr lang="en-US" altLang="zh-CN" sz="1000">
                          <a:sym typeface="+mn-ea"/>
                        </a:rPr>
                        <a:t>3000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zh-CN" altLang="en-US" sz="800"/>
                    </a:p>
                  </a:txBody>
                  <a:tcPr marL="68580" marR="68580" marT="34290" marB="34290" anchor="ctr"/>
                </a:tc>
                <a:tc rowSpan="3">
                  <a:txBody>
                    <a:bodyPr/>
                    <a:lstStyle/>
                    <a:p>
                      <a:pPr algn="ctr">
                        <a:buNone/>
                      </a:pPr>
                      <a:r>
                        <a:rPr lang="en-US" altLang="zh-CN" sz="800"/>
                        <a:t>U</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5%</a:t>
                      </a:r>
                      <a:r>
                        <a:rPr lang="zh-CN" altLang="en-US" sz="1000">
                          <a:cs typeface="Arial" panose="020B0604020202020204" pitchFamily="34" charset="0"/>
                          <a:sym typeface="+mn-ea"/>
                        </a:rPr>
                        <a:t>）</a:t>
                      </a:r>
                      <a:endParaRPr lang="en-US" altLang="zh-CN" sz="800"/>
                    </a:p>
                  </a:txBody>
                  <a:tcPr marL="68580" marR="68580" marT="34290" marB="34290" anchor="ctr"/>
                </a:tc>
                <a:tc rowSpan="3">
                  <a:txBody>
                    <a:bodyPr/>
                    <a:lstStyle/>
                    <a:p>
                      <a:pPr algn="ctr">
                        <a:buNone/>
                      </a:pPr>
                      <a:r>
                        <a:rPr lang="en-US" altLang="zh-CN" sz="800"/>
                        <a:t>1.7</a:t>
                      </a:r>
                      <a:r>
                        <a:rPr lang="en-US" altLang="zh-CN" sz="1000">
                          <a:cs typeface="宋体" panose="02010600030101010101" pitchFamily="2" charset="-122"/>
                          <a:sym typeface="+mn-ea"/>
                        </a:rPr>
                        <a:t>±0.02</a:t>
                      </a:r>
                      <a:endParaRPr lang="en-US" altLang="zh-CN" sz="800"/>
                    </a:p>
                  </a:txBody>
                  <a:tcPr marL="68580" marR="68580" marT="34290" marB="34290" anchor="ctr"/>
                </a:tc>
                <a:tc rowSpan="3">
                  <a:txBody>
                    <a:bodyPr/>
                    <a:lstStyle/>
                    <a:p>
                      <a:pPr algn="ctr">
                        <a:buNone/>
                      </a:pPr>
                      <a:r>
                        <a:rPr lang="en-US" altLang="zh-CN" sz="800"/>
                        <a:t>0.196</a:t>
                      </a:r>
                      <a:r>
                        <a:rPr lang="en-US" altLang="zh-CN" sz="1000">
                          <a:cs typeface="宋体" panose="02010600030101010101" pitchFamily="2" charset="-122"/>
                          <a:sym typeface="+mn-ea"/>
                        </a:rPr>
                        <a:t>±0.005</a:t>
                      </a:r>
                      <a:endParaRPr lang="en-US" altLang="zh-CN" sz="800"/>
                    </a:p>
                  </a:txBody>
                  <a:tcPr marL="68580" marR="68580" marT="34290" marB="34290" anchor="ctr"/>
                </a:tc>
                <a:tc rowSpan="3">
                  <a:txBody>
                    <a:bodyPr/>
                    <a:lstStyle/>
                    <a:p>
                      <a:pPr algn="ctr">
                        <a:buNone/>
                      </a:pPr>
                      <a:r>
                        <a:rPr lang="en-US" altLang="zh-CN" sz="800"/>
                        <a:t>10</a:t>
                      </a:r>
                      <a:r>
                        <a:rPr lang="en-US" altLang="zh-CN" sz="1000">
                          <a:cs typeface="宋体" panose="02010600030101010101" pitchFamily="2" charset="-122"/>
                          <a:sym typeface="+mn-ea"/>
                        </a:rPr>
                        <a:t>±1</a:t>
                      </a:r>
                      <a:endParaRPr lang="en-US" altLang="zh-CN" sz="800"/>
                    </a:p>
                  </a:txBody>
                  <a:tcPr marL="68580" marR="68580" marT="34290" marB="34290" anchor="ctr"/>
                </a:tc>
                <a:tc rowSpan="3">
                  <a:txBody>
                    <a:bodyPr/>
                    <a:lstStyle/>
                    <a:p>
                      <a:pPr algn="ctr">
                        <a:buNone/>
                      </a:pPr>
                      <a:r>
                        <a:rPr lang="en-US" altLang="zh-CN" sz="800"/>
                        <a:t>0</a:t>
                      </a:r>
                      <a:r>
                        <a:rPr lang="en-US" altLang="zh-CN" sz="1000">
                          <a:cs typeface="宋体" panose="02010600030101010101" pitchFamily="2" charset="-122"/>
                          <a:sym typeface="+mn-ea"/>
                        </a:rPr>
                        <a:t>±0.5</a:t>
                      </a:r>
                      <a:endParaRPr lang="en-US" altLang="zh-CN" sz="800"/>
                    </a:p>
                  </a:txBody>
                  <a:tcPr marL="68580" marR="68580" marT="34290" marB="34290" anchor="ctr"/>
                </a:tc>
              </a:tr>
              <a:tr h="285750">
                <a:tc>
                  <a:txBody>
                    <a:bodyPr/>
                    <a:lstStyle/>
                    <a:p>
                      <a:pPr algn="ctr">
                        <a:buNone/>
                      </a:pPr>
                      <a:r>
                        <a:rPr lang="en-US" altLang="zh-CN" sz="1000">
                          <a:sym typeface="+mn-ea"/>
                        </a:rPr>
                        <a:t>4000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zh-CN" altLang="en-US" sz="800"/>
                    </a:p>
                  </a:txBody>
                  <a:tcPr marL="68580" marR="68580" marT="34290" marB="34290" anchor="ctr"/>
                </a:tc>
                <a:tc vMerge="1">
                  <a:tcPr/>
                </a:tc>
                <a:tc vMerge="1">
                  <a:tcPr anchor="ctr"/>
                </a:tc>
                <a:tc vMerge="1">
                  <a:tcPr anchor="ctr"/>
                </a:tc>
                <a:tc vMerge="1">
                  <a:tcPr anchor="ctr"/>
                </a:tc>
                <a:tc vMerge="1">
                  <a:tcPr anchor="ctr"/>
                </a:tc>
              </a:tr>
              <a:tr h="285750">
                <a:tc>
                  <a:txBody>
                    <a:bodyPr/>
                    <a:lstStyle/>
                    <a:p>
                      <a:pPr algn="ctr">
                        <a:buNone/>
                      </a:pPr>
                      <a:r>
                        <a:rPr lang="en-US" altLang="zh-CN" sz="1000">
                          <a:sym typeface="+mn-ea"/>
                        </a:rPr>
                        <a:t>6000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zh-CN" altLang="en-US" sz="800"/>
                    </a:p>
                  </a:txBody>
                  <a:tcPr marL="68580" marR="68580" marT="34290" marB="34290" anchor="ctr"/>
                </a:tc>
                <a:tc vMerge="1">
                  <a:tcPr/>
                </a:tc>
                <a:tc vMerge="1">
                  <a:tcPr anchor="ctr"/>
                </a:tc>
                <a:tc vMerge="1">
                  <a:tcPr anchor="ctr"/>
                </a:tc>
                <a:tc vMerge="1">
                  <a:tcPr anchor="ctr"/>
                </a:tc>
                <a:tc vMerge="1">
                  <a:tcPr anchor="ctr"/>
                </a:tc>
              </a:tr>
              <a:tr h="285750">
                <a:tc gridSpan="6">
                  <a:txBody>
                    <a:bodyPr/>
                    <a:lstStyle/>
                    <a:p>
                      <a:pPr algn="l">
                        <a:buNone/>
                      </a:pPr>
                      <a:r>
                        <a:rPr lang="en-US" altLang="zh-CN" sz="800"/>
                        <a:t>U</a:t>
                      </a:r>
                      <a:r>
                        <a:rPr lang="zh-CN" altLang="en-US" sz="800"/>
                        <a:t>为额定电压</a:t>
                      </a:r>
                      <a:endParaRPr lang="zh-CN" altLang="en-US" sz="800"/>
                    </a:p>
                  </a:txBody>
                  <a:tcPr marL="68580" marR="68580" marT="34290" marB="34290" anchor="ctr"/>
                </a:tc>
                <a:tc hMerge="1">
                  <a:tcPr/>
                </a:tc>
                <a:tc hMerge="1">
                  <a:tcPr/>
                </a:tc>
                <a:tc hMerge="1">
                  <a:tcPr/>
                </a:tc>
                <a:tc hMerge="1">
                  <a:tcPr/>
                </a:tc>
                <a:tc hMerge="1">
                  <a:tcPr/>
                </a:tc>
              </a:tr>
            </a:tbl>
          </a:graphicData>
        </a:graphic>
      </p:graphicFrame>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72552" y="942975"/>
            <a:ext cx="7332345" cy="1851184"/>
          </a:xfrm>
        </p:spPr>
        <p:txBody>
          <a:bodyPr/>
          <a:lstStyle/>
          <a:p>
            <a:r>
              <a:rPr lang="zh-CN" altLang="en-US" dirty="0"/>
              <a:t>噪声</a:t>
            </a:r>
            <a:endParaRPr lang="zh-CN" altLang="en-US" dirty="0"/>
          </a:p>
          <a:p>
            <a:r>
              <a:rPr lang="zh-CN" altLang="en-US" sz="1400" dirty="0"/>
              <a:t>机械噪声</a:t>
            </a:r>
            <a:endParaRPr lang="zh-CN" altLang="en-US" sz="1400" dirty="0"/>
          </a:p>
          <a:p>
            <a:r>
              <a:rPr lang="zh-CN" altLang="en-US" sz="1400" dirty="0"/>
              <a:t>主要来自于：紧固件松动、滚动轴承磨损、摩擦副润滑不良、压缩机排气等</a:t>
            </a:r>
            <a:endParaRPr lang="zh-CN" altLang="en-US" dirty="0"/>
          </a:p>
          <a:p>
            <a:r>
              <a:rPr lang="zh-CN" altLang="en-US" sz="1400" dirty="0"/>
              <a:t>电器噪声</a:t>
            </a:r>
            <a:endParaRPr lang="zh-CN" altLang="en-US" sz="1400" dirty="0"/>
          </a:p>
          <a:p>
            <a:r>
              <a:rPr lang="zh-CN" altLang="en-US" sz="1400" dirty="0"/>
              <a:t>主要来自于：电机运转产生的电磁噪声、电机振动产生的噪声</a:t>
            </a:r>
            <a:endParaRPr lang="zh-CN" altLang="en-US" sz="1400" dirty="0"/>
          </a:p>
        </p:txBody>
      </p:sp>
      <p:graphicFrame>
        <p:nvGraphicFramePr>
          <p:cNvPr id="4" name="表格 3"/>
          <p:cNvGraphicFramePr/>
          <p:nvPr/>
        </p:nvGraphicFramePr>
        <p:xfrm>
          <a:off x="1372554" y="3127534"/>
          <a:ext cx="6398896" cy="857250"/>
        </p:xfrm>
        <a:graphic>
          <a:graphicData uri="http://schemas.openxmlformats.org/drawingml/2006/table">
            <a:tbl>
              <a:tblPr firstRow="1" bandRow="1">
                <a:tableStyleId>{5C22544A-7EE6-4342-B048-85BDC9FD1C3A}</a:tableStyleId>
              </a:tblPr>
              <a:tblGrid>
                <a:gridCol w="799862"/>
                <a:gridCol w="799862"/>
                <a:gridCol w="1599724"/>
                <a:gridCol w="1599724"/>
                <a:gridCol w="1599724"/>
              </a:tblGrid>
              <a:tr h="285750">
                <a:tc gridSpan="2">
                  <a:txBody>
                    <a:bodyPr/>
                    <a:lstStyle/>
                    <a:p>
                      <a:pPr algn="ctr">
                        <a:buNone/>
                      </a:pPr>
                      <a:r>
                        <a:rPr lang="zh-CN" altLang="en-US" sz="800"/>
                        <a:t>转速</a:t>
                      </a:r>
                      <a:r>
                        <a:rPr lang="en-US" altLang="zh-CN" sz="800"/>
                        <a:t>/</a:t>
                      </a:r>
                      <a:r>
                        <a:rPr lang="zh-CN" altLang="en-US" sz="800"/>
                        <a:t>（</a:t>
                      </a:r>
                      <a:r>
                        <a:rPr lang="en-US" altLang="zh-CN" sz="800"/>
                        <a:t>r/min</a:t>
                      </a:r>
                      <a:r>
                        <a:rPr lang="zh-CN" altLang="en-US" sz="800"/>
                        <a:t>）</a:t>
                      </a:r>
                      <a:endParaRPr lang="zh-CN" altLang="en-US" sz="800"/>
                    </a:p>
                  </a:txBody>
                  <a:tcPr marL="68580" marR="68580" marT="34290" marB="34290" anchor="ctr"/>
                </a:tc>
                <a:tc hMerge="1">
                  <a:tcPr anchor="ctr"/>
                </a:tc>
                <a:tc>
                  <a:txBody>
                    <a:bodyPr/>
                    <a:lstStyle/>
                    <a:p>
                      <a:pPr algn="ctr">
                        <a:buNone/>
                      </a:pPr>
                      <a:r>
                        <a:rPr lang="en-US" altLang="zh-CN" sz="800"/>
                        <a:t>3000</a:t>
                      </a:r>
                      <a:r>
                        <a:rPr lang="en-US" altLang="zh-CN" sz="800">
                          <a:cs typeface="Arial" panose="020B0604020202020204" pitchFamily="34" charset="0"/>
                        </a:rPr>
                        <a:t>×</a:t>
                      </a:r>
                      <a:r>
                        <a:rPr lang="zh-CN" altLang="en-US" sz="800">
                          <a:cs typeface="Arial" panose="020B0604020202020204" pitchFamily="34" charset="0"/>
                        </a:rPr>
                        <a:t>（</a:t>
                      </a:r>
                      <a:r>
                        <a:rPr lang="en-US" altLang="zh-CN" sz="800">
                          <a:cs typeface="Arial" panose="020B0604020202020204" pitchFamily="34" charset="0"/>
                        </a:rPr>
                        <a:t>1</a:t>
                      </a:r>
                      <a:r>
                        <a:rPr lang="en-US" altLang="zh-CN" sz="800">
                          <a:cs typeface="宋体" panose="02010600030101010101" pitchFamily="2" charset="-122"/>
                        </a:rPr>
                        <a:t>±</a:t>
                      </a:r>
                      <a:r>
                        <a:rPr lang="en-US" altLang="zh-CN" sz="800">
                          <a:cs typeface="Arial" panose="020B0604020202020204" pitchFamily="34" charset="0"/>
                        </a:rPr>
                        <a:t>1%</a:t>
                      </a:r>
                      <a:r>
                        <a:rPr lang="zh-CN" altLang="en-US" sz="800">
                          <a:cs typeface="Arial" panose="020B0604020202020204" pitchFamily="34" charset="0"/>
                        </a:rPr>
                        <a:t>）</a:t>
                      </a:r>
                      <a:endParaRPr lang="zh-CN" altLang="en-US" sz="800">
                        <a:cs typeface="Arial" panose="020B0604020202020204" pitchFamily="34" charset="0"/>
                      </a:endParaRPr>
                    </a:p>
                  </a:txBody>
                  <a:tcPr marL="68580" marR="68580" marT="34290" marB="34290" anchor="ctr"/>
                </a:tc>
                <a:tc>
                  <a:txBody>
                    <a:bodyPr/>
                    <a:lstStyle/>
                    <a:p>
                      <a:pPr algn="ctr">
                        <a:buNone/>
                      </a:pPr>
                      <a:r>
                        <a:rPr lang="en-US" altLang="zh-CN" sz="800"/>
                        <a:t>4000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en-US" altLang="zh-CN" sz="800"/>
                    </a:p>
                  </a:txBody>
                  <a:tcPr marL="68580" marR="68580" marT="34290" marB="34290" anchor="ctr"/>
                </a:tc>
                <a:tc>
                  <a:txBody>
                    <a:bodyPr/>
                    <a:lstStyle/>
                    <a:p>
                      <a:pPr algn="ctr">
                        <a:buNone/>
                      </a:pPr>
                      <a:r>
                        <a:rPr lang="en-US" altLang="zh-CN" sz="800"/>
                        <a:t>6000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en-US" altLang="zh-CN" sz="800"/>
                    </a:p>
                  </a:txBody>
                  <a:tcPr marL="68580" marR="68580" marT="34290" marB="34290" anchor="ctr"/>
                </a:tc>
              </a:tr>
              <a:tr h="285750">
                <a:tc rowSpan="2">
                  <a:txBody>
                    <a:bodyPr/>
                    <a:lstStyle/>
                    <a:p>
                      <a:pPr algn="ctr">
                        <a:buNone/>
                      </a:pPr>
                      <a:r>
                        <a:rPr lang="zh-CN" altLang="en-US" sz="800"/>
                        <a:t>噪声值    </a:t>
                      </a:r>
                      <a:r>
                        <a:rPr lang="en-US" altLang="zh-CN" sz="800"/>
                        <a:t>dB</a:t>
                      </a:r>
                      <a:r>
                        <a:rPr lang="zh-CN" altLang="en-US" sz="800"/>
                        <a:t>（</a:t>
                      </a:r>
                      <a:r>
                        <a:rPr lang="en-US" altLang="zh-CN" sz="800"/>
                        <a:t>A</a:t>
                      </a:r>
                      <a:r>
                        <a:rPr lang="zh-CN" altLang="en-US" sz="800"/>
                        <a:t>）</a:t>
                      </a:r>
                      <a:endParaRPr lang="zh-CN" altLang="en-US" sz="800"/>
                    </a:p>
                  </a:txBody>
                  <a:tcPr marL="68580" marR="68580" marT="34290" marB="34290" anchor="ctr"/>
                </a:tc>
                <a:tc>
                  <a:txBody>
                    <a:bodyPr/>
                    <a:lstStyle/>
                    <a:p>
                      <a:pPr algn="ctr">
                        <a:buNone/>
                      </a:pPr>
                      <a:r>
                        <a:rPr lang="en-US" altLang="zh-CN" sz="800"/>
                        <a:t>A</a:t>
                      </a:r>
                      <a:r>
                        <a:rPr lang="zh-CN" altLang="en-US" sz="800"/>
                        <a:t>类</a:t>
                      </a:r>
                      <a:endParaRPr lang="zh-CN" altLang="en-US" sz="800"/>
                    </a:p>
                  </a:txBody>
                  <a:tcPr marL="68580" marR="68580" marT="34290" marB="34290" anchor="ctr"/>
                </a:tc>
                <a:tc>
                  <a:txBody>
                    <a:bodyPr/>
                    <a:lstStyle/>
                    <a:p>
                      <a:pPr algn="ctr">
                        <a:buNone/>
                      </a:pPr>
                      <a:r>
                        <a:rPr lang="en-US" altLang="zh-CN" sz="800">
                          <a:latin typeface="宋体" panose="02010600030101010101" pitchFamily="2" charset="-122"/>
                          <a:ea typeface="宋体" panose="02010600030101010101" pitchFamily="2" charset="-122"/>
                        </a:rPr>
                        <a:t>≤</a:t>
                      </a:r>
                      <a:r>
                        <a:rPr lang="en-US" altLang="zh-CN" sz="800"/>
                        <a:t>70</a:t>
                      </a:r>
                      <a:endParaRPr lang="en-US" altLang="zh-CN" sz="800"/>
                    </a:p>
                  </a:txBody>
                  <a:tcPr marL="68580" marR="68580" marT="34290" marB="34290" anchor="ctr"/>
                </a:tc>
                <a:tc>
                  <a:txBody>
                    <a:bodyPr/>
                    <a:lstStyle/>
                    <a:p>
                      <a:pPr algn="ctr">
                        <a:buNone/>
                      </a:pPr>
                      <a:r>
                        <a:rPr lang="en-US" altLang="zh-CN" sz="1000">
                          <a:latin typeface="宋体" panose="02010600030101010101" pitchFamily="2" charset="-122"/>
                          <a:ea typeface="宋体" panose="02010600030101010101" pitchFamily="2" charset="-122"/>
                          <a:sym typeface="+mn-ea"/>
                        </a:rPr>
                        <a:t>≤</a:t>
                      </a:r>
                      <a:r>
                        <a:rPr lang="en-US" altLang="zh-CN" sz="800"/>
                        <a:t>81</a:t>
                      </a:r>
                      <a:endParaRPr lang="en-US" altLang="zh-CN" sz="800"/>
                    </a:p>
                  </a:txBody>
                  <a:tcPr marL="68580" marR="68580" marT="34290" marB="34290" anchor="ctr"/>
                </a:tc>
                <a:tc>
                  <a:txBody>
                    <a:bodyPr/>
                    <a:lstStyle/>
                    <a:p>
                      <a:pPr algn="ctr">
                        <a:buNone/>
                      </a:pPr>
                      <a:r>
                        <a:rPr lang="en-US" altLang="zh-CN" sz="1000">
                          <a:latin typeface="宋体" panose="02010600030101010101" pitchFamily="2" charset="-122"/>
                          <a:ea typeface="宋体" panose="02010600030101010101" pitchFamily="2" charset="-122"/>
                          <a:sym typeface="+mn-ea"/>
                        </a:rPr>
                        <a:t>≤</a:t>
                      </a:r>
                      <a:r>
                        <a:rPr lang="en-US" altLang="zh-CN" sz="800"/>
                        <a:t>85</a:t>
                      </a:r>
                      <a:endParaRPr lang="en-US" altLang="zh-CN" sz="800"/>
                    </a:p>
                  </a:txBody>
                  <a:tcPr marL="68580" marR="68580" marT="34290" marB="34290" anchor="ctr"/>
                </a:tc>
              </a:tr>
              <a:tr h="285750">
                <a:tc vMerge="1">
                  <a:tcPr/>
                </a:tc>
                <a:tc>
                  <a:txBody>
                    <a:bodyPr/>
                    <a:lstStyle/>
                    <a:p>
                      <a:pPr algn="ctr">
                        <a:buNone/>
                      </a:pPr>
                      <a:r>
                        <a:rPr lang="en-US" altLang="zh-CN" sz="800"/>
                        <a:t>B</a:t>
                      </a:r>
                      <a:r>
                        <a:rPr lang="zh-CN" altLang="en-US" sz="800"/>
                        <a:t>类</a:t>
                      </a:r>
                      <a:endParaRPr lang="zh-CN" altLang="en-US" sz="800"/>
                    </a:p>
                  </a:txBody>
                  <a:tcPr marL="68580" marR="68580" marT="34290" marB="34290" anchor="ctr"/>
                </a:tc>
                <a:tc>
                  <a:txBody>
                    <a:bodyPr/>
                    <a:lstStyle/>
                    <a:p>
                      <a:pPr algn="ctr">
                        <a:buNone/>
                      </a:pPr>
                      <a:r>
                        <a:rPr lang="en-US" altLang="zh-CN" sz="1000">
                          <a:latin typeface="宋体" panose="02010600030101010101" pitchFamily="2" charset="-122"/>
                          <a:ea typeface="宋体" panose="02010600030101010101" pitchFamily="2" charset="-122"/>
                          <a:sym typeface="+mn-ea"/>
                        </a:rPr>
                        <a:t>≤</a:t>
                      </a:r>
                      <a:r>
                        <a:rPr lang="en-US" altLang="zh-CN" sz="800"/>
                        <a:t>74</a:t>
                      </a:r>
                      <a:endParaRPr lang="en-US" altLang="zh-CN" sz="800"/>
                    </a:p>
                  </a:txBody>
                  <a:tcPr marL="68580" marR="68580" marT="34290" marB="34290" anchor="ctr"/>
                </a:tc>
                <a:tc>
                  <a:txBody>
                    <a:bodyPr/>
                    <a:lstStyle/>
                    <a:p>
                      <a:pPr algn="ctr">
                        <a:buNone/>
                      </a:pPr>
                      <a:r>
                        <a:rPr lang="en-US" altLang="zh-CN" sz="1000">
                          <a:latin typeface="宋体" panose="02010600030101010101" pitchFamily="2" charset="-122"/>
                          <a:ea typeface="宋体" panose="02010600030101010101" pitchFamily="2" charset="-122"/>
                          <a:sym typeface="+mn-ea"/>
                        </a:rPr>
                        <a:t>≤</a:t>
                      </a:r>
                      <a:r>
                        <a:rPr lang="en-US" altLang="zh-CN" sz="800"/>
                        <a:t>85</a:t>
                      </a:r>
                      <a:endParaRPr lang="en-US" altLang="zh-CN" sz="800"/>
                    </a:p>
                  </a:txBody>
                  <a:tcPr marL="68580" marR="68580" marT="34290" marB="34290" anchor="ctr"/>
                </a:tc>
                <a:tc>
                  <a:txBody>
                    <a:bodyPr/>
                    <a:lstStyle/>
                    <a:p>
                      <a:pPr algn="ctr">
                        <a:buNone/>
                      </a:pPr>
                      <a:r>
                        <a:rPr lang="en-US" altLang="zh-CN" sz="1000">
                          <a:latin typeface="宋体" panose="02010600030101010101" pitchFamily="2" charset="-122"/>
                          <a:ea typeface="宋体" panose="02010600030101010101" pitchFamily="2" charset="-122"/>
                          <a:sym typeface="+mn-ea"/>
                        </a:rPr>
                        <a:t>≤</a:t>
                      </a:r>
                      <a:r>
                        <a:rPr lang="en-US" altLang="zh-CN" sz="800"/>
                        <a:t>90</a:t>
                      </a:r>
                      <a:endParaRPr lang="en-US" altLang="zh-CN" sz="800"/>
                    </a:p>
                  </a:txBody>
                  <a:tcPr marL="68580" marR="68580" marT="34290" marB="34290" anchor="ctr"/>
                </a:tc>
              </a:tr>
            </a:tbl>
          </a:graphicData>
        </a:graphic>
      </p:graphicFrame>
      <p:sp>
        <p:nvSpPr>
          <p:cNvPr id="5" name="灯片编号占位符 4"/>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37788" y="849630"/>
            <a:ext cx="7382351" cy="3820954"/>
          </a:xfrm>
        </p:spPr>
        <p:txBody>
          <a:bodyPr/>
          <a:lstStyle/>
          <a:p>
            <a:r>
              <a:rPr lang="zh-CN" altLang="en-US" dirty="0"/>
              <a:t>清洁度</a:t>
            </a:r>
            <a:endParaRPr lang="zh-CN" altLang="en-US" dirty="0"/>
          </a:p>
          <a:p>
            <a:r>
              <a:rPr lang="zh-CN" altLang="en-US" sz="1400" dirty="0"/>
              <a:t>电动压缩机内部杂质总质量小于</a:t>
            </a:r>
            <a:r>
              <a:rPr lang="en-US" altLang="zh-CN" sz="1400" dirty="0"/>
              <a:t>40mg</a:t>
            </a:r>
            <a:endParaRPr lang="en-US" altLang="zh-CN" sz="1400" dirty="0"/>
          </a:p>
          <a:p>
            <a:endParaRPr lang="zh-CN" altLang="en-US" sz="1400" dirty="0"/>
          </a:p>
          <a:p>
            <a:r>
              <a:rPr lang="zh-CN" altLang="en-US" dirty="0"/>
              <a:t>含水率</a:t>
            </a:r>
            <a:endParaRPr lang="zh-CN" altLang="en-US" dirty="0"/>
          </a:p>
          <a:p>
            <a:r>
              <a:rPr lang="zh-CN" altLang="en-US" sz="1400" dirty="0"/>
              <a:t>电动压缩机装配后</a:t>
            </a:r>
            <a:r>
              <a:rPr lang="en-US" altLang="zh-CN" sz="1400" dirty="0"/>
              <a:t>24h</a:t>
            </a:r>
            <a:r>
              <a:rPr sz="1400" dirty="0"/>
              <a:t>内，内部的含水率不超过</a:t>
            </a:r>
            <a:r>
              <a:rPr lang="en-US" altLang="zh-CN" sz="1400" dirty="0"/>
              <a:t>1500</a:t>
            </a:r>
            <a:r>
              <a:rPr lang="en-US" altLang="zh-CN" sz="1400" dirty="0">
                <a:cs typeface="Arial" panose="020B0604020202020204" pitchFamily="34" charset="0"/>
              </a:rPr>
              <a:t>ppm</a:t>
            </a:r>
            <a:endParaRPr lang="en-US" altLang="zh-CN" sz="1400" dirty="0">
              <a:cs typeface="Arial" panose="020B0604020202020204" pitchFamily="34" charset="0"/>
            </a:endParaRPr>
          </a:p>
          <a:p>
            <a:endParaRPr lang="en-US" altLang="zh-CN" sz="1400" dirty="0">
              <a:cs typeface="Arial" panose="020B0604020202020204" pitchFamily="34" charset="0"/>
            </a:endParaRPr>
          </a:p>
          <a:p>
            <a:r>
              <a:rPr dirty="0" err="1">
                <a:cs typeface="Arial" panose="020B0604020202020204" pitchFamily="34" charset="0"/>
              </a:rPr>
              <a:t>密封性</a:t>
            </a:r>
            <a:endParaRPr dirty="0">
              <a:cs typeface="Arial" panose="020B0604020202020204" pitchFamily="34" charset="0"/>
            </a:endParaRPr>
          </a:p>
          <a:p>
            <a:r>
              <a:rPr sz="1400" dirty="0">
                <a:cs typeface="Arial" panose="020B0604020202020204" pitchFamily="34" charset="0"/>
              </a:rPr>
              <a:t>电动压缩机总泄漏量不应超过</a:t>
            </a:r>
            <a:r>
              <a:rPr lang="en-US" altLang="zh-CN" sz="1400" dirty="0">
                <a:cs typeface="Arial" panose="020B0604020202020204" pitchFamily="34" charset="0"/>
              </a:rPr>
              <a:t>15g/</a:t>
            </a:r>
            <a:r>
              <a:rPr sz="1400" dirty="0">
                <a:cs typeface="Arial" panose="020B0604020202020204" pitchFamily="34" charset="0"/>
              </a:rPr>
              <a:t>年</a:t>
            </a:r>
            <a:endParaRPr sz="1400" dirty="0">
              <a:cs typeface="Arial" panose="020B0604020202020204" pitchFamily="34" charset="0"/>
            </a:endParaRPr>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87793" y="884874"/>
            <a:ext cx="7332345" cy="3929539"/>
          </a:xfrm>
        </p:spPr>
        <p:txBody>
          <a:bodyPr/>
          <a:lstStyle/>
          <a:p>
            <a:r>
              <a:rPr lang="zh-CN" altLang="en-US" dirty="0"/>
              <a:t>绝缘电阻</a:t>
            </a:r>
            <a:endParaRPr lang="zh-CN" altLang="en-US" dirty="0"/>
          </a:p>
          <a:p>
            <a:r>
              <a:rPr lang="zh-CN" altLang="en-US" sz="1400" dirty="0"/>
              <a:t>电机定子绕组对外壳绝缘电阻大于</a:t>
            </a:r>
            <a:r>
              <a:rPr lang="en-US" altLang="zh-CN" sz="1400" dirty="0"/>
              <a:t>50M</a:t>
            </a:r>
            <a:r>
              <a:rPr lang="en-US" altLang="zh-CN" sz="1400" dirty="0">
                <a:cs typeface="宋体" panose="02010600030101010101" pitchFamily="2" charset="-122"/>
              </a:rPr>
              <a:t>Ω</a:t>
            </a:r>
            <a:endParaRPr lang="en-US" altLang="zh-CN" sz="1400" dirty="0">
              <a:cs typeface="宋体" panose="02010600030101010101" pitchFamily="2" charset="-122"/>
            </a:endParaRPr>
          </a:p>
          <a:p>
            <a:endParaRPr lang="zh-CN" altLang="en-US" sz="1400" dirty="0"/>
          </a:p>
          <a:p>
            <a:r>
              <a:rPr lang="zh-CN" altLang="en-US" dirty="0"/>
              <a:t>耐腐蚀性</a:t>
            </a:r>
            <a:endParaRPr lang="zh-CN" altLang="en-US" dirty="0"/>
          </a:p>
          <a:p>
            <a:r>
              <a:rPr lang="en-US" altLang="zh-CN" sz="1400" dirty="0"/>
              <a:t>96h</a:t>
            </a:r>
            <a:r>
              <a:rPr lang="zh-CN" altLang="en-US" sz="1400" dirty="0"/>
              <a:t>盐雾试验后</a:t>
            </a:r>
            <a:r>
              <a:rPr lang="en-US" altLang="zh-CN" sz="1400" dirty="0"/>
              <a:t>,</a:t>
            </a:r>
            <a:r>
              <a:rPr sz="1400" dirty="0"/>
              <a:t>压缩机表面不应有大于</a:t>
            </a:r>
            <a:r>
              <a:rPr lang="en-US" altLang="zh-CN" sz="1400" dirty="0"/>
              <a:t>10%</a:t>
            </a:r>
            <a:r>
              <a:rPr sz="1400" dirty="0"/>
              <a:t>面积的红锈、气泡、蠕变、粘着及功能丧失，压缩机能正常工作</a:t>
            </a:r>
            <a:endParaRPr sz="1400" dirty="0"/>
          </a:p>
          <a:p>
            <a:endParaRPr lang="zh-CN" altLang="en-US" dirty="0"/>
          </a:p>
        </p:txBody>
      </p:sp>
      <p:sp>
        <p:nvSpPr>
          <p:cNvPr id="4" name="灯片编号占位符 3"/>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1366361" y="985362"/>
            <a:ext cx="7332345" cy="2814638"/>
          </a:xfrm>
        </p:spPr>
        <p:txBody>
          <a:bodyPr/>
          <a:lstStyle/>
          <a:p>
            <a:r>
              <a:rPr lang="zh-CN" altLang="en-US"/>
              <a:t>耐久性</a:t>
            </a:r>
            <a:endParaRPr lang="zh-CN" altLang="en-US"/>
          </a:p>
        </p:txBody>
      </p:sp>
      <p:graphicFrame>
        <p:nvGraphicFramePr>
          <p:cNvPr id="7" name="表格 6"/>
          <p:cNvGraphicFramePr/>
          <p:nvPr/>
        </p:nvGraphicFramePr>
        <p:xfrm>
          <a:off x="1366362" y="1742599"/>
          <a:ext cx="7294722" cy="1428750"/>
        </p:xfrm>
        <a:graphic>
          <a:graphicData uri="http://schemas.openxmlformats.org/drawingml/2006/table">
            <a:tbl>
              <a:tblPr firstRow="1" bandRow="1">
                <a:tableStyleId>{5C22544A-7EE6-4342-B048-85BDC9FD1C3A}</a:tableStyleId>
              </a:tblPr>
              <a:tblGrid>
                <a:gridCol w="1209675"/>
                <a:gridCol w="1216819"/>
                <a:gridCol w="1217295"/>
                <a:gridCol w="1216819"/>
                <a:gridCol w="1217295"/>
                <a:gridCol w="1216819"/>
              </a:tblGrid>
              <a:tr h="285750">
                <a:tc>
                  <a:txBody>
                    <a:bodyPr/>
                    <a:lstStyle/>
                    <a:p>
                      <a:pPr algn="ctr">
                        <a:buNone/>
                      </a:pPr>
                      <a:r>
                        <a:rPr lang="zh-CN" altLang="en-US" sz="1000">
                          <a:sym typeface="+mn-ea"/>
                        </a:rPr>
                        <a:t>转速</a:t>
                      </a:r>
                      <a:r>
                        <a:rPr lang="en-US" altLang="zh-CN" sz="1000">
                          <a:sym typeface="+mn-ea"/>
                        </a:rPr>
                        <a:t>/</a:t>
                      </a:r>
                      <a:r>
                        <a:rPr lang="zh-CN" altLang="en-US" sz="1000">
                          <a:sym typeface="+mn-ea"/>
                        </a:rPr>
                        <a:t>（</a:t>
                      </a:r>
                      <a:r>
                        <a:rPr lang="en-US" altLang="zh-CN" sz="1000">
                          <a:sym typeface="+mn-ea"/>
                        </a:rPr>
                        <a:t>r/min</a:t>
                      </a:r>
                      <a:r>
                        <a:rPr lang="zh-CN" altLang="en-US" sz="1000">
                          <a:sym typeface="+mn-ea"/>
                        </a:rPr>
                        <a:t>）</a:t>
                      </a:r>
                      <a:endParaRPr lang="zh-CN" altLang="en-US" sz="800"/>
                    </a:p>
                  </a:txBody>
                  <a:tcPr marL="68580" marR="68580" marT="34290" marB="34290" anchor="ctr"/>
                </a:tc>
                <a:tc>
                  <a:txBody>
                    <a:bodyPr/>
                    <a:lstStyle/>
                    <a:p>
                      <a:pPr algn="ctr">
                        <a:buNone/>
                      </a:pPr>
                      <a:r>
                        <a:rPr lang="zh-CN" altLang="en-US" sz="800"/>
                        <a:t>电压</a:t>
                      </a:r>
                      <a:r>
                        <a:rPr lang="en-US" altLang="zh-CN" sz="800"/>
                        <a:t>/V</a:t>
                      </a:r>
                      <a:endParaRPr lang="en-US" altLang="zh-CN" sz="800"/>
                    </a:p>
                  </a:txBody>
                  <a:tcPr marL="68580" marR="68580" marT="34290" marB="34290" anchor="ctr"/>
                </a:tc>
                <a:tc>
                  <a:txBody>
                    <a:bodyPr/>
                    <a:lstStyle/>
                    <a:p>
                      <a:pPr algn="ctr">
                        <a:buNone/>
                      </a:pPr>
                      <a:r>
                        <a:rPr lang="zh-CN" altLang="en-US" sz="800"/>
                        <a:t>排气压力</a:t>
                      </a:r>
                      <a:r>
                        <a:rPr lang="en-US" altLang="zh-CN" sz="800"/>
                        <a:t>/MPa</a:t>
                      </a:r>
                      <a:endParaRPr lang="en-US" altLang="zh-CN" sz="800"/>
                    </a:p>
                  </a:txBody>
                  <a:tcPr marL="68580" marR="68580" marT="34290" marB="34290" anchor="ctr"/>
                </a:tc>
                <a:tc>
                  <a:txBody>
                    <a:bodyPr/>
                    <a:lstStyle/>
                    <a:p>
                      <a:pPr algn="ctr">
                        <a:buNone/>
                      </a:pPr>
                      <a:r>
                        <a:rPr lang="zh-CN" altLang="en-US" sz="800"/>
                        <a:t>吸气压力</a:t>
                      </a:r>
                      <a:r>
                        <a:rPr lang="en-US" altLang="zh-CN" sz="800"/>
                        <a:t>/</a:t>
                      </a:r>
                      <a:r>
                        <a:rPr lang="en-US" altLang="zh-CN" sz="1000">
                          <a:sym typeface="+mn-ea"/>
                        </a:rPr>
                        <a:t>MPa</a:t>
                      </a:r>
                      <a:endParaRPr lang="en-US" altLang="zh-CN" sz="800"/>
                    </a:p>
                  </a:txBody>
                  <a:tcPr marL="68580" marR="68580" marT="34290" marB="34290" anchor="ctr"/>
                </a:tc>
                <a:tc>
                  <a:txBody>
                    <a:bodyPr/>
                    <a:lstStyle/>
                    <a:p>
                      <a:pPr algn="ctr">
                        <a:buNone/>
                      </a:pPr>
                      <a:r>
                        <a:rPr lang="zh-CN" altLang="en-US" sz="800"/>
                        <a:t>过热度</a:t>
                      </a:r>
                      <a:r>
                        <a:rPr lang="en-US" altLang="zh-CN" sz="800"/>
                        <a:t>/</a:t>
                      </a:r>
                      <a:r>
                        <a:rPr lang="en-US" altLang="zh-CN" sz="800">
                          <a:latin typeface="宋体" panose="02010600030101010101" pitchFamily="2" charset="-122"/>
                          <a:cs typeface="宋体" panose="02010600030101010101" pitchFamily="2" charset="-122"/>
                        </a:rPr>
                        <a:t>℃</a:t>
                      </a:r>
                      <a:endParaRPr lang="en-US" altLang="zh-CN" sz="800">
                        <a:latin typeface="宋体" panose="02010600030101010101" pitchFamily="2" charset="-122"/>
                        <a:cs typeface="宋体" panose="02010600030101010101" pitchFamily="2" charset="-122"/>
                      </a:endParaRPr>
                    </a:p>
                  </a:txBody>
                  <a:tcPr marL="68580" marR="68580" marT="34290" marB="34290" anchor="ctr"/>
                </a:tc>
                <a:tc>
                  <a:txBody>
                    <a:bodyPr/>
                    <a:lstStyle/>
                    <a:p>
                      <a:pPr algn="ctr">
                        <a:buNone/>
                      </a:pPr>
                      <a:r>
                        <a:rPr lang="zh-CN" altLang="en-US" sz="800"/>
                        <a:t>过冷度</a:t>
                      </a:r>
                      <a:r>
                        <a:rPr lang="en-US" altLang="zh-CN" sz="800"/>
                        <a:t>/</a:t>
                      </a:r>
                      <a:r>
                        <a:rPr lang="en-US" altLang="zh-CN" sz="800">
                          <a:latin typeface="宋体" panose="02010600030101010101" pitchFamily="2" charset="-122"/>
                          <a:cs typeface="宋体" panose="02010600030101010101" pitchFamily="2" charset="-122"/>
                        </a:rPr>
                        <a:t>℃</a:t>
                      </a:r>
                      <a:endParaRPr lang="en-US" altLang="zh-CN" sz="800">
                        <a:latin typeface="宋体" panose="02010600030101010101" pitchFamily="2" charset="-122"/>
                        <a:cs typeface="宋体" panose="02010600030101010101" pitchFamily="2" charset="-122"/>
                      </a:endParaRPr>
                    </a:p>
                  </a:txBody>
                  <a:tcPr marL="68580" marR="68580" marT="34290" marB="34290" anchor="ctr"/>
                </a:tc>
              </a:tr>
              <a:tr h="285750">
                <a:tc>
                  <a:txBody>
                    <a:bodyPr/>
                    <a:lstStyle/>
                    <a:p>
                      <a:pPr algn="ctr">
                        <a:buNone/>
                      </a:pPr>
                      <a:r>
                        <a:rPr lang="en-US" altLang="zh-CN" sz="1000">
                          <a:sym typeface="+mn-ea"/>
                        </a:rPr>
                        <a:t>3000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zh-CN" altLang="en-US" sz="800"/>
                    </a:p>
                  </a:txBody>
                  <a:tcPr marL="68580" marR="68580" marT="34290" marB="34290" anchor="ctr"/>
                </a:tc>
                <a:tc rowSpan="3">
                  <a:txBody>
                    <a:bodyPr/>
                    <a:lstStyle/>
                    <a:p>
                      <a:pPr algn="ctr">
                        <a:buNone/>
                      </a:pPr>
                      <a:r>
                        <a:rPr lang="en-US" altLang="zh-CN" sz="800"/>
                        <a:t>U</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5%</a:t>
                      </a:r>
                      <a:r>
                        <a:rPr lang="zh-CN" altLang="en-US" sz="1000">
                          <a:cs typeface="Arial" panose="020B0604020202020204" pitchFamily="34" charset="0"/>
                          <a:sym typeface="+mn-ea"/>
                        </a:rPr>
                        <a:t>）</a:t>
                      </a:r>
                      <a:endParaRPr lang="en-US" altLang="zh-CN" sz="800"/>
                    </a:p>
                  </a:txBody>
                  <a:tcPr marL="68580" marR="68580" marT="34290" marB="34290" anchor="ctr"/>
                </a:tc>
                <a:tc rowSpan="3">
                  <a:txBody>
                    <a:bodyPr/>
                    <a:lstStyle/>
                    <a:p>
                      <a:pPr algn="ctr">
                        <a:buNone/>
                      </a:pPr>
                      <a:r>
                        <a:rPr lang="en-US" altLang="zh-CN" sz="800"/>
                        <a:t>1.7</a:t>
                      </a:r>
                      <a:r>
                        <a:rPr lang="en-US" altLang="zh-CN" sz="1000">
                          <a:cs typeface="宋体" panose="02010600030101010101" pitchFamily="2" charset="-122"/>
                          <a:sym typeface="+mn-ea"/>
                        </a:rPr>
                        <a:t>±0.035</a:t>
                      </a:r>
                      <a:endParaRPr lang="en-US" altLang="zh-CN" sz="800"/>
                    </a:p>
                  </a:txBody>
                  <a:tcPr marL="68580" marR="68580" marT="34290" marB="34290" anchor="ctr"/>
                </a:tc>
                <a:tc rowSpan="3">
                  <a:txBody>
                    <a:bodyPr/>
                    <a:lstStyle/>
                    <a:p>
                      <a:pPr algn="ctr">
                        <a:buNone/>
                      </a:pPr>
                      <a:r>
                        <a:rPr lang="en-US" altLang="zh-CN" sz="800"/>
                        <a:t>0.18</a:t>
                      </a:r>
                      <a:r>
                        <a:rPr lang="en-US" altLang="zh-CN" sz="1000">
                          <a:cs typeface="宋体" panose="02010600030101010101" pitchFamily="2" charset="-122"/>
                          <a:sym typeface="+mn-ea"/>
                        </a:rPr>
                        <a:t>±0.005</a:t>
                      </a:r>
                      <a:endParaRPr lang="en-US" altLang="zh-CN" sz="800"/>
                    </a:p>
                  </a:txBody>
                  <a:tcPr marL="68580" marR="68580" marT="34290" marB="34290" anchor="ctr"/>
                </a:tc>
                <a:tc rowSpan="3">
                  <a:txBody>
                    <a:bodyPr/>
                    <a:lstStyle/>
                    <a:p>
                      <a:pPr algn="ctr">
                        <a:buNone/>
                      </a:pPr>
                      <a:r>
                        <a:rPr lang="en-US" altLang="zh-CN" sz="800"/>
                        <a:t>10</a:t>
                      </a:r>
                      <a:r>
                        <a:rPr lang="en-US" altLang="zh-CN" sz="1000">
                          <a:cs typeface="宋体" panose="02010600030101010101" pitchFamily="2" charset="-122"/>
                          <a:sym typeface="+mn-ea"/>
                        </a:rPr>
                        <a:t>±1</a:t>
                      </a:r>
                      <a:endParaRPr lang="en-US" altLang="zh-CN" sz="800"/>
                    </a:p>
                  </a:txBody>
                  <a:tcPr marL="68580" marR="68580" marT="34290" marB="34290" anchor="ctr"/>
                </a:tc>
                <a:tc rowSpan="3">
                  <a:txBody>
                    <a:bodyPr/>
                    <a:lstStyle/>
                    <a:p>
                      <a:pPr algn="ctr">
                        <a:buNone/>
                      </a:pPr>
                      <a:r>
                        <a:rPr lang="en-US" altLang="zh-CN" sz="800"/>
                        <a:t>0</a:t>
                      </a:r>
                      <a:r>
                        <a:rPr lang="en-US" altLang="zh-CN" sz="1000">
                          <a:cs typeface="宋体" panose="02010600030101010101" pitchFamily="2" charset="-122"/>
                          <a:sym typeface="+mn-ea"/>
                        </a:rPr>
                        <a:t>±0.5</a:t>
                      </a:r>
                      <a:endParaRPr lang="en-US" altLang="zh-CN" sz="800"/>
                    </a:p>
                  </a:txBody>
                  <a:tcPr marL="68580" marR="68580" marT="34290" marB="34290" anchor="ctr"/>
                </a:tc>
              </a:tr>
              <a:tr h="285750">
                <a:tc>
                  <a:txBody>
                    <a:bodyPr/>
                    <a:lstStyle/>
                    <a:p>
                      <a:pPr algn="ctr">
                        <a:buNone/>
                      </a:pPr>
                      <a:r>
                        <a:rPr lang="en-US" altLang="zh-CN" sz="1000">
                          <a:sym typeface="+mn-ea"/>
                        </a:rPr>
                        <a:t>4000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zh-CN" altLang="en-US" sz="800"/>
                    </a:p>
                  </a:txBody>
                  <a:tcPr marL="68580" marR="68580" marT="34290" marB="34290" anchor="ctr"/>
                </a:tc>
                <a:tc vMerge="1">
                  <a:tcPr/>
                </a:tc>
                <a:tc vMerge="1">
                  <a:tcPr anchor="ctr"/>
                </a:tc>
                <a:tc vMerge="1">
                  <a:tcPr anchor="ctr"/>
                </a:tc>
                <a:tc vMerge="1">
                  <a:tcPr anchor="ctr"/>
                </a:tc>
                <a:tc vMerge="1">
                  <a:tcPr anchor="ctr"/>
                </a:tc>
              </a:tr>
              <a:tr h="285750">
                <a:tc>
                  <a:txBody>
                    <a:bodyPr/>
                    <a:lstStyle/>
                    <a:p>
                      <a:pPr algn="ctr">
                        <a:buNone/>
                      </a:pPr>
                      <a:r>
                        <a:rPr lang="en-US" altLang="zh-CN" sz="1000">
                          <a:sym typeface="+mn-ea"/>
                        </a:rPr>
                        <a:t>6000</a:t>
                      </a:r>
                      <a:r>
                        <a:rPr lang="en-US" altLang="zh-CN" sz="1000">
                          <a:cs typeface="Arial" panose="020B0604020202020204" pitchFamily="34" charset="0"/>
                          <a:sym typeface="+mn-ea"/>
                        </a:rPr>
                        <a:t>×</a:t>
                      </a:r>
                      <a:r>
                        <a:rPr lang="zh-CN" altLang="en-US" sz="1000">
                          <a:cs typeface="Arial" panose="020B0604020202020204" pitchFamily="34" charset="0"/>
                          <a:sym typeface="+mn-ea"/>
                        </a:rPr>
                        <a:t>（</a:t>
                      </a:r>
                      <a:r>
                        <a:rPr lang="en-US" altLang="zh-CN" sz="1000">
                          <a:cs typeface="Arial" panose="020B0604020202020204" pitchFamily="34" charset="0"/>
                          <a:sym typeface="+mn-ea"/>
                        </a:rPr>
                        <a:t>1</a:t>
                      </a:r>
                      <a:r>
                        <a:rPr lang="en-US" altLang="zh-CN" sz="1000">
                          <a:cs typeface="宋体" panose="02010600030101010101" pitchFamily="2" charset="-122"/>
                          <a:sym typeface="+mn-ea"/>
                        </a:rPr>
                        <a:t>±</a:t>
                      </a:r>
                      <a:r>
                        <a:rPr lang="en-US" altLang="zh-CN" sz="1000">
                          <a:cs typeface="Arial" panose="020B0604020202020204" pitchFamily="34" charset="0"/>
                          <a:sym typeface="+mn-ea"/>
                        </a:rPr>
                        <a:t>1%</a:t>
                      </a:r>
                      <a:r>
                        <a:rPr lang="zh-CN" altLang="en-US" sz="1000">
                          <a:cs typeface="Arial" panose="020B0604020202020204" pitchFamily="34" charset="0"/>
                          <a:sym typeface="+mn-ea"/>
                        </a:rPr>
                        <a:t>）</a:t>
                      </a:r>
                      <a:endParaRPr lang="zh-CN" altLang="en-US" sz="800"/>
                    </a:p>
                  </a:txBody>
                  <a:tcPr marL="68580" marR="68580" marT="34290" marB="34290" anchor="ctr"/>
                </a:tc>
                <a:tc vMerge="1">
                  <a:tcPr/>
                </a:tc>
                <a:tc vMerge="1">
                  <a:tcPr anchor="ctr"/>
                </a:tc>
                <a:tc vMerge="1">
                  <a:tcPr anchor="ctr"/>
                </a:tc>
                <a:tc vMerge="1">
                  <a:tcPr anchor="ctr"/>
                </a:tc>
                <a:tc vMerge="1">
                  <a:tcPr anchor="ctr"/>
                </a:tc>
              </a:tr>
              <a:tr h="285750">
                <a:tc gridSpan="6">
                  <a:txBody>
                    <a:bodyPr/>
                    <a:lstStyle/>
                    <a:p>
                      <a:pPr algn="l">
                        <a:buNone/>
                      </a:pPr>
                      <a:r>
                        <a:rPr lang="en-US" altLang="zh-CN" sz="800"/>
                        <a:t>U</a:t>
                      </a:r>
                      <a:r>
                        <a:rPr lang="zh-CN" altLang="en-US" sz="800"/>
                        <a:t>为额定电压</a:t>
                      </a:r>
                      <a:endParaRPr lang="zh-CN" altLang="en-US" sz="800"/>
                    </a:p>
                  </a:txBody>
                  <a:tcPr marL="68580" marR="68580" marT="34290" marB="34290" anchor="ctr"/>
                </a:tc>
                <a:tc hMerge="1">
                  <a:tcPr/>
                </a:tc>
                <a:tc hMerge="1">
                  <a:tcPr/>
                </a:tc>
                <a:tc hMerge="1">
                  <a:tcPr/>
                </a:tc>
                <a:tc hMerge="1">
                  <a:tcPr/>
                </a:tc>
                <a:tc hMerge="1">
                  <a:tcPr/>
                </a:tc>
              </a:tr>
            </a:tbl>
          </a:graphicData>
        </a:graphic>
      </p:graphicFrame>
      <p:sp>
        <p:nvSpPr>
          <p:cNvPr id="2" name="文本框 1"/>
          <p:cNvSpPr txBox="1"/>
          <p:nvPr/>
        </p:nvSpPr>
        <p:spPr>
          <a:xfrm>
            <a:off x="1366361" y="1466374"/>
            <a:ext cx="843819" cy="289308"/>
          </a:xfrm>
          <a:prstGeom prst="rect">
            <a:avLst/>
          </a:prstGeom>
          <a:noFill/>
        </p:spPr>
        <p:txBody>
          <a:bodyPr wrap="none" lIns="68579" tIns="34289" rIns="68579" bIns="34289" rtlCol="0">
            <a:spAutoFit/>
            <a:scene3d>
              <a:camera prst="orthographicFront"/>
              <a:lightRig rig="threePt" dir="t"/>
            </a:scene3d>
          </a:bodyPr>
          <a:lstStyle/>
          <a:p>
            <a:pPr>
              <a:lnSpc>
                <a:spcPct val="130000"/>
              </a:lnSpc>
            </a:pPr>
            <a:r>
              <a:rPr lang="zh-CN" altLang="en-US" sz="1100" dirty="0" smtClean="0">
                <a:solidFill>
                  <a:schemeClr val="accent1"/>
                </a:solidFill>
                <a:effectLst>
                  <a:outerShdw blurRad="38100" dist="25400" dir="5400000" algn="ctr" rotWithShape="0">
                    <a:srgbClr val="6E747A">
                      <a:alpha val="43000"/>
                    </a:srgbClr>
                  </a:outerShdw>
                </a:effectLst>
                <a:ea typeface="微软雅黑" panose="020B0503020204020204" pitchFamily="34" charset="-122"/>
              </a:rPr>
              <a:t>测试工况：</a:t>
            </a:r>
            <a:endParaRPr lang="zh-CN" altLang="en-US" sz="1100" dirty="0" smtClean="0">
              <a:solidFill>
                <a:schemeClr val="accent1"/>
              </a:solidFill>
              <a:effectLst>
                <a:outerShdw blurRad="38100" dist="25400" dir="5400000" algn="ctr" rotWithShape="0">
                  <a:srgbClr val="6E747A">
                    <a:alpha val="43000"/>
                  </a:srgbClr>
                </a:outerShdw>
              </a:effectLst>
              <a:ea typeface="微软雅黑" panose="020B0503020204020204" pitchFamily="34" charset="-122"/>
            </a:endParaRPr>
          </a:p>
        </p:txBody>
      </p:sp>
      <p:sp>
        <p:nvSpPr>
          <p:cNvPr id="4" name="文本框 3"/>
          <p:cNvSpPr txBox="1"/>
          <p:nvPr/>
        </p:nvSpPr>
        <p:spPr>
          <a:xfrm>
            <a:off x="1366361" y="3279457"/>
            <a:ext cx="843819" cy="289308"/>
          </a:xfrm>
          <a:prstGeom prst="rect">
            <a:avLst/>
          </a:prstGeom>
          <a:noFill/>
        </p:spPr>
        <p:txBody>
          <a:bodyPr wrap="none" lIns="68579" tIns="34289" rIns="68579" bIns="34289" rtlCol="0">
            <a:spAutoFit/>
            <a:scene3d>
              <a:camera prst="orthographicFront"/>
              <a:lightRig rig="threePt" dir="t"/>
            </a:scene3d>
          </a:bodyPr>
          <a:lstStyle/>
          <a:p>
            <a:pPr>
              <a:lnSpc>
                <a:spcPct val="130000"/>
              </a:lnSpc>
            </a:pPr>
            <a:r>
              <a:rPr lang="zh-CN" altLang="en-US" sz="1100" dirty="0" smtClean="0">
                <a:solidFill>
                  <a:schemeClr val="accent1"/>
                </a:solidFill>
                <a:effectLst>
                  <a:outerShdw blurRad="38100" dist="25400" dir="5400000" algn="ctr" rotWithShape="0">
                    <a:srgbClr val="6E747A">
                      <a:alpha val="43000"/>
                    </a:srgbClr>
                  </a:outerShdw>
                </a:effectLst>
                <a:ea typeface="微软雅黑" panose="020B0503020204020204" pitchFamily="34" charset="-122"/>
              </a:rPr>
              <a:t>测试要求：</a:t>
            </a:r>
            <a:endParaRPr lang="zh-CN" altLang="en-US" sz="1100" dirty="0" smtClean="0">
              <a:solidFill>
                <a:schemeClr val="accent1"/>
              </a:solidFill>
              <a:effectLst>
                <a:outerShdw blurRad="38100" dist="25400" dir="5400000" algn="ctr" rotWithShape="0">
                  <a:srgbClr val="6E747A">
                    <a:alpha val="43000"/>
                  </a:srgbClr>
                </a:outerShdw>
              </a:effectLst>
              <a:ea typeface="微软雅黑" panose="020B0503020204020204" pitchFamily="34" charset="-122"/>
            </a:endParaRPr>
          </a:p>
        </p:txBody>
      </p:sp>
      <p:sp>
        <p:nvSpPr>
          <p:cNvPr id="6" name="灯片编号占位符 5"/>
          <p:cNvSpPr>
            <a:spLocks noGrp="1"/>
          </p:cNvSpPr>
          <p:nvPr>
            <p:ph type="sldNum" sz="quarter" idx="12"/>
          </p:nvPr>
        </p:nvSpPr>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
        <p:nvSpPr>
          <p:cNvPr id="5" name="文本框 4"/>
          <p:cNvSpPr txBox="1"/>
          <p:nvPr/>
        </p:nvSpPr>
        <p:spPr>
          <a:xfrm>
            <a:off x="1407160" y="3634740"/>
            <a:ext cx="6031865" cy="368300"/>
          </a:xfrm>
          <a:prstGeom prst="rect">
            <a:avLst/>
          </a:prstGeom>
          <a:noFill/>
        </p:spPr>
        <p:txBody>
          <a:bodyPr wrap="square" rtlCol="0">
            <a:spAutoFit/>
          </a:bodyPr>
          <a:p>
            <a:pPr>
              <a:lnSpc>
                <a:spcPct val="130000"/>
              </a:lnSpc>
            </a:pPr>
            <a:r>
              <a:rPr lang="zh-CN" altLang="en-US" sz="1400" dirty="0" smtClean="0">
                <a:ln/>
                <a:solidFill>
                  <a:schemeClr val="accent1"/>
                </a:solidFill>
                <a:effectLst/>
                <a:latin typeface="楷体" panose="02010609060101010101" charset="-122"/>
                <a:ea typeface="楷体" panose="02010609060101010101" charset="-122"/>
              </a:rPr>
              <a:t>耐久性测试时间：在额定工况下运行</a:t>
            </a:r>
            <a:r>
              <a:rPr lang="en-US" altLang="zh-CN" sz="1400" dirty="0" smtClean="0">
                <a:ln/>
                <a:solidFill>
                  <a:schemeClr val="accent1"/>
                </a:solidFill>
                <a:effectLst/>
                <a:latin typeface="楷体" panose="02010609060101010101" charset="-122"/>
                <a:ea typeface="楷体" panose="02010609060101010101" charset="-122"/>
              </a:rPr>
              <a:t>1000</a:t>
            </a:r>
            <a:r>
              <a:rPr lang="zh-CN" altLang="en-US" sz="1400" dirty="0" smtClean="0">
                <a:ln/>
                <a:solidFill>
                  <a:schemeClr val="accent1"/>
                </a:solidFill>
                <a:effectLst/>
                <a:latin typeface="楷体" panose="02010609060101010101" charset="-122"/>
                <a:ea typeface="楷体" panose="02010609060101010101" charset="-122"/>
              </a:rPr>
              <a:t>小时。</a:t>
            </a:r>
            <a:endParaRPr lang="zh-CN" altLang="en-US" sz="1400" dirty="0" smtClean="0">
              <a:ln/>
              <a:solidFill>
                <a:schemeClr val="accent1"/>
              </a:solidFill>
              <a:effectLst/>
              <a:latin typeface="楷体" panose="02010609060101010101" charset="-122"/>
              <a:ea typeface="楷体" panose="02010609060101010101" charset="-122"/>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3" name="直接连接符 32"/>
          <p:cNvCxnSpPr/>
          <p:nvPr>
            <p:custDataLst>
              <p:tags r:id="rId1"/>
            </p:custDataLst>
          </p:nvPr>
        </p:nvCxnSpPr>
        <p:spPr>
          <a:xfrm rot="5400000">
            <a:off x="3778449" y="2565202"/>
            <a:ext cx="5130404"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4" name="直接连接符 33"/>
          <p:cNvCxnSpPr/>
          <p:nvPr>
            <p:custDataLst>
              <p:tags r:id="rId2"/>
            </p:custDataLst>
          </p:nvPr>
        </p:nvCxnSpPr>
        <p:spPr>
          <a:xfrm rot="5400000">
            <a:off x="3910608" y="2565202"/>
            <a:ext cx="5130404"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custDataLst>
              <p:tags r:id="rId3"/>
            </p:custDataLst>
          </p:nvPr>
        </p:nvCxnSpPr>
        <p:spPr>
          <a:xfrm>
            <a:off x="0" y="2853929"/>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8" name="直接连接符 37"/>
          <p:cNvCxnSpPr/>
          <p:nvPr>
            <p:custDataLst>
              <p:tags r:id="rId4"/>
            </p:custDataLst>
          </p:nvPr>
        </p:nvCxnSpPr>
        <p:spPr>
          <a:xfrm>
            <a:off x="0" y="2978944"/>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cxnSp>
        <p:nvCxnSpPr>
          <p:cNvPr id="39" name="直接连接符 38"/>
          <p:cNvCxnSpPr/>
          <p:nvPr>
            <p:custDataLst>
              <p:tags r:id="rId5"/>
            </p:custDataLst>
          </p:nvPr>
        </p:nvCxnSpPr>
        <p:spPr>
          <a:xfrm>
            <a:off x="0" y="3290888"/>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grpSp>
        <p:nvGrpSpPr>
          <p:cNvPr id="14" name="组合 13"/>
          <p:cNvGrpSpPr/>
          <p:nvPr>
            <p:custDataLst>
              <p:tags r:id="rId6"/>
            </p:custDataLst>
          </p:nvPr>
        </p:nvGrpSpPr>
        <p:grpSpPr>
          <a:xfrm>
            <a:off x="4920084" y="2855620"/>
            <a:ext cx="404813" cy="557909"/>
            <a:chOff x="2467083" y="3299490"/>
            <a:chExt cx="539750" cy="743879"/>
          </a:xfrm>
          <a:solidFill>
            <a:schemeClr val="accent3"/>
          </a:solidFill>
        </p:grpSpPr>
        <p:sp>
          <p:nvSpPr>
            <p:cNvPr id="11" name="矩形 10"/>
            <p:cNvSpPr/>
            <p:nvPr/>
          </p:nvSpPr>
          <p:spPr>
            <a:xfrm>
              <a:off x="2467876" y="3598068"/>
              <a:ext cx="533400" cy="15001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 name="矩形 4"/>
            <p:cNvSpPr/>
            <p:nvPr/>
          </p:nvSpPr>
          <p:spPr>
            <a:xfrm>
              <a:off x="2467083" y="3299491"/>
              <a:ext cx="165100" cy="742940"/>
            </a:xfrm>
            <a:prstGeom prst="rect">
              <a:avLst/>
            </a:prstGeom>
            <a:grp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6" name="矩形 5"/>
            <p:cNvSpPr/>
            <p:nvPr/>
          </p:nvSpPr>
          <p:spPr>
            <a:xfrm>
              <a:off x="2841733" y="3299490"/>
              <a:ext cx="165100" cy="743879"/>
            </a:xfrm>
            <a:prstGeom prst="rect">
              <a:avLst/>
            </a:prstGeom>
            <a:grp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 name="组合 1"/>
          <p:cNvGrpSpPr/>
          <p:nvPr>
            <p:custDataLst>
              <p:tags r:id="rId7"/>
            </p:custDataLst>
          </p:nvPr>
        </p:nvGrpSpPr>
        <p:grpSpPr>
          <a:xfrm>
            <a:off x="4405843" y="2857405"/>
            <a:ext cx="400050" cy="557213"/>
            <a:chOff x="1781429" y="3301872"/>
            <a:chExt cx="533400" cy="742950"/>
          </a:xfrm>
          <a:solidFill>
            <a:schemeClr val="accent1"/>
          </a:solidFill>
        </p:grpSpPr>
        <p:sp>
          <p:nvSpPr>
            <p:cNvPr id="4" name="矩形 3"/>
            <p:cNvSpPr/>
            <p:nvPr/>
          </p:nvSpPr>
          <p:spPr>
            <a:xfrm>
              <a:off x="1965579" y="3428872"/>
              <a:ext cx="171450" cy="61595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3" name="矩形 2"/>
            <p:cNvSpPr/>
            <p:nvPr/>
          </p:nvSpPr>
          <p:spPr>
            <a:xfrm>
              <a:off x="1781429" y="3301872"/>
              <a:ext cx="533400" cy="165100"/>
            </a:xfrm>
            <a:prstGeom prst="rect">
              <a:avLst/>
            </a:prstGeom>
            <a:grpFill/>
            <a:ln>
              <a:noFill/>
            </a:ln>
            <a:effectLst>
              <a:outerShdw blurRad="508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16" name="组合 15"/>
          <p:cNvGrpSpPr/>
          <p:nvPr>
            <p:custDataLst>
              <p:tags r:id="rId8"/>
            </p:custDataLst>
          </p:nvPr>
        </p:nvGrpSpPr>
        <p:grpSpPr>
          <a:xfrm>
            <a:off x="5437274" y="2825998"/>
            <a:ext cx="279161" cy="618308"/>
            <a:chOff x="3156670" y="3259996"/>
            <a:chExt cx="372214" cy="824410"/>
          </a:xfrm>
          <a:solidFill>
            <a:schemeClr val="accent2"/>
          </a:solidFill>
        </p:grpSpPr>
        <p:sp>
          <p:nvSpPr>
            <p:cNvPr id="19" name="任意多边形 18"/>
            <p:cNvSpPr/>
            <p:nvPr/>
          </p:nvSpPr>
          <p:spPr>
            <a:xfrm rot="20653324" flipH="1">
              <a:off x="3363784" y="3267206"/>
              <a:ext cx="165100" cy="8172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18" name="任意多边形 17"/>
            <p:cNvSpPr/>
            <p:nvPr/>
          </p:nvSpPr>
          <p:spPr>
            <a:xfrm rot="946676">
              <a:off x="3156670" y="3259996"/>
              <a:ext cx="165100" cy="820800"/>
            </a:xfrm>
            <a:custGeom>
              <a:avLst/>
              <a:gdLst>
                <a:gd name="connsiteX0" fmla="*/ 0 w 165100"/>
                <a:gd name="connsiteY0" fmla="*/ 46650 h 803016"/>
                <a:gd name="connsiteX1" fmla="*/ 165100 w 165100"/>
                <a:gd name="connsiteY1" fmla="*/ 0 h 803016"/>
                <a:gd name="connsiteX2" fmla="*/ 165100 w 165100"/>
                <a:gd name="connsiteY2" fmla="*/ 756366 h 803016"/>
                <a:gd name="connsiteX3" fmla="*/ 0 w 165100"/>
                <a:gd name="connsiteY3" fmla="*/ 803016 h 803016"/>
              </a:gdLst>
              <a:ahLst/>
              <a:cxnLst>
                <a:cxn ang="0">
                  <a:pos x="connsiteX0" y="connsiteY0"/>
                </a:cxn>
                <a:cxn ang="0">
                  <a:pos x="connsiteX1" y="connsiteY1"/>
                </a:cxn>
                <a:cxn ang="0">
                  <a:pos x="connsiteX2" y="connsiteY2"/>
                </a:cxn>
                <a:cxn ang="0">
                  <a:pos x="connsiteX3" y="connsiteY3"/>
                </a:cxn>
              </a:cxnLst>
              <a:rect l="l" t="t" r="r" b="b"/>
              <a:pathLst>
                <a:path w="165100" h="803016">
                  <a:moveTo>
                    <a:pt x="0" y="46650"/>
                  </a:moveTo>
                  <a:lnTo>
                    <a:pt x="165100" y="0"/>
                  </a:lnTo>
                  <a:lnTo>
                    <a:pt x="165100" y="756366"/>
                  </a:lnTo>
                  <a:lnTo>
                    <a:pt x="0" y="803016"/>
                  </a:lnTo>
                  <a:close/>
                </a:path>
              </a:pathLst>
            </a:custGeom>
            <a:grpFill/>
            <a:ln>
              <a:noFill/>
            </a:ln>
            <a:effectLst>
              <a:outerShdw blurRad="50800" dist="12700" dir="6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0" name="组合 19"/>
          <p:cNvGrpSpPr/>
          <p:nvPr>
            <p:custDataLst>
              <p:tags r:id="rId9"/>
            </p:custDataLst>
          </p:nvPr>
        </p:nvGrpSpPr>
        <p:grpSpPr>
          <a:xfrm>
            <a:off x="6352350" y="2788729"/>
            <a:ext cx="298174" cy="688047"/>
            <a:chOff x="4376770" y="3210304"/>
            <a:chExt cx="397565" cy="917396"/>
          </a:xfrm>
          <a:solidFill>
            <a:schemeClr val="accent5"/>
          </a:solidFill>
        </p:grpSpPr>
        <p:sp>
          <p:nvSpPr>
            <p:cNvPr id="9" name="矩形 8"/>
            <p:cNvSpPr/>
            <p:nvPr/>
          </p:nvSpPr>
          <p:spPr>
            <a:xfrm>
              <a:off x="4376770" y="3299491"/>
              <a:ext cx="165100" cy="745200"/>
            </a:xfrm>
            <a:prstGeom prst="rect">
              <a:avLst/>
            </a:prstGeom>
            <a:grpFill/>
            <a:ln>
              <a:noFill/>
            </a:ln>
            <a:effectLst>
              <a:outerShdw blurRad="508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1" name="任意多边形 50"/>
            <p:cNvSpPr/>
            <p:nvPr/>
          </p:nvSpPr>
          <p:spPr>
            <a:xfrm rot="19577384" flipH="1">
              <a:off x="4633589" y="3556267"/>
              <a:ext cx="140746" cy="571433"/>
            </a:xfrm>
            <a:custGeom>
              <a:avLst/>
              <a:gdLst>
                <a:gd name="connsiteX0" fmla="*/ 0 w 140625"/>
                <a:gd name="connsiteY0" fmla="*/ 34686 h 568792"/>
                <a:gd name="connsiteX1" fmla="*/ 0 w 140625"/>
                <a:gd name="connsiteY1" fmla="*/ 568792 h 568792"/>
                <a:gd name="connsiteX2" fmla="*/ 41733 w 140625"/>
                <a:gd name="connsiteY2" fmla="*/ 547251 h 568792"/>
                <a:gd name="connsiteX3" fmla="*/ 140625 w 140625"/>
                <a:gd name="connsiteY3" fmla="*/ 481273 h 568792"/>
                <a:gd name="connsiteX4" fmla="*/ 140625 w 140625"/>
                <a:gd name="connsiteY4" fmla="*/ 0 h 568792"/>
                <a:gd name="connsiteX0-1" fmla="*/ 3299 w 143924"/>
                <a:gd name="connsiteY0-2" fmla="*/ 34686 h 576719"/>
                <a:gd name="connsiteX1-3" fmla="*/ 0 w 143924"/>
                <a:gd name="connsiteY1-4" fmla="*/ 576719 h 576719"/>
                <a:gd name="connsiteX2-5" fmla="*/ 45032 w 143924"/>
                <a:gd name="connsiteY2-6" fmla="*/ 547251 h 576719"/>
                <a:gd name="connsiteX3-7" fmla="*/ 143924 w 143924"/>
                <a:gd name="connsiteY3-8" fmla="*/ 481273 h 576719"/>
                <a:gd name="connsiteX4-9" fmla="*/ 143924 w 143924"/>
                <a:gd name="connsiteY4-10" fmla="*/ 0 h 576719"/>
                <a:gd name="connsiteX5" fmla="*/ 3299 w 143924"/>
                <a:gd name="connsiteY5" fmla="*/ 34686 h 576719"/>
                <a:gd name="connsiteX0-11" fmla="*/ 121 w 140746"/>
                <a:gd name="connsiteY0-12" fmla="*/ 34686 h 571433"/>
                <a:gd name="connsiteX1-13" fmla="*/ 4745 w 140746"/>
                <a:gd name="connsiteY1-14" fmla="*/ 571433 h 571433"/>
                <a:gd name="connsiteX2-15" fmla="*/ 41854 w 140746"/>
                <a:gd name="connsiteY2-16" fmla="*/ 547251 h 571433"/>
                <a:gd name="connsiteX3-17" fmla="*/ 140746 w 140746"/>
                <a:gd name="connsiteY3-18" fmla="*/ 481273 h 571433"/>
                <a:gd name="connsiteX4-19" fmla="*/ 140746 w 140746"/>
                <a:gd name="connsiteY4-20" fmla="*/ 0 h 571433"/>
                <a:gd name="connsiteX5-21" fmla="*/ 121 w 140746"/>
                <a:gd name="connsiteY5-22" fmla="*/ 34686 h 57143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746" h="571433">
                  <a:moveTo>
                    <a:pt x="121" y="34686"/>
                  </a:moveTo>
                  <a:cubicBezTo>
                    <a:pt x="-979" y="215364"/>
                    <a:pt x="5845" y="390755"/>
                    <a:pt x="4745" y="571433"/>
                  </a:cubicBezTo>
                  <a:lnTo>
                    <a:pt x="41854" y="547251"/>
                  </a:lnTo>
                  <a:lnTo>
                    <a:pt x="140746" y="481273"/>
                  </a:lnTo>
                  <a:lnTo>
                    <a:pt x="140746" y="0"/>
                  </a:lnTo>
                  <a:lnTo>
                    <a:pt x="121" y="3468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2" name="任意多边形 51"/>
            <p:cNvSpPr/>
            <p:nvPr/>
          </p:nvSpPr>
          <p:spPr>
            <a:xfrm rot="2022616" flipH="1" flipV="1">
              <a:off x="4627500" y="3210304"/>
              <a:ext cx="140625" cy="572703"/>
            </a:xfrm>
            <a:custGeom>
              <a:avLst/>
              <a:gdLst>
                <a:gd name="connsiteX0" fmla="*/ 140625 w 140625"/>
                <a:gd name="connsiteY0" fmla="*/ 478871 h 567419"/>
                <a:gd name="connsiteX1" fmla="*/ 34632 w 140625"/>
                <a:gd name="connsiteY1" fmla="*/ 549587 h 567419"/>
                <a:gd name="connsiteX2" fmla="*/ 0 w 140625"/>
                <a:gd name="connsiteY2" fmla="*/ 567419 h 567419"/>
                <a:gd name="connsiteX3" fmla="*/ 0 w 140625"/>
                <a:gd name="connsiteY3" fmla="*/ 34602 h 567419"/>
                <a:gd name="connsiteX4" fmla="*/ 140625 w 140625"/>
                <a:gd name="connsiteY4" fmla="*/ 0 h 567419"/>
                <a:gd name="connsiteX0-1" fmla="*/ 140625 w 140625"/>
                <a:gd name="connsiteY0-2" fmla="*/ 478871 h 567419"/>
                <a:gd name="connsiteX1-3" fmla="*/ 34632 w 140625"/>
                <a:gd name="connsiteY1-4" fmla="*/ 549587 h 567419"/>
                <a:gd name="connsiteX2-5" fmla="*/ 0 w 140625"/>
                <a:gd name="connsiteY2-6" fmla="*/ 567419 h 567419"/>
                <a:gd name="connsiteX3-7" fmla="*/ 0 w 140625"/>
                <a:gd name="connsiteY3-8" fmla="*/ 34602 h 567419"/>
                <a:gd name="connsiteX4-9" fmla="*/ 140625 w 140625"/>
                <a:gd name="connsiteY4-10" fmla="*/ 0 h 567419"/>
                <a:gd name="connsiteX5" fmla="*/ 140625 w 140625"/>
                <a:gd name="connsiteY5" fmla="*/ 478871 h 567419"/>
                <a:gd name="connsiteX0-11" fmla="*/ 140625 w 140625"/>
                <a:gd name="connsiteY0-12" fmla="*/ 478871 h 572703"/>
                <a:gd name="connsiteX1-13" fmla="*/ 34632 w 140625"/>
                <a:gd name="connsiteY1-14" fmla="*/ 549587 h 572703"/>
                <a:gd name="connsiteX2-15" fmla="*/ 662 w 140625"/>
                <a:gd name="connsiteY2-16" fmla="*/ 572703 h 572703"/>
                <a:gd name="connsiteX3-17" fmla="*/ 0 w 140625"/>
                <a:gd name="connsiteY3-18" fmla="*/ 34602 h 572703"/>
                <a:gd name="connsiteX4-19" fmla="*/ 140625 w 140625"/>
                <a:gd name="connsiteY4-20" fmla="*/ 0 h 572703"/>
                <a:gd name="connsiteX5-21" fmla="*/ 140625 w 140625"/>
                <a:gd name="connsiteY5-22" fmla="*/ 478871 h 572703"/>
              </a:gdLst>
              <a:ahLst/>
              <a:cxnLst>
                <a:cxn ang="0">
                  <a:pos x="connsiteX0-11" y="connsiteY0-12"/>
                </a:cxn>
                <a:cxn ang="0">
                  <a:pos x="connsiteX1-13" y="connsiteY1-14"/>
                </a:cxn>
                <a:cxn ang="0">
                  <a:pos x="connsiteX2-15" y="connsiteY2-16"/>
                </a:cxn>
                <a:cxn ang="0">
                  <a:pos x="connsiteX3-17" y="connsiteY3-18"/>
                </a:cxn>
                <a:cxn ang="0">
                  <a:pos x="connsiteX4-19" y="connsiteY4-20"/>
                </a:cxn>
                <a:cxn ang="0">
                  <a:pos x="connsiteX5-21" y="connsiteY5-22"/>
                </a:cxn>
              </a:cxnLst>
              <a:rect l="l" t="t" r="r" b="b"/>
              <a:pathLst>
                <a:path w="140625" h="572703">
                  <a:moveTo>
                    <a:pt x="140625" y="478871"/>
                  </a:moveTo>
                  <a:lnTo>
                    <a:pt x="34632" y="549587"/>
                  </a:lnTo>
                  <a:lnTo>
                    <a:pt x="662" y="572703"/>
                  </a:lnTo>
                  <a:cubicBezTo>
                    <a:pt x="441" y="393336"/>
                    <a:pt x="221" y="213969"/>
                    <a:pt x="0" y="34602"/>
                  </a:cubicBezTo>
                  <a:lnTo>
                    <a:pt x="140625" y="0"/>
                  </a:lnTo>
                  <a:lnTo>
                    <a:pt x="140625" y="478871"/>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1" name="组合 20"/>
          <p:cNvGrpSpPr/>
          <p:nvPr>
            <p:custDataLst>
              <p:tags r:id="rId10"/>
            </p:custDataLst>
          </p:nvPr>
        </p:nvGrpSpPr>
        <p:grpSpPr>
          <a:xfrm>
            <a:off x="6779506" y="2811169"/>
            <a:ext cx="396529" cy="663470"/>
            <a:chOff x="4946311" y="3240225"/>
            <a:chExt cx="528705" cy="884627"/>
          </a:xfrm>
          <a:solidFill>
            <a:schemeClr val="accent3"/>
          </a:solidFill>
        </p:grpSpPr>
        <p:sp>
          <p:nvSpPr>
            <p:cNvPr id="12" name="矩形 11"/>
            <p:cNvSpPr/>
            <p:nvPr/>
          </p:nvSpPr>
          <p:spPr>
            <a:xfrm>
              <a:off x="4997973" y="3299491"/>
              <a:ext cx="477043" cy="165100"/>
            </a:xfrm>
            <a:prstGeom prst="rect">
              <a:avLst/>
            </a:prstGeom>
            <a:grpFill/>
            <a:ln>
              <a:noFill/>
            </a:ln>
            <a:effectLst>
              <a:outerShdw blurRad="25400" dist="12700" dir="10800000" algn="t" rotWithShape="0">
                <a:prstClr val="black">
                  <a:alpha val="33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13" name="矩形 12"/>
            <p:cNvSpPr/>
            <p:nvPr/>
          </p:nvSpPr>
          <p:spPr>
            <a:xfrm>
              <a:off x="4946311" y="3879722"/>
              <a:ext cx="456475" cy="1651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55" name="任意多边形 54"/>
            <p:cNvSpPr/>
            <p:nvPr/>
          </p:nvSpPr>
          <p:spPr>
            <a:xfrm rot="19318059" flipH="1">
              <a:off x="5109070" y="3240225"/>
              <a:ext cx="172591" cy="884627"/>
            </a:xfrm>
            <a:custGeom>
              <a:avLst/>
              <a:gdLst>
                <a:gd name="connsiteX0" fmla="*/ 26795 w 172591"/>
                <a:gd name="connsiteY0" fmla="*/ 0 h 884627"/>
                <a:gd name="connsiteX1" fmla="*/ 0 w 172591"/>
                <a:gd name="connsiteY1" fmla="*/ 20959 h 884627"/>
                <a:gd name="connsiteX2" fmla="*/ 0 w 172591"/>
                <a:gd name="connsiteY2" fmla="*/ 814160 h 884627"/>
                <a:gd name="connsiteX3" fmla="*/ 106651 w 172591"/>
                <a:gd name="connsiteY3" fmla="*/ 884627 h 884627"/>
                <a:gd name="connsiteX4" fmla="*/ 172591 w 172591"/>
                <a:gd name="connsiteY4" fmla="*/ 832304 h 884627"/>
                <a:gd name="connsiteX5" fmla="*/ 172591 w 172591"/>
                <a:gd name="connsiteY5" fmla="*/ 96332 h 884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72591" h="884627">
                  <a:moveTo>
                    <a:pt x="26795" y="0"/>
                  </a:moveTo>
                  <a:lnTo>
                    <a:pt x="0" y="20959"/>
                  </a:lnTo>
                  <a:lnTo>
                    <a:pt x="0" y="814160"/>
                  </a:lnTo>
                  <a:lnTo>
                    <a:pt x="106651" y="884627"/>
                  </a:lnTo>
                  <a:lnTo>
                    <a:pt x="172591" y="832304"/>
                  </a:lnTo>
                  <a:lnTo>
                    <a:pt x="172591" y="96332"/>
                  </a:lnTo>
                  <a:close/>
                </a:path>
              </a:pathLst>
            </a:custGeom>
            <a:grpFill/>
            <a:ln>
              <a:noFill/>
            </a:ln>
            <a:effectLst>
              <a:outerShdw blurRad="50800" sx="102000" sy="102000" algn="ctr"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22" name="组合 21"/>
          <p:cNvGrpSpPr/>
          <p:nvPr>
            <p:custDataLst>
              <p:tags r:id="rId11"/>
            </p:custDataLst>
          </p:nvPr>
        </p:nvGrpSpPr>
        <p:grpSpPr>
          <a:xfrm>
            <a:off x="7365697" y="2855620"/>
            <a:ext cx="123825" cy="558998"/>
            <a:chOff x="5727900" y="3299491"/>
            <a:chExt cx="165100" cy="745331"/>
          </a:xfrm>
          <a:solidFill>
            <a:schemeClr val="accent2"/>
          </a:solidFill>
        </p:grpSpPr>
        <p:sp>
          <p:nvSpPr>
            <p:cNvPr id="10" name="矩形 9"/>
            <p:cNvSpPr/>
            <p:nvPr/>
          </p:nvSpPr>
          <p:spPr>
            <a:xfrm>
              <a:off x="5727900" y="3299491"/>
              <a:ext cx="165100" cy="536943"/>
            </a:xfrm>
            <a:prstGeom prst="rect">
              <a:avLst/>
            </a:prstGeom>
            <a:grpFill/>
            <a:ln>
              <a:noFill/>
            </a:ln>
            <a:effectLst>
              <a:outerShdw blurRad="25400" dist="12700" dir="54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35" name="椭圆 34"/>
            <p:cNvSpPr/>
            <p:nvPr/>
          </p:nvSpPr>
          <p:spPr>
            <a:xfrm>
              <a:off x="5727900" y="3879722"/>
              <a:ext cx="165100" cy="165100"/>
            </a:xfrm>
            <a:prstGeom prst="ellipse">
              <a:avLst/>
            </a:prstGeom>
            <a:grpFill/>
            <a:ln>
              <a:noFill/>
            </a:ln>
            <a:effectLst>
              <a:outerShdw blurRad="25400" dist="127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grpSp>
        <p:nvGrpSpPr>
          <p:cNvPr id="17" name="组合 16"/>
          <p:cNvGrpSpPr/>
          <p:nvPr>
            <p:custDataLst>
              <p:tags r:id="rId12"/>
            </p:custDataLst>
          </p:nvPr>
        </p:nvGrpSpPr>
        <p:grpSpPr>
          <a:xfrm>
            <a:off x="5829178" y="2791776"/>
            <a:ext cx="410766" cy="678233"/>
            <a:chOff x="3679209" y="3214366"/>
            <a:chExt cx="547688" cy="904312"/>
          </a:xfrm>
          <a:solidFill>
            <a:schemeClr val="accent1"/>
          </a:solidFill>
        </p:grpSpPr>
        <p:sp>
          <p:nvSpPr>
            <p:cNvPr id="7" name="矩形 6"/>
            <p:cNvSpPr/>
            <p:nvPr/>
          </p:nvSpPr>
          <p:spPr>
            <a:xfrm>
              <a:off x="3679209" y="3299491"/>
              <a:ext cx="165100" cy="74520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26" name="任意多边形 25"/>
            <p:cNvSpPr/>
            <p:nvPr/>
          </p:nvSpPr>
          <p:spPr>
            <a:xfrm rot="19848040" flipH="1">
              <a:off x="3864430" y="3214366"/>
              <a:ext cx="169748" cy="904312"/>
            </a:xfrm>
            <a:custGeom>
              <a:avLst/>
              <a:gdLst>
                <a:gd name="connsiteX0" fmla="*/ 141593 w 165100"/>
                <a:gd name="connsiteY0" fmla="*/ 0 h 904312"/>
                <a:gd name="connsiteX1" fmla="*/ 0 w 165100"/>
                <a:gd name="connsiteY1" fmla="*/ 79132 h 904312"/>
                <a:gd name="connsiteX2" fmla="*/ 0 w 165100"/>
                <a:gd name="connsiteY2" fmla="*/ 868605 h 904312"/>
                <a:gd name="connsiteX3" fmla="*/ 19955 w 165100"/>
                <a:gd name="connsiteY3" fmla="*/ 904312 h 904312"/>
                <a:gd name="connsiteX4" fmla="*/ 165100 w 165100"/>
                <a:gd name="connsiteY4" fmla="*/ 823196 h 904312"/>
                <a:gd name="connsiteX5" fmla="*/ 165100 w 165100"/>
                <a:gd name="connsiteY5" fmla="*/ 42063 h 904312"/>
                <a:gd name="connsiteX0-1" fmla="*/ 141593 w 169748"/>
                <a:gd name="connsiteY0-2" fmla="*/ 0 h 904312"/>
                <a:gd name="connsiteX1-3" fmla="*/ 0 w 169748"/>
                <a:gd name="connsiteY1-4" fmla="*/ 79132 h 904312"/>
                <a:gd name="connsiteX2-5" fmla="*/ 0 w 169748"/>
                <a:gd name="connsiteY2-6" fmla="*/ 868605 h 904312"/>
                <a:gd name="connsiteX3-7" fmla="*/ 19955 w 169748"/>
                <a:gd name="connsiteY3-8" fmla="*/ 904312 h 904312"/>
                <a:gd name="connsiteX4-9" fmla="*/ 169748 w 169748"/>
                <a:gd name="connsiteY4-10" fmla="*/ 831511 h 904312"/>
                <a:gd name="connsiteX5-11" fmla="*/ 165100 w 169748"/>
                <a:gd name="connsiteY5-12" fmla="*/ 42063 h 904312"/>
                <a:gd name="connsiteX6" fmla="*/ 141593 w 169748"/>
                <a:gd name="connsiteY6" fmla="*/ 0 h 9043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 y="connsiteY6"/>
                </a:cxn>
              </a:cxnLst>
              <a:rect l="l" t="t" r="r" b="b"/>
              <a:pathLst>
                <a:path w="169748" h="904312">
                  <a:moveTo>
                    <a:pt x="141593" y="0"/>
                  </a:moveTo>
                  <a:lnTo>
                    <a:pt x="0" y="79132"/>
                  </a:lnTo>
                  <a:lnTo>
                    <a:pt x="0" y="868605"/>
                  </a:lnTo>
                  <a:lnTo>
                    <a:pt x="19955" y="904312"/>
                  </a:lnTo>
                  <a:lnTo>
                    <a:pt x="169748" y="831511"/>
                  </a:lnTo>
                  <a:cubicBezTo>
                    <a:pt x="168199" y="568362"/>
                    <a:pt x="166649" y="305212"/>
                    <a:pt x="165100" y="42063"/>
                  </a:cubicBezTo>
                  <a:lnTo>
                    <a:pt x="141593" y="0"/>
                  </a:lnTo>
                  <a:close/>
                </a:path>
              </a:pathLst>
            </a:custGeom>
            <a:grpFill/>
            <a:ln>
              <a:noFill/>
            </a:ln>
            <a:effectLst>
              <a:outerShdw blurRad="50800" dist="12700" dir="60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sp>
          <p:nvSpPr>
            <p:cNvPr id="8" name="矩形 7"/>
            <p:cNvSpPr/>
            <p:nvPr/>
          </p:nvSpPr>
          <p:spPr>
            <a:xfrm>
              <a:off x="4061797" y="3297485"/>
              <a:ext cx="165100" cy="745885"/>
            </a:xfrm>
            <a:prstGeom prst="rect">
              <a:avLst/>
            </a:prstGeom>
            <a:grpFill/>
            <a:ln>
              <a:noFill/>
            </a:ln>
            <a:effectLst>
              <a:outerShdw blurRad="50800" dist="12700" dir="10800000" algn="t"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rtl="0" eaLnBrk="1" hangingPunct="1">
                <a:spcBef>
                  <a:spcPts val="0"/>
                </a:spcBef>
                <a:spcAft>
                  <a:spcPts val="0"/>
                </a:spcAft>
                <a:defRPr/>
              </a:pPr>
              <a:endParaRPr lang="zh-CN" altLang="en-US" dirty="0"/>
            </a:p>
          </p:txBody>
        </p:sp>
      </p:grpSp>
      <p:cxnSp>
        <p:nvCxnSpPr>
          <p:cNvPr id="71" name="直接连接符 70"/>
          <p:cNvCxnSpPr/>
          <p:nvPr>
            <p:custDataLst>
              <p:tags r:id="rId13"/>
            </p:custDataLst>
          </p:nvPr>
        </p:nvCxnSpPr>
        <p:spPr>
          <a:xfrm>
            <a:off x="0" y="3412331"/>
            <a:ext cx="9144000" cy="0"/>
          </a:xfrm>
          <a:prstGeom prst="line">
            <a:avLst/>
          </a:prstGeom>
          <a:ln w="3175">
            <a:solidFill>
              <a:srgbClr val="D3D3D3"/>
            </a:solidFill>
            <a:prstDash val="sysDash"/>
          </a:ln>
        </p:spPr>
        <p:style>
          <a:lnRef idx="1">
            <a:schemeClr val="accent1"/>
          </a:lnRef>
          <a:fillRef idx="0">
            <a:schemeClr val="accent1"/>
          </a:fillRef>
          <a:effectRef idx="0">
            <a:schemeClr val="accent1"/>
          </a:effectRef>
          <a:fontRef idx="minor">
            <a:schemeClr val="tx1"/>
          </a:fontRef>
        </p:style>
      </p:cxnSp>
      <p:sp>
        <p:nvSpPr>
          <p:cNvPr id="36" name="灯片编号占位符 35"/>
          <p:cNvSpPr>
            <a:spLocks noGrp="1"/>
          </p:cNvSpPr>
          <p:nvPr>
            <p:ph type="sldNum" sz="quarter" idx="12"/>
          </p:nvPr>
        </p:nvSpPr>
        <p:spPr>
          <a:prstGeom prst="rect">
            <a:avLst/>
          </a:prstGeom>
        </p:spPr>
        <p:txBody>
          <a:bodyPr/>
          <a:lstStyle/>
          <a:p>
            <a:pPr>
              <a:defRPr/>
            </a:pPr>
            <a:fld id="{96B2F9F3-2D6E-447C-92BD-471A0AE1828C}" type="slidenum">
              <a:rPr lang="zh-CN" altLang="en-US" smtClean="0">
                <a:latin typeface="+mn-lt"/>
                <a:ea typeface="+mn-ea"/>
                <a:cs typeface="+mn-cs"/>
              </a:rPr>
            </a:fld>
            <a:endParaRPr lang="zh-CN" altLang="en-US" dirty="0">
              <a:latin typeface="+mn-lt"/>
              <a:ea typeface="+mn-ea"/>
              <a:cs typeface="+mn-cs"/>
            </a:endParaRPr>
          </a:p>
        </p:txBody>
      </p:sp>
    </p:spTree>
    <p:custDataLst>
      <p:tags r:id="rId14"/>
    </p:custDataLst>
  </p:cSld>
  <p:clrMapOvr>
    <a:masterClrMapping/>
  </p:clrMapOvr>
</p:sld>
</file>

<file path=ppt/tags/tag1.xml><?xml version="1.0" encoding="utf-8"?>
<p:tagLst xmlns:p="http://schemas.openxmlformats.org/presentationml/2006/main">
  <p:tag name="MH" val="20151014105112"/>
  <p:tag name="MH_LIBRARY" val="CONTENTS"/>
  <p:tag name="MH_TYPE" val="NUMBER"/>
  <p:tag name="ID" val="553526"/>
  <p:tag name="MH_ORDER" val="1"/>
</p:tagLst>
</file>

<file path=ppt/tags/tag2.xml><?xml version="1.0" encoding="utf-8"?>
<p:tagLst xmlns:p="http://schemas.openxmlformats.org/presentationml/2006/main">
  <p:tag name="MH" val="20151014105112"/>
  <p:tag name="MH_LIBRARY" val="CONTENTS"/>
  <p:tag name="MH_TYPE" val="ENTRY"/>
  <p:tag name="ID" val="553526"/>
  <p:tag name="MH_ORDER" val="1"/>
</p:tagLst>
</file>

<file path=ppt/tags/tag3.xml><?xml version="1.0" encoding="utf-8"?>
<p:tagLst xmlns:p="http://schemas.openxmlformats.org/presentationml/2006/main">
  <p:tag name="MH" val="20151014105112"/>
  <p:tag name="MH_LIBRARY" val="CONTENTS"/>
  <p:tag name="MH_TYPE" val="OTHERS"/>
  <p:tag name="ID" val="553526"/>
</p:tagLst>
</file>

<file path=ppt/tags/tag4.xml><?xml version="1.0" encoding="utf-8"?>
<p:tagLst xmlns:p="http://schemas.openxmlformats.org/presentationml/2006/main">
  <p:tag name="MH" val="20151014105112"/>
  <p:tag name="MH_LIBRARY" val="CONTENTS"/>
  <p:tag name="MH_TYPE" val="NUMBER"/>
  <p:tag name="ID" val="553526"/>
  <p:tag name="MH_ORDER" val="2"/>
</p:tagLst>
</file>

<file path=ppt/tags/tag5.xml><?xml version="1.0" encoding="utf-8"?>
<p:tagLst xmlns:p="http://schemas.openxmlformats.org/presentationml/2006/main">
  <p:tag name="MH" val="20151014105112"/>
  <p:tag name="MH_LIBRARY" val="CONTENTS"/>
  <p:tag name="MH_TYPE" val="ENTRY"/>
  <p:tag name="ID" val="553526"/>
  <p:tag name="MH_ORDER" val="2"/>
</p:tagLst>
</file>

<file path=ppt/tags/tag6.xml><?xml version="1.0" encoding="utf-8"?>
<p:tagLst xmlns:p="http://schemas.openxmlformats.org/presentationml/2006/main">
  <p:tag name="MH" val="20151014105112"/>
  <p:tag name="MH_LIBRARY" val="CONTENTS"/>
  <p:tag name="MH_TYPE" val="OTHERS"/>
  <p:tag name="ID" val="553526"/>
</p:tagLst>
</file>

<file path=ppt/tags/tag7.xml><?xml version="1.0" encoding="utf-8"?>
<p:tagLst xmlns:p="http://schemas.openxmlformats.org/presentationml/2006/main">
  <p:tag name="MH" val="20151014105112"/>
  <p:tag name="MH_LIBRARY" val="CONTENTS"/>
  <p:tag name="MH_TYPE" val="NUMBER"/>
  <p:tag name="ID" val="553526"/>
  <p:tag name="MH_ORDER" val="3"/>
</p:tagLst>
</file>

<file path=ppt/tags/tag8.xml><?xml version="1.0" encoding="utf-8"?>
<p:tagLst xmlns:p="http://schemas.openxmlformats.org/presentationml/2006/main">
  <p:tag name="MH" val="20151014105112"/>
  <p:tag name="MH_LIBRARY" val="CONTENTS"/>
  <p:tag name="MH_TYPE" val="ENTRY"/>
  <p:tag name="ID" val="553526"/>
  <p:tag name="MH_ORDER" val="3"/>
</p:tagLst>
</file>

<file path=ppt/tags/tag9.xml><?xml version="1.0" encoding="utf-8"?>
<p:tagLst xmlns:p="http://schemas.openxmlformats.org/presentationml/2006/main">
  <p:tag name="MH" val="20151014105112"/>
  <p:tag name="MH_LIBRARY" val="CONTENTS"/>
  <p:tag name="MH_TYPE" val="OTHERS"/>
  <p:tag name="ID" val="553526"/>
</p:tagLst>
</file>

<file path=ppt/tags/tag10.xml><?xml version="1.0" encoding="utf-8"?>
<p:tagLst xmlns:p="http://schemas.openxmlformats.org/presentationml/2006/main">
  <p:tag name="MH" val="20151014105112"/>
  <p:tag name="MH_LIBRARY" val="CONTENTS"/>
  <p:tag name="MH_TYPE" val="NUMBER"/>
  <p:tag name="ID" val="553526"/>
  <p:tag name="MH_ORDER" val="4"/>
</p:tagLst>
</file>

<file path=ppt/tags/tag11.xml><?xml version="1.0" encoding="utf-8"?>
<p:tagLst xmlns:p="http://schemas.openxmlformats.org/presentationml/2006/main">
  <p:tag name="MH" val="20151014105112"/>
  <p:tag name="MH_LIBRARY" val="CONTENTS"/>
  <p:tag name="MH_TYPE" val="ENTRY"/>
  <p:tag name="ID" val="553526"/>
  <p:tag name="MH_ORDER" val="4"/>
</p:tagLst>
</file>

<file path=ppt/tags/tag12.xml><?xml version="1.0" encoding="utf-8"?>
<p:tagLst xmlns:p="http://schemas.openxmlformats.org/presentationml/2006/main">
  <p:tag name="MH" val="20151014105112"/>
  <p:tag name="MH_LIBRARY" val="CONTENTS"/>
  <p:tag name="MH_TYPE" val="OTHERS"/>
  <p:tag name="ID" val="553526"/>
</p:tagLst>
</file>

<file path=ppt/tags/tag13.xml><?xml version="1.0" encoding="utf-8"?>
<p:tagLst xmlns:p="http://schemas.openxmlformats.org/presentationml/2006/main">
  <p:tag name="MH" val="20151014105112"/>
  <p:tag name="MH_LIBRARY" val="CONTENTS"/>
  <p:tag name="MH_TYPE" val="NUMBER"/>
  <p:tag name="ID" val="553526"/>
  <p:tag name="MH_ORDER" val="5"/>
</p:tagLst>
</file>

<file path=ppt/tags/tag14.xml><?xml version="1.0" encoding="utf-8"?>
<p:tagLst xmlns:p="http://schemas.openxmlformats.org/presentationml/2006/main">
  <p:tag name="MH" val="20151014105112"/>
  <p:tag name="MH_LIBRARY" val="CONTENTS"/>
  <p:tag name="MH_TYPE" val="ENTRY"/>
  <p:tag name="ID" val="553526"/>
  <p:tag name="MH_ORDER" val="5"/>
</p:tagLst>
</file>

<file path=ppt/tags/tag15.xml><?xml version="1.0" encoding="utf-8"?>
<p:tagLst xmlns:p="http://schemas.openxmlformats.org/presentationml/2006/main">
  <p:tag name="MH" val="20151014105112"/>
  <p:tag name="MH_LIBRARY" val="CONTENTS"/>
  <p:tag name="MH_TYPE" val="OTHERS"/>
  <p:tag name="ID" val="553526"/>
</p:tagLst>
</file>

<file path=ppt/tags/tag16.xml><?xml version="1.0" encoding="utf-8"?>
<p:tagLst xmlns:p="http://schemas.openxmlformats.org/presentationml/2006/main">
  <p:tag name="MH" val="20151014105112"/>
  <p:tag name="MH_LIBRARY" val="CONTENTS"/>
  <p:tag name="MH_TYPE" val="OTHERS"/>
  <p:tag name="ID" val="553526"/>
</p:tagLst>
</file>

<file path=ppt/tags/tag17.xml><?xml version="1.0" encoding="utf-8"?>
<p:tagLst xmlns:p="http://schemas.openxmlformats.org/presentationml/2006/main">
  <p:tag name="MH" val="20151014105112"/>
  <p:tag name="MH_LIBRARY" val="CONTENTS"/>
  <p:tag name="MH_AUTOCOLOR" val="TRUE"/>
  <p:tag name="MH_TYPE" val="CONTENTS"/>
  <p:tag name="ID" val="553526"/>
</p:tagLst>
</file>

<file path=ppt/tags/tag18.xml><?xml version="1.0" encoding="utf-8"?>
<p:tagLst xmlns:p="http://schemas.openxmlformats.org/presentationml/2006/main">
  <p:tag name="MH" val="20151014112747"/>
  <p:tag name="MH_LIBRARY" val="GRAPHIC"/>
  <p:tag name="MH_ORDER" val="Straight Connector 32"/>
</p:tagLst>
</file>

<file path=ppt/tags/tag19.xml><?xml version="1.0" encoding="utf-8"?>
<p:tagLst xmlns:p="http://schemas.openxmlformats.org/presentationml/2006/main">
  <p:tag name="MH" val="20151014112747"/>
  <p:tag name="MH_LIBRARY" val="GRAPHIC"/>
  <p:tag name="MH_ORDER" val="Straight Connector 33"/>
</p:tagLst>
</file>

<file path=ppt/tags/tag20.xml><?xml version="1.0" encoding="utf-8"?>
<p:tagLst xmlns:p="http://schemas.openxmlformats.org/presentationml/2006/main">
  <p:tag name="MH" val="20151014112747"/>
  <p:tag name="MH_LIBRARY" val="GRAPHIC"/>
  <p:tag name="MH_ORDER" val="Straight Connector 36"/>
</p:tagLst>
</file>

<file path=ppt/tags/tag21.xml><?xml version="1.0" encoding="utf-8"?>
<p:tagLst xmlns:p="http://schemas.openxmlformats.org/presentationml/2006/main">
  <p:tag name="MH" val="20151014112747"/>
  <p:tag name="MH_LIBRARY" val="GRAPHIC"/>
  <p:tag name="MH_ORDER" val="Straight Connector 37"/>
</p:tagLst>
</file>

<file path=ppt/tags/tag22.xml><?xml version="1.0" encoding="utf-8"?>
<p:tagLst xmlns:p="http://schemas.openxmlformats.org/presentationml/2006/main">
  <p:tag name="MH" val="20151014112747"/>
  <p:tag name="MH_LIBRARY" val="GRAPHIC"/>
  <p:tag name="MH_ORDER" val="Straight Connector 38"/>
</p:tagLst>
</file>

<file path=ppt/tags/tag23.xml><?xml version="1.0" encoding="utf-8"?>
<p:tagLst xmlns:p="http://schemas.openxmlformats.org/presentationml/2006/main">
  <p:tag name="MH" val="20151014112747"/>
  <p:tag name="MH_LIBRARY" val="GRAPHIC"/>
  <p:tag name="MH_ORDER" val="Group 13"/>
</p:tagLst>
</file>

<file path=ppt/tags/tag24.xml><?xml version="1.0" encoding="utf-8"?>
<p:tagLst xmlns:p="http://schemas.openxmlformats.org/presentationml/2006/main">
  <p:tag name="MH" val="20151014112747"/>
  <p:tag name="MH_LIBRARY" val="GRAPHIC"/>
  <p:tag name="MH_ORDER" val="Group 1"/>
</p:tagLst>
</file>

<file path=ppt/tags/tag25.xml><?xml version="1.0" encoding="utf-8"?>
<p:tagLst xmlns:p="http://schemas.openxmlformats.org/presentationml/2006/main">
  <p:tag name="MH" val="20151014112747"/>
  <p:tag name="MH_LIBRARY" val="GRAPHIC"/>
  <p:tag name="MH_ORDER" val="Group 15"/>
</p:tagLst>
</file>

<file path=ppt/tags/tag26.xml><?xml version="1.0" encoding="utf-8"?>
<p:tagLst xmlns:p="http://schemas.openxmlformats.org/presentationml/2006/main">
  <p:tag name="MH" val="20151014112747"/>
  <p:tag name="MH_LIBRARY" val="GRAPHIC"/>
  <p:tag name="MH_ORDER" val="Group 19"/>
</p:tagLst>
</file>

<file path=ppt/tags/tag27.xml><?xml version="1.0" encoding="utf-8"?>
<p:tagLst xmlns:p="http://schemas.openxmlformats.org/presentationml/2006/main">
  <p:tag name="MH" val="20151014112747"/>
  <p:tag name="MH_LIBRARY" val="GRAPHIC"/>
  <p:tag name="MH_ORDER" val="Group 20"/>
</p:tagLst>
</file>

<file path=ppt/tags/tag28.xml><?xml version="1.0" encoding="utf-8"?>
<p:tagLst xmlns:p="http://schemas.openxmlformats.org/presentationml/2006/main">
  <p:tag name="MH" val="20151014112747"/>
  <p:tag name="MH_LIBRARY" val="GRAPHIC"/>
  <p:tag name="MH_ORDER" val="Group 21"/>
</p:tagLst>
</file>

<file path=ppt/tags/tag29.xml><?xml version="1.0" encoding="utf-8"?>
<p:tagLst xmlns:p="http://schemas.openxmlformats.org/presentationml/2006/main">
  <p:tag name="MH" val="20151014112747"/>
  <p:tag name="MH_LIBRARY" val="GRAPHIC"/>
  <p:tag name="MH_ORDER" val="Group 16"/>
</p:tagLst>
</file>

<file path=ppt/tags/tag30.xml><?xml version="1.0" encoding="utf-8"?>
<p:tagLst xmlns:p="http://schemas.openxmlformats.org/presentationml/2006/main">
  <p:tag name="MH" val="20151014112747"/>
  <p:tag name="MH_LIBRARY" val="GRAPHIC"/>
  <p:tag name="MH_ORDER" val="Straight Connector 38"/>
</p:tagLst>
</file>

<file path=ppt/tags/tag31.xml><?xml version="1.0" encoding="utf-8"?>
<p:tagLst xmlns:p="http://schemas.openxmlformats.org/presentationml/2006/main">
  <p:tag name="MH" val="20151014112747"/>
  <p:tag name="MH_LIBRARY" val="GRAPHIC"/>
</p:tagLst>
</file>

<file path=ppt/theme/theme1.xml><?xml version="1.0" encoding="utf-8"?>
<a:theme xmlns:a="http://schemas.openxmlformats.org/drawingml/2006/main" name="A000120140530A99PPBG">
  <a:themeElements>
    <a:clrScheme name="KSO_BLUE9">
      <a:dk1>
        <a:srgbClr val="47494B"/>
      </a:dk1>
      <a:lt1>
        <a:srgbClr val="FFFFFF"/>
      </a:lt1>
      <a:dk2>
        <a:srgbClr val="454749"/>
      </a:dk2>
      <a:lt2>
        <a:srgbClr val="EAF5FC"/>
      </a:lt2>
      <a:accent1>
        <a:srgbClr val="046FB6"/>
      </a:accent1>
      <a:accent2>
        <a:srgbClr val="22B1DE"/>
      </a:accent2>
      <a:accent3>
        <a:srgbClr val="7B93D7"/>
      </a:accent3>
      <a:accent4>
        <a:srgbClr val="5D76BA"/>
      </a:accent4>
      <a:accent5>
        <a:srgbClr val="3DBFD1"/>
      </a:accent5>
      <a:accent6>
        <a:srgbClr val="FFC000"/>
      </a:accent6>
      <a:hlink>
        <a:srgbClr val="00B0F0"/>
      </a:hlink>
      <a:folHlink>
        <a:srgbClr val="AFB2B4"/>
      </a:folHlink>
    </a:clrScheme>
    <a:fontScheme name="自定义 10">
      <a:majorFont>
        <a:latin typeface="Arial"/>
        <a:ea typeface="黑体"/>
        <a:cs typeface=""/>
      </a:majorFont>
      <a:minorFont>
        <a:latin typeface="Arial"/>
        <a:ea typeface="黑体"/>
        <a:cs typeface=""/>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none" rtlCol="0">
        <a:spAutoFit/>
      </a:bodyPr>
      <a:lstStyle>
        <a:defPPr>
          <a:lnSpc>
            <a:spcPct val="130000"/>
          </a:lnSpc>
          <a:defRPr sz="1400" dirty="0" smtClean="0">
            <a:latin typeface="Arial" panose="020B0604020202020204" pitchFamily="34" charset="0"/>
            <a:ea typeface="微软雅黑" panose="020B0503020204020204" pitchFamily="34" charset="-122"/>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A000120150716A05KPBG</Template>
  <TotalTime>0</TotalTime>
  <Words>3817</Words>
  <Application>WPS 演示</Application>
  <PresentationFormat>全屏显示(16:9)</PresentationFormat>
  <Paragraphs>478</Paragraphs>
  <Slides>28</Slides>
  <Notes>2</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28</vt:i4>
      </vt:variant>
    </vt:vector>
  </HeadingPairs>
  <TitlesOfParts>
    <vt:vector size="40" baseType="lpstr">
      <vt:lpstr>Arial</vt:lpstr>
      <vt:lpstr>宋体</vt:lpstr>
      <vt:lpstr>Wingdings</vt:lpstr>
      <vt:lpstr>黑体</vt:lpstr>
      <vt:lpstr>微软雅黑</vt:lpstr>
      <vt:lpstr>华文新魏</vt:lpstr>
      <vt:lpstr>楷体</vt:lpstr>
      <vt:lpstr>Wingdings 2</vt:lpstr>
      <vt:lpstr>幼圆</vt:lpstr>
      <vt:lpstr>Calibri</vt:lpstr>
      <vt:lpstr>Wingdings</vt:lpstr>
      <vt:lpstr>A000120140530A99PPBG</vt:lpstr>
      <vt:lpstr>汽车空调压缩机培训 （二） 装配技术</vt:lpstr>
      <vt:lpstr>PowerPoint 演示文稿</vt:lpstr>
      <vt:lpstr>涡旋压缩机主要结构特点</vt:lpstr>
      <vt:lpstr>涡旋压缩机主要结构特点</vt:lpstr>
      <vt:lpstr>电动涡旋压缩机主要零部件介绍</vt:lpstr>
      <vt:lpstr>电动涡旋压缩机主要零部件介绍</vt:lpstr>
      <vt:lpstr>电动涡旋压缩机主要零部件介绍</vt:lpstr>
      <vt:lpstr>电动涡旋压缩机主要零部件介绍</vt:lpstr>
      <vt:lpstr>电动涡旋压缩机主要零部件介绍</vt:lpstr>
      <vt:lpstr>电动涡旋压缩机主要零部件介绍</vt:lpstr>
      <vt:lpstr>电动涡旋压缩机装配工艺注意事项</vt:lpstr>
      <vt:lpstr>压缩机内部常见杂质</vt:lpstr>
      <vt:lpstr>电动涡旋压缩机装配工艺注意事项</vt:lpstr>
      <vt:lpstr>电动涡旋压缩机装配工艺注意事项</vt:lpstr>
      <vt:lpstr>PowerPoint 演示文稿</vt:lpstr>
      <vt:lpstr>PowerPoint 演示文稿</vt:lpstr>
      <vt:lpstr>各零部件装配要求及注意事项</vt:lpstr>
      <vt:lpstr>各零部件装配要求及注意事项</vt:lpstr>
      <vt:lpstr>各零部件装配要求及注意事项</vt:lpstr>
      <vt:lpstr>各零部件装配要求及注意事项</vt:lpstr>
      <vt:lpstr>各零部件装配要求及注意事项</vt:lpstr>
      <vt:lpstr>压缩机质量控制要点</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谢小莉</dc:creator>
  <cp:lastModifiedBy>郭健</cp:lastModifiedBy>
  <cp:revision>87</cp:revision>
  <dcterms:created xsi:type="dcterms:W3CDTF">2015-10-14T02:46:00Z</dcterms:created>
  <dcterms:modified xsi:type="dcterms:W3CDTF">2016-09-17T01:36:39Z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ame">
    <vt:lpwstr>小人简约模板.ppt</vt:lpwstr>
  </property>
  <property fmtid="{D5CDD505-2E9C-101B-9397-08002B2CF9AE}" pid="3" name="fileid">
    <vt:lpwstr>644057</vt:lpwstr>
  </property>
  <property fmtid="{D5CDD505-2E9C-101B-9397-08002B2CF9AE}" pid="4" name="KSOProductBuildVer">
    <vt:lpwstr>2052-10.1.0.5975</vt:lpwstr>
  </property>
</Properties>
</file>